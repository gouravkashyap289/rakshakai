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d0ff275a2947d5" /><Relationship Type="http://schemas.openxmlformats.org/officeDocument/2006/relationships/extended-properties" Target="/docProps/app.xml" Id="Re558c63c74f14c04" /><Relationship Type="http://schemas.openxmlformats.org/officeDocument/2006/relationships/officeDocument" Target="/ppt/presentation.xml" Id="Rbdfaddced10647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11da99624b4d80"/>
  </p:sldMasterIdLst>
  <p:notesMasterIdLst>
    <p:notesMasterId xmlns:r="http://schemas.openxmlformats.org/officeDocument/2006/relationships" r:id="R09faec3f627e4c23"/>
  </p:notesMasterIdLst>
  <p:sldIdLst>
    <p:sldId xmlns:r="http://schemas.openxmlformats.org/officeDocument/2006/relationships" id="256" r:id="R32fc8773d42b47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388f9a8544fd4" /><Relationship Type="http://schemas.openxmlformats.org/officeDocument/2006/relationships/slideMaster" Target="/ppt/slideMasters/slideMaster1.xml" Id="R4511da99624b4d80" /><Relationship Type="http://schemas.openxmlformats.org/officeDocument/2006/relationships/notesMaster" Target="/ppt/notesMasters/notesMaster1.xml" Id="R09faec3f627e4c23" /><Relationship Type="http://schemas.openxmlformats.org/officeDocument/2006/relationships/presProps" Target="/ppt/presProps.xml" Id="R6020ff4792f74319" /><Relationship Type="http://schemas.openxmlformats.org/officeDocument/2006/relationships/tableStyles" Target="/ppt/tableStyles.xml" Id="R298c05f7ef064fa8" /><Relationship Type="http://schemas.openxmlformats.org/officeDocument/2006/relationships/slide" Target="/ppt/slides/slide1.xml" Id="R32fc8773d42b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6ac902e845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71ace44104a4a" /><Relationship Type="http://schemas.openxmlformats.org/officeDocument/2006/relationships/notesMaster" Target="/ppt/notesMasters/notesMaster1.xml" Id="R2d4f4d053a0d45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Rakshak architecture reflects the implemented prototype as of 16 September 2026. Design research: Microsoft Support recommends readable sans-serif fonts, high contrast, restrained backgrounds, minimal slide text, and cohesive process graphics. Sources: https://support.microsoft.com/en-us/powerpoint/tips-for-creating-and-delivering-an-effective-presentation and https://support.microsoft.com/en-gb/powerpoint/create-professional-slide-layouts-with-designer. Official SIH submission guidance references an idea presentation format: https://www.sih.gov.in/pdf/IdeasubmissionprocessSIH2020.pdf.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158b36f2f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efb65f97f47f4" /><Relationship Type="http://schemas.openxmlformats.org/officeDocument/2006/relationships/slideLayout" Target="/ppt/slideLayouts/slideLayout1.xml" Id="R70f2d20ba95b4d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f2d20ba95b4d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c4d65f3ca45ec" /><Relationship Type="http://schemas.openxmlformats.org/officeDocument/2006/relationships/notesSlide" Target="/ppt/notesSlides/notesSlide1.xml" Id="Rd7571aa92ece46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29CB3E-FB9F-40E7-BE5A-E2766BDD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45720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0">
            <a:solidFill>
              <a:srgbClr val="FCE8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F6290-2528-4546-9F9A-CBDABC9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1143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0">
            <a:solidFill>
              <a:srgbClr val="DDF3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7D3C4-A877-4DD1-ABBC-686B9FF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93F8A-4375-4EEE-97A8-71835E2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CC8A6-281F-458B-90AD-CF2B7397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RAKSHAK converts an original .eml file into an explainable forensic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DF33F-EE88-48E1-A95C-67118F7E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90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9463-FAD7-41A5-B607-EE4BFFC4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7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DA2D0-7AB8-40EE-AEC8-176EC7F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SMART INDIA HACKATHON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8439A-7F39-4676-AB4D-6A6642D0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CE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87226-EDD5-42F6-8681-428838C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07D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8175A-CA73-486B-8B3D-1A0F1AE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94E6C-265E-434B-AD09-95CF1571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479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58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EMAIL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0EC96-9E16-4C05-A7B6-4C41610B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71875"/>
            <a:ext cx="13811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5FAFD-0CD4-4CC3-A379-4097B1FA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105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7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7D3B"/>
                </a:solidFill>
                <a:latin typeface="Arial"/>
                <a:ea typeface="Arial"/>
                <a:cs typeface="Arial"/>
              </a:rPr>
              <a:t>.EML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EAD59-4159-420F-A6ED-9BCF0C93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86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Size + MIME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0242A-BBC5-4189-8759-F0FDB4E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59F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B947C-E494-4965-B914-6D8E8E15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F9A"/>
          </a:solidFill>
          <a:ln xmlns:a="http://schemas.openxmlformats.org/drawingml/2006/main" w="0">
            <a:solidFill>
              <a:srgbClr val="159F9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99F0B-4F11-4687-94D5-767CDE0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4792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6756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SAFE EXTRACTION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09D1D-EDD4-4348-96D6-48374692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909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3FA89-F4E5-4316-A802-0D12236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90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HEADER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2BAEE-914B-4776-A39D-3B213F93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1161D-AAB1-496E-9AC7-CF17CFC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724F7-2FAC-4762-80D3-9F0F986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338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604AC-AF8F-4162-93F2-D974A9A5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33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DD461-ABCD-42AF-92A7-E6A8F97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338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744BF-B127-444A-839D-2E98FB2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33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4BC31-2580-4459-95A5-33DF07C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37909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A4066A-21B6-4680-BFDD-5DC2971B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7A92F-022E-45BF-BC15-C5122C60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54C30-B07C-4678-8A67-9D623310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764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C9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C9D5"/>
                </a:solidFill>
                <a:latin typeface="Arial"/>
                <a:ea typeface="Arial"/>
                <a:cs typeface="Arial"/>
              </a:rPr>
              <a:t>Three independent evidence streams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E8B38-7DFF-4697-B024-0E24F18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40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91E"/>
          </a:solidFill>
          <a:ln xmlns:a="http://schemas.openxmlformats.org/drawingml/2006/main" w="9525">
            <a:solidFill>
              <a:srgbClr val="F07D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E3C26D-60F2-4951-B6A5-D2AEE48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9875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B2B7F-337C-468E-8B6C-592E891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98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8930E-A92A-4E25-AD20-55CBB0C5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 intelligence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CF9A4-3FD6-4047-A13E-9AAEB4E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1DA"/>
                </a:solidFill>
                <a:latin typeface="Arial"/>
                <a:ea typeface="Arial"/>
                <a:cs typeface="Arial"/>
              </a:rPr>
              <a:t>TF-IDF model + deterministic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7201AD-BD56-4DF3-906C-173E4B0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340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93D"/>
          </a:solidFill>
          <a:ln xmlns:a="http://schemas.openxmlformats.org/drawingml/2006/main" w="9525">
            <a:solidFill>
              <a:srgbClr val="46D6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61D1C8-1D6B-4B2F-877E-FDDA3DA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CF"/>
          </a:solidFill>
          <a:ln xmlns:a="http://schemas.openxmlformats.org/drawingml/2006/main" w="0">
            <a:solidFill>
              <a:srgbClr val="46D6C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1AD1EC-72E9-4B07-9CF8-9314D915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9BBDC8-AA39-4507-A2CA-0FA8F077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623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+ infrastructure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80B91-143D-4102-BA9A-2DF64E34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45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1DA"/>
                </a:solidFill>
                <a:latin typeface="Arial"/>
                <a:ea typeface="Arial"/>
                <a:cs typeface="Arial"/>
              </a:rPr>
              <a:t>Auth, sender, domain, DNS, IP, Geo, reputation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1405E1-5807-458A-9A22-3A2AB6B4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40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B351F"/>
          </a:solidFill>
          <a:ln xmlns:a="http://schemas.openxmlformats.org/drawingml/2006/main" w="9525">
            <a:solidFill>
              <a:srgbClr val="F2C45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2C34C-39D5-46B5-A988-4D19EDFC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67175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454"/>
          </a:solidFill>
          <a:ln xmlns:a="http://schemas.openxmlformats.org/drawingml/2006/main" w="0">
            <a:solidFill>
              <a:srgbClr val="F2C45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FF59A5-D7A4-477D-9B06-E7D91137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67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HASH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AEBA99-11CE-40E4-8C8E-B2E273B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909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Attachment forensics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F5B374-43F6-40DB-9014-A38D7146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1DA"/>
                </a:solidFill>
                <a:latin typeface="Arial"/>
                <a:ea typeface="Arial"/>
                <a:cs typeface="Arial"/>
              </a:rPr>
              <a:t>Type, extension, SHA-256 + reputation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BF5708-70DC-4906-828C-6257CCD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07D3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0360B4-DD53-4223-B965-7DE3AC8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1"/>
          </a:solidFill>
          <a:ln xmlns:a="http://schemas.openxmlformats.org/drawingml/2006/main" w="0">
            <a:solidFill>
              <a:srgbClr val="2C67B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7BA71E-763D-4CDE-A3E2-2F8F8949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18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174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RISK FUSION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E18387-E80D-49CB-8B2B-E711F89B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718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C67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E2A8FA-EC54-40DF-B113-8826CE2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FB21A2-3458-4321-84A6-08F6C4D9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814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67B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67B1"/>
                </a:solidFill>
                <a:latin typeface="Arial"/>
                <a:ea typeface="Arial"/>
                <a:cs typeface="Arial"/>
              </a:rPr>
              <a:t>EXPLAINABLE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F70FD8-DA34-45C8-B53C-AB25027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24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32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40  AI   35  TRUST   25  ACTION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01B497-6B80-44FB-B115-B56CA707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720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118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1A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1A36B"/>
                </a:solidFill>
                <a:latin typeface="Arial"/>
                <a:ea typeface="Arial"/>
                <a:cs typeface="Arial"/>
              </a:rPr>
              <a:t>Coverage remains separate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774291-D1A6-44B3-AA5A-3751358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41A36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570CC3-0FE1-4C2C-8543-DF692C52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36B"/>
          </a:solidFill>
          <a:ln xmlns:a="http://schemas.openxmlformats.org/drawingml/2006/main" w="0">
            <a:solidFill>
              <a:srgbClr val="41A36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9A0AE-A55B-46C3-864A-6611AEAA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479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28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USER RESULT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B15BA8-221D-421E-8F97-9343C08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AC4C49-9E9F-463F-B8A4-B103B90B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623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VERDICT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FF2D68-E772-4EA3-93A0-C84BD57F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F9A"/>
          </a:solidFill>
          <a:ln xmlns:a="http://schemas.openxmlformats.org/drawingml/2006/main" w="0">
            <a:solidFill>
              <a:srgbClr val="159F9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462835-88D3-41BD-88F4-D0D4823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338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1212BA-8519-4BDF-A897-471CF208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10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1"/>
          </a:solidFill>
          <a:ln xmlns:a="http://schemas.openxmlformats.org/drawingml/2006/main" w="0">
            <a:solidFill>
              <a:srgbClr val="2C67B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E8E864-8EC6-4B8D-82E8-1A9F7D89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0530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2-PAGE PDF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93BE60-ADFD-4749-9C95-C0CAD0A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528"/>
          </a:solidFill>
          <a:ln xmlns:a="http://schemas.openxmlformats.org/drawingml/2006/main" w="0">
            <a:solidFill>
              <a:srgbClr val="E5A52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D88FC7-AADE-4552-911E-FB12653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7677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CASE LINKS</a:t>
            </a:r>
          </a:p>
        </p:txBody>
      </p:sp>
      <p:cxnSp>
        <p:nvCxnSpPr>
          <p:cNvPr id="147" name=""/>
          <p:cNvCxnSpPr>
            <a:stCxn xmlns:a="http://schemas.openxmlformats.org/drawingml/2006/main" id="10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219200" y="3162300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3B"/>
            </a:solidFill>
            <a:prstDash val="solid"/>
            <a:tailEnd type="triangle" w="med" len="med"/>
          </a:ln>
        </p:spPr>
      </p:cxnSp>
      <p:cxnSp>
        <p:nvCxnSpPr>
          <p:cNvPr id="148" name=""/>
          <p:cNvCxnSpPr>
            <a:stCxn xmlns:a="http://schemas.openxmlformats.org/drawingml/2006/main" id="16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095625" y="3162300"/>
            <a:ext cx="809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9F9A"/>
            </a:solidFill>
            <a:prstDash val="solid"/>
            <a:tailEnd type="triangle" w="med" len="med"/>
          </a:ln>
        </p:spPr>
      </p:cxnSp>
      <p:cxnSp>
        <p:nvCxnSpPr>
          <p:cNvPr id="149" name=""/>
          <p:cNvCxnSpPr>
            <a:stCxn xmlns:a="http://schemas.openxmlformats.org/drawingml/2006/main" id="27" idx="3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7696200" y="3162300"/>
            <a:ext cx="7239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3B"/>
            </a:solidFill>
            <a:prstDash val="solid"/>
            <a:tailEnd type="triangle" w="med" len="med"/>
          </a:ln>
        </p:spPr>
      </p:cxnSp>
      <p:cxnSp>
        <p:nvCxnSpPr>
          <p:cNvPr id="150" name=""/>
          <p:cNvCxnSpPr>
            <a:stCxn xmlns:a="http://schemas.openxmlformats.org/drawingml/2006/main" id="46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8896350" y="31623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1A36B"/>
            </a:solidFill>
            <a:prstDash val="solid"/>
            <a:tailEnd type="triangle" w="med" len="me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366D0E-3242-4326-A6E5-0CCC00E2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3418D-96CD-4B2A-BC86-154FE8B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817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D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7D3B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522D3C-7D3E-40DC-A7DA-4628BCA7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981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52ECE7-145D-4CB8-9798-CA564272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ED2FDD-AF42-4A06-A04A-274B995C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9817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59B0DB-4CEE-4EC9-9696-5B159F7F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8B7F2F-92F9-42B8-A5A0-288D4AC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81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E8D729-7937-4E21-A53B-762AD3F1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7F6A85-285D-4729-A533-57A3E9A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817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SQLite / PostgreSQL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77318F-97D6-4779-87CB-5E914217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80376D-EAB3-4AD7-A5F1-1ED02E2E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81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GeoLite2 + Threat Intel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18F3D8-6BCA-4CEF-8C66-E756528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Attachments never execute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1A1E20-06FB-4100-828C-19ECA544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Unknown evidence stays unknown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FA9B86-6479-423F-BB98-274B2AA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Geolocation describes observed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38255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2026-09-16T06:34:57.8470000Z</dcterms:created>
  <dcterms:modified xsi:type="dcterms:W3CDTF">2026-09-16T06:34:57.8470000Z</dcterms:modified>
</coreProperties>
</file>