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e6cf5b7a4d4bd9" /><Relationship Type="http://schemas.openxmlformats.org/officeDocument/2006/relationships/extended-properties" Target="/docProps/app.xml" Id="Re02b52606faf4b07" /><Relationship Type="http://schemas.openxmlformats.org/officeDocument/2006/relationships/officeDocument" Target="/ppt/presentation.xml" Id="Recd8e5637c2642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f9e08670674a28"/>
  </p:sldMasterIdLst>
  <p:notesMasterIdLst>
    <p:notesMasterId xmlns:r="http://schemas.openxmlformats.org/officeDocument/2006/relationships" r:id="R401ed072f9744ad9"/>
  </p:notesMasterIdLst>
  <p:sldIdLst>
    <p:sldId xmlns:r="http://schemas.openxmlformats.org/officeDocument/2006/relationships" id="256" r:id="Rdbd4576f6b4f4f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4b9dfaa0c94e5d" /><Relationship Type="http://schemas.openxmlformats.org/officeDocument/2006/relationships/slideMaster" Target="/ppt/slideMasters/slideMaster1.xml" Id="R0df9e08670674a28" /><Relationship Type="http://schemas.openxmlformats.org/officeDocument/2006/relationships/notesMaster" Target="/ppt/notesMasters/notesMaster1.xml" Id="R401ed072f9744ad9" /><Relationship Type="http://schemas.openxmlformats.org/officeDocument/2006/relationships/presProps" Target="/ppt/presProps.xml" Id="R25461bf481f249e1" /><Relationship Type="http://schemas.openxmlformats.org/officeDocument/2006/relationships/tableStyles" Target="/ppt/tableStyles.xml" Id="R036764412f924429" /><Relationship Type="http://schemas.openxmlformats.org/officeDocument/2006/relationships/slide" Target="/ppt/slides/slide1.xml" Id="Rdbd4576f6b4f4f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a24bd5031742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4b3c9c50ac48f4" /><Relationship Type="http://schemas.openxmlformats.org/officeDocument/2006/relationships/notesMaster" Target="/ppt/notesMasters/notesMaster1.xml" Id="Rd9680ffca36c49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the implemented Rakshak prototype as of 16 September 2026. Sources: project MODEL_CARD.md, README.md, backend analysis pipeline, and the user-provided technical-approach reference image. The diagram intentionally excludes automatic blocking, quarantine, attribution, and automated retraining because the public website does not perform those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78c23e8b94a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6fe53db4ed4993" /><Relationship Type="http://schemas.openxmlformats.org/officeDocument/2006/relationships/slideLayout" Target="/ppt/slideLayouts/slideLayout1.xml" Id="R461719a49c5f4e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1719a49c5f4e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481531a1646ed" /><Relationship Type="http://schemas.openxmlformats.org/officeDocument/2006/relationships/notesSlide" Target="/ppt/notesSlides/notesSlide1.xml" Id="R6a35d338162940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1AF3B04-DFAE-424A-9E80-13684DA1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143000"/>
            <a:ext cx="43815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>
              <a:alpha val="7000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52383-88D7-4678-B304-C97AE7C1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0000"/>
            <a:ext cx="49530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>
              <a:alpha val="5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B9B3E-9EA5-4732-BE2C-A908F76B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66675" cy="542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307DD-18E8-4A07-842A-174B2A61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RAKSHAK TECHNICAL 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99922-C898-49D6-9E8B-9867085C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905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From uploaded email to explainable forensic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44F36-0D51-488C-B22A-DFAF26DC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720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LOCAL ANALYSIS  •  EVIDENCE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3C028-1B05-474F-860F-E331B06D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619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151B"/>
          </a:solidFill>
          <a:ln xmlns:a="http://schemas.openxmlformats.org/drawingml/2006/main" w="9525">
            <a:solidFill>
              <a:srgbClr val="2932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FC5F6-0E46-4C51-B007-D1DF5EB3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2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8D150-D14F-47BC-9423-5BE66A89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812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SECURE INTAKE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003EE-777E-423D-8A8B-A2D9BF1C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314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Upload .eml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90062-B607-4135-899E-85DAE971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File type, MIME, size and filename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1E4F5-BBB8-449C-8F60-23F2122F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38275"/>
            <a:ext cx="24574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51B"/>
          </a:solidFill>
          <a:ln xmlns:a="http://schemas.openxmlformats.org/drawingml/2006/main" w="9525">
            <a:solidFill>
              <a:srgbClr val="2932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9913F-FAE7-4931-9DDF-BCF46684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71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/>
          </a:solidFill>
          <a:ln xmlns:a="http://schemas.openxmlformats.org/drawingml/2006/main" w="0">
            <a:solidFill>
              <a:srgbClr val="50D6E8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59712-109C-48AF-86DB-3FBE0535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2877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0D6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0D6E8"/>
                </a:solidFill>
                <a:latin typeface="Arial"/>
                <a:ea typeface="Arial"/>
                <a:cs typeface="Arial"/>
              </a:rPr>
              <a:t>SAFE EXTRACTION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93C23-F984-40E2-9C7D-0EE30009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9072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918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Parse without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D3B64-C9A6-4740-9340-F8D7ECFF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47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51BEC-0405-4097-918D-D0DADE37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381250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Headers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FAA44-A053-4261-B5C4-477AEC43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1257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From, To, Reply-To, 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431E5E-EA5A-40DF-8832-C9C5C032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05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6CE85-DFB7-4C73-B583-F9B0A394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38425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9F0613-AB30-43ED-B4CF-C21925D4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38425"/>
            <a:ext cx="1257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Plain text and sanitized HTML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C27AD-9F24-470D-94E8-96DF1445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62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D14520-824E-44B4-9605-165C4195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95600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Indicators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6D0994-C71C-4A04-A414-9CE746E5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1257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URLs, domains and public IPs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E53F91-1805-46D5-88A1-85892D10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BE103C-81C1-45C8-B2B5-A1CD853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152775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Attachments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1C8D5-8127-4BE4-BF5B-58500770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52775"/>
            <a:ext cx="1257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Metadata, MIME and bytes for hashing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5B7533-555B-42B0-9BA3-A90258FC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23950"/>
            <a:ext cx="40005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0151B"/>
          </a:solidFill>
          <a:ln xmlns:a="http://schemas.openxmlformats.org/drawingml/2006/main" w="9525">
            <a:solidFill>
              <a:srgbClr val="2932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506F60-2CDB-468E-AB11-68064ED0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57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C6A89E-2D68-41E3-97D7-AD1554C3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3144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PARALLEL EVIDENCE ANALYSIS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AE514B-BD43-4BCE-9131-1FA60947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04975"/>
            <a:ext cx="3562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12617"/>
          </a:solidFill>
          <a:ln xmlns:a="http://schemas.openxmlformats.org/drawingml/2006/main" w="9525">
            <a:solidFill>
              <a:srgbClr val="FF95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DD6188-82CC-422F-83B3-6A75B4DA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04975"/>
            <a:ext cx="571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BE9B2A-42AC-4901-AF3A-E541E133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81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Rakshak AI content analysis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A4E1DF-7F96-4872-A2AA-8A2D8529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1930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TF-IDF and logistic regression with deterministic rules, threat category and evidence sentences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1FDA2D-4AD4-4147-8672-D2AA3537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66975"/>
            <a:ext cx="3562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323A"/>
          </a:solidFill>
          <a:ln xmlns:a="http://schemas.openxmlformats.org/drawingml/2006/main" w="9525">
            <a:solidFill>
              <a:srgbClr val="50D6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949BDC-A6C4-4BB3-AF07-5519EA4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66975"/>
            <a:ext cx="571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D6E8"/>
          </a:solidFill>
          <a:ln xmlns:a="http://schemas.openxmlformats.org/drawingml/2006/main" w="0">
            <a:solidFill>
              <a:srgbClr val="50D6E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A6DCEC-2636-45CD-9B48-6114046A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43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Sender and infrastructure checks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B12BF0-4B28-4EBC-A2DF-97582FDB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8130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SPF, DKIM, DMARC, sender mismatch, URLs, DNS, RDAP, IP, ASN, GeoLite2 and reputation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4114CC-CA86-41D6-8F3F-5BEF7401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28975"/>
            <a:ext cx="3562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B3017"/>
          </a:solidFill>
          <a:ln xmlns:a="http://schemas.openxmlformats.org/drawingml/2006/main" w="9525">
            <a:solidFill>
              <a:srgbClr val="F7C55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20AEE9-4F8E-4911-958A-ED089A54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28975"/>
            <a:ext cx="571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C55C"/>
          </a:solidFill>
          <a:ln xmlns:a="http://schemas.openxmlformats.org/drawingml/2006/main" w="0">
            <a:solidFill>
              <a:srgbClr val="F7C55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821354-DE0E-4CF2-80FD-897BCEAF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05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Attachment static analysis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9AC969-0957-4EAD-82CA-040BF4C0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4330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Filename, MIME type, extension, SHA-256, risky formats and double extensions. Files never execute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0CCA9A-8A7C-4AE3-9A6E-3F97F197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524000"/>
            <a:ext cx="2000250" cy="21336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1A21"/>
          </a:solidFill>
          <a:ln xmlns:a="http://schemas.openxmlformats.org/drawingml/2006/main" w="9525">
            <a:solidFill>
              <a:srgbClr val="FF95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6EFCC7-A3F6-4309-ADBF-E4160E14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666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2FF040-5279-449C-8405-D99B3683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724025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EXPLAINABLE SCORING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1AB018-16CD-44B7-80C7-2C50DAC9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0764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0–100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0B7B81-82B7-436E-A25F-59F8AD53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676525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AI text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778CA6-53D5-4F89-9B11-AB517DB9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676525"/>
            <a:ext cx="400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9EC730-A029-40A3-B59A-E9A7A979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05125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Sender + domain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016287-3375-4E29-8FBF-81CC7B46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905125"/>
            <a:ext cx="400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0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0D6E8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CB9F70-078A-49C5-8FA0-77518DCC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33725"/>
            <a:ext cx="104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Actions + files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80805D-D36D-4E14-8D2B-7CCDCE60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133725"/>
            <a:ext cx="400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7C5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C55C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0F4C3C3-31D5-4EE5-BFFE-B78981DA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381375"/>
            <a:ext cx="1495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D4A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8D4A1"/>
                </a:solidFill>
                <a:latin typeface="Arial"/>
                <a:ea typeface="Arial"/>
                <a:cs typeface="Arial"/>
              </a:rPr>
              <a:t>Confidence stays separate</a:t>
            </a:r>
          </a:p>
        </p:txBody>
      </p:sp>
      <p:cxnSp>
        <p:nvCxnSpPr>
          <p:cNvPr id="129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076450" y="2486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955C"/>
            </a:solidFill>
            <a:prstDash val="solid"/>
            <a:tailEnd type="triangle" w="sm" len="sm"/>
          </a:ln>
        </p:spPr>
      </p:cxnSp>
      <p:cxnSp>
        <p:nvCxnSpPr>
          <p:cNvPr id="130" name=""/>
          <p:cNvCxnSpPr>
            <a:stCxn xmlns:a="http://schemas.openxmlformats.org/drawingml/2006/main" id="1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4933950" y="2486025"/>
            <a:ext cx="4000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0D6E8"/>
            </a:solidFill>
            <a:prstDash val="solid"/>
            <a:tailEnd type="triangle" w="sm" len="sm"/>
          </a:ln>
        </p:spPr>
      </p:cxnSp>
      <p:cxnSp>
        <p:nvCxnSpPr>
          <p:cNvPr id="131" name=""/>
          <p:cNvCxnSpPr>
            <a:stCxn xmlns:a="http://schemas.openxmlformats.org/drawingml/2006/main" id="28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334500" y="2543175"/>
            <a:ext cx="4000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955C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7F30C0B-ED02-43DD-9F11-4870657C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33900"/>
            <a:ext cx="92583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1217"/>
          </a:solidFill>
          <a:ln xmlns:a="http://schemas.openxmlformats.org/drawingml/2006/main" w="9525">
            <a:solidFill>
              <a:srgbClr val="2932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E75E5C-F99B-4AC5-81E9-0AF37AA3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76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4A1"/>
          </a:solidFill>
          <a:ln xmlns:a="http://schemas.openxmlformats.org/drawingml/2006/main" w="0">
            <a:solidFill>
              <a:srgbClr val="78D4A1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0B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B0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DA231D-C26B-4842-8011-EC1960D4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3392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D4A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8D4A1"/>
                </a:solidFill>
                <a:latin typeface="Arial"/>
                <a:ea typeface="Arial"/>
                <a:cs typeface="Arial"/>
              </a:rPr>
              <a:t>PUBLIC RESULT AND FORENSIC RECORD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DE6FB9D-CBDE-4CED-9444-846E2AC9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5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5C"/>
          </a:solidFill>
          <a:ln xmlns:a="http://schemas.openxmlformats.org/drawingml/2006/main" w="0">
            <a:solidFill>
              <a:srgbClr val="FF955C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574F43F-6741-44EE-BC66-D4380FFC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910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Clear verdict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E8905B-FB65-4D85-92B7-19834E52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67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Threat category, risk level and the evidence behind every point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751145-1C9D-4560-9265-EE2DD993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6E8"/>
          </a:solidFill>
          <a:ln xmlns:a="http://schemas.openxmlformats.org/drawingml/2006/main" w="0">
            <a:solidFill>
              <a:srgbClr val="50D6E8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3D00709-8208-45D7-8716-7B6ABB35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7910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Sender and route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31F530B-2C06-4D88-8622-C05E4486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67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Authentication, domain age, observed server IP and infrastructure location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D5BF42E-CE88-46BF-B071-4F432A1F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5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55C"/>
          </a:solidFill>
          <a:ln xmlns:a="http://schemas.openxmlformats.org/drawingml/2006/main" w="0">
            <a:solidFill>
              <a:srgbClr val="F7C55C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35F5950-14B2-4077-8A29-2972A135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910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Forensic report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D1FD647-1F5E-48D6-BE68-394CCA08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One to two page PDF with metadata, IOCs, limitations and recommended action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2897D55-EE13-4D5B-8BEA-B5CF5F26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5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4A1"/>
          </a:solidFill>
          <a:ln xmlns:a="http://schemas.openxmlformats.org/drawingml/2006/main" w="0">
            <a:solidFill>
              <a:srgbClr val="78D4A1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8EB3B6A-B8F7-4FA6-9E23-61CC2140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910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3ED"/>
                </a:solidFill>
                <a:latin typeface="Arial"/>
                <a:ea typeface="Arial"/>
                <a:cs typeface="Arial"/>
              </a:rPr>
              <a:t>Case intelligence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FA4C56C-F257-489D-AD3E-349B0899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067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Investigation history, shared indicators and campaign correlation</a:t>
            </a:r>
          </a:p>
        </p:txBody>
      </p:sp>
      <p:cxnSp>
        <p:nvCxnSpPr>
          <p:cNvPr id="147" name=""/>
          <p:cNvCxnSpPr>
            <a:stCxn xmlns:a="http://schemas.openxmlformats.org/drawingml/2006/main" id="43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 flipH="1">
            <a:off x="7105650" y="3657600"/>
            <a:ext cx="3629025" cy="876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8D4A1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DDF440-0D84-4D78-8BF4-E94A70A8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55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23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26A5FC7-0BF8-4581-B808-75BF9048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955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955C"/>
                </a:solidFill>
                <a:latin typeface="Arial"/>
                <a:ea typeface="Arial"/>
                <a:cs typeface="Arial"/>
              </a:rPr>
              <a:t>SECURITY BOUNDARY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ADE39CF-A150-466D-B30D-4BB97598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91250"/>
            <a:ext cx="986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1A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1AD"/>
                </a:solidFill>
                <a:latin typeface="Arial"/>
                <a:ea typeface="Arial"/>
                <a:cs typeface="Arial"/>
              </a:rPr>
              <a:t>Unknown data remains unknown. Rakshak never executes attachments and never presents mail-server geolocation as a person’s location.</a:t>
            </a:r>
          </a:p>
        </p:txBody>
      </p:sp>
    </p:spTree>
    <p:extLst>
      <p:ext uri="{BB962C8B-B14F-4D97-AF65-F5344CB8AC3E}">
        <p14:creationId xmlns:p14="http://schemas.microsoft.com/office/powerpoint/2010/main" val="1699137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2026-09-16T06:23:18.3230000Z</dcterms:created>
  <dcterms:modified xsi:type="dcterms:W3CDTF">2026-09-16T06:23:18.3230000Z</dcterms:modified>
</coreProperties>
</file>