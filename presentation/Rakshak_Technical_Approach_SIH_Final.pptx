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491a28919c49c1" /><Relationship Type="http://schemas.openxmlformats.org/officeDocument/2006/relationships/extended-properties" Target="/docProps/app.xml" Id="Rc1a365b2fc4b427e" /><Relationship Type="http://schemas.openxmlformats.org/officeDocument/2006/relationships/officeDocument" Target="/ppt/presentation.xml" Id="R7c453916d37d4e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158af69b064392"/>
  </p:sldMasterIdLst>
  <p:notesMasterIdLst>
    <p:notesMasterId xmlns:r="http://schemas.openxmlformats.org/officeDocument/2006/relationships" r:id="Rb4f6e44faa604e66"/>
  </p:notesMasterIdLst>
  <p:sldIdLst>
    <p:sldId xmlns:r="http://schemas.openxmlformats.org/officeDocument/2006/relationships" id="256" r:id="R826c020de7194a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5a0511efab460b" /><Relationship Type="http://schemas.openxmlformats.org/officeDocument/2006/relationships/slideMaster" Target="/ppt/slideMasters/slideMaster1.xml" Id="R7f158af69b064392" /><Relationship Type="http://schemas.openxmlformats.org/officeDocument/2006/relationships/notesMaster" Target="/ppt/notesMasters/notesMaster1.xml" Id="Rb4f6e44faa604e66" /><Relationship Type="http://schemas.openxmlformats.org/officeDocument/2006/relationships/presProps" Target="/ppt/presProps.xml" Id="R824bbdabbd404dce" /><Relationship Type="http://schemas.openxmlformats.org/officeDocument/2006/relationships/tableStyles" Target="/ppt/tableStyles.xml" Id="Re2ef2ff157e249b7" /><Relationship Type="http://schemas.openxmlformats.org/officeDocument/2006/relationships/slide" Target="/ppt/slides/slide1.xml" Id="R826c020de7194a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4b1aa42e9a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fd5f23aa5645da" /><Relationship Type="http://schemas.openxmlformats.org/officeDocument/2006/relationships/notesMaster" Target="/ppt/notesMasters/notesMaster1.xml" Id="R35468caa1b314d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Rakshak architecture reflects the implemented prototype as of 16 September 2026. Design research: Microsoft Support recommends readable sans-serif fonts, high contrast, restrained backgrounds, minimal slide text, and cohesive process graphics. Sources: https://support.microsoft.com/en-us/powerpoint/tips-for-creating-and-delivering-an-effective-presentation and https://support.microsoft.com/en-gb/powerpoint/create-professional-slide-layouts-with-designer. Official SIH submission guidance references an idea presentation format: https://www.sih.gov.in/pdf/IdeasubmissionprocessSIH2020.pdf.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2025941bb4c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d4eb2338d843b2" /><Relationship Type="http://schemas.openxmlformats.org/officeDocument/2006/relationships/slideLayout" Target="/ppt/slideLayouts/slideLayout1.xml" Id="R333ae398e95847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3ae398e95847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fd1a97d17473f" /><Relationship Type="http://schemas.openxmlformats.org/officeDocument/2006/relationships/notesSlide" Target="/ppt/notesSlides/notesSlide1.xml" Id="R030d6539b3904b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C796281-E2FD-4999-AB91-2374A4DF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8D9"/>
          </a:solidFill>
          <a:ln xmlns:a="http://schemas.openxmlformats.org/drawingml/2006/main" w="0">
            <a:solidFill>
              <a:srgbClr val="FCE8D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539E6-4415-43A0-B072-1594C0C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0">
            <a:solidFill>
              <a:srgbClr val="DDF3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14A5C-840E-4B08-9828-FFE7A37E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90000-8ADD-4C44-A552-C01E1CF5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032B4-25BF-476F-8840-99E82AA2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RAKSHAK converts an original .eml file into an explainable forensic 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82318-7CEF-42F6-BDA5-019C63D1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90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68127-8B63-46CA-AE7D-E91ACBD8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7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4957A-2D4E-4451-B06B-0123C632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24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SMART INDIA HACKATHON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AD47B-EFE2-48AF-88F0-5CABF45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032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CE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1E9F8-C0E8-4064-BA54-9866EE7A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07D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994DC-A01F-434D-BD59-898BD800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5E250-BC9F-4959-9580-89570A4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47925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58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EMAIL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9E650-E986-4DC7-8BA3-616216AF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71875"/>
            <a:ext cx="13811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FABEC-18CB-4F06-9B59-ED6C275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105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7D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7D3B"/>
                </a:solidFill>
                <a:latin typeface="Arial"/>
                <a:ea typeface="Arial"/>
                <a:cs typeface="Arial"/>
              </a:rPr>
              <a:t>.EML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82A98-3509-4814-9A4B-C4716455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86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Size + MIME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EE6D0-3012-4718-A3C0-407E712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59F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0FCA4-56CC-4A61-9D37-8EFF6280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F9A"/>
          </a:solidFill>
          <a:ln xmlns:a="http://schemas.openxmlformats.org/drawingml/2006/main" w="0">
            <a:solidFill>
              <a:srgbClr val="159F9A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5EE3B-DAD3-4F08-8D8B-211063A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4792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6756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SAFE EXTRACTION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15A16-D71C-4F96-9F75-23F8D48A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909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D8391-73EE-4CE0-AC0D-F55406C7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90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HEADER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3634F-45CF-46FC-A8D4-3A5B9D7E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909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6BBC3-6916-49A8-A6C2-3A422414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909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BODY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2529F-F436-42AA-9707-A3B56A5F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338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EC7DD-DC0B-4225-906B-ADF79F97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33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14B07-EA5F-45CA-926B-3469BB1B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33825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F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5C2ACC-B998-4C0B-87F0-F8F72E8F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33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CD5417-AB14-4EEC-85A1-3FE623BD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37909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D75FD3-E17C-4262-9A70-CAC8611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1F801-7E2B-4575-A173-C05255CA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88D96-5AD0-4EE2-A5B0-39FC182C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764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C9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C9D5"/>
                </a:solidFill>
                <a:latin typeface="Arial"/>
                <a:ea typeface="Arial"/>
                <a:cs typeface="Arial"/>
              </a:rPr>
              <a:t>Three independent evidence streams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F84AC-261C-4A85-B4BE-A16B56C9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340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291E"/>
          </a:solidFill>
          <a:ln xmlns:a="http://schemas.openxmlformats.org/drawingml/2006/main" w="9525">
            <a:solidFill>
              <a:srgbClr val="F07D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6ADB9-E2B4-4DBF-94A9-3BEC25E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9875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A6EB9A-49C5-40F5-802A-BB6B0FD0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98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2C73FA-1065-4532-AB36-ADC7EB87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 intelligence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A8D3EC-7369-43E1-BB53-65C17E89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1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1DA"/>
                </a:solidFill>
                <a:latin typeface="Arial"/>
                <a:ea typeface="Arial"/>
                <a:cs typeface="Arial"/>
              </a:rPr>
              <a:t>TF-IDF model + deterministic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95BEBA-5C06-45D5-8EE6-7E5766BE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14700"/>
            <a:ext cx="340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93D"/>
          </a:solidFill>
          <a:ln xmlns:a="http://schemas.openxmlformats.org/drawingml/2006/main" w="9525">
            <a:solidFill>
              <a:srgbClr val="46D6C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F7065E-A7F3-4F55-BCEA-1E828C3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38525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6CF"/>
          </a:solidFill>
          <a:ln xmlns:a="http://schemas.openxmlformats.org/drawingml/2006/main" w="0">
            <a:solidFill>
              <a:srgbClr val="46D6C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BE12D6-E8BD-4D83-B2AD-96A3EDA9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385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9462DA-0CF3-4EE2-93F6-FBF1F778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6232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 + infrastructure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408C6D-71DE-4187-BE85-99040F7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909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45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1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1DA"/>
                </a:solidFill>
                <a:latin typeface="Arial"/>
                <a:ea typeface="Arial"/>
                <a:cs typeface="Arial"/>
              </a:rPr>
              <a:t>Auth, sender, domain, DNS, IP, Geo, reputation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432104-80FF-46D4-93F8-54201D8A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409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B351F"/>
          </a:solidFill>
          <a:ln xmlns:a="http://schemas.openxmlformats.org/drawingml/2006/main" w="9525">
            <a:solidFill>
              <a:srgbClr val="F2C45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51BF32-E6C0-4828-B107-D0D44CD8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67175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454"/>
          </a:solidFill>
          <a:ln xmlns:a="http://schemas.openxmlformats.org/drawingml/2006/main" w="0">
            <a:solidFill>
              <a:srgbClr val="F2C45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4A952A-5036-4935-B3D5-23C06C87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671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HASH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05E5B9-4F5D-443F-976E-89138461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9097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Attachment forensics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0FE40F-6E31-4521-9F78-5AA93531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1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8D1DA"/>
                </a:solidFill>
                <a:latin typeface="Arial"/>
                <a:ea typeface="Arial"/>
                <a:cs typeface="Arial"/>
              </a:rPr>
              <a:t>Type, extension, SHA-256 + reputation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C29842-2933-4592-9294-7D97395F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07D3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1141C3-C61A-41E2-80E7-AD0B4D43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7B1"/>
          </a:solidFill>
          <a:ln xmlns:a="http://schemas.openxmlformats.org/drawingml/2006/main" w="0">
            <a:solidFill>
              <a:srgbClr val="2C67B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A7345E-00C2-4B95-BDB5-4C827BFA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118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174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RISK FUSION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BC2D86-9A3B-46D2-A89C-B36F9EF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718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C67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FC8134-3EB7-43C4-AC6B-067BFC8E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149475-AE28-4223-AB61-D00837B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814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67B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67B1"/>
                </a:solidFill>
                <a:latin typeface="Arial"/>
                <a:ea typeface="Arial"/>
                <a:cs typeface="Arial"/>
              </a:rPr>
              <a:t>EXPLAINABLE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701D04-6FE1-48CB-A5F4-79CC83EC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9244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07D3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07D3B"/>
                </a:solidFill>
                <a:latin typeface="Arial"/>
                <a:ea typeface="Arial"/>
                <a:cs typeface="Arial"/>
              </a:rPr>
              <a:t>AI 40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FEF81C-E2BA-4659-8B2B-07972C2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244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9F9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9F9A"/>
                </a:solidFill>
                <a:latin typeface="Arial"/>
                <a:ea typeface="Arial"/>
                <a:cs typeface="Arial"/>
              </a:rPr>
              <a:t>TRUST 35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066E91-CB02-4F41-B1F8-1AD4837B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24425"/>
            <a:ext cx="657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A5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5A528"/>
                </a:solidFill>
                <a:latin typeface="Arial"/>
                <a:ea typeface="Arial"/>
                <a:cs typeface="Arial"/>
              </a:rPr>
              <a:t>ACTION 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A645EF-8BBF-4E90-BEAB-39522655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911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1A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1A36B"/>
                </a:solidFill>
                <a:latin typeface="Arial"/>
                <a:ea typeface="Arial"/>
                <a:cs typeface="Arial"/>
              </a:rPr>
              <a:t>Separate evidence coverage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BC00AD-1332-4F00-B653-0EB98B6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24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41A36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B2CDEA-D252-4FAA-B32F-6A1A2D0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A36B"/>
          </a:solidFill>
          <a:ln xmlns:a="http://schemas.openxmlformats.org/drawingml/2006/main" w="0">
            <a:solidFill>
              <a:srgbClr val="41A36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DBDA38-5B30-4324-B6D6-052C0331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4792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28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USER RESULT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72865B-38FA-445C-84AF-FC6102C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67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D3B"/>
          </a:solidFill>
          <a:ln xmlns:a="http://schemas.openxmlformats.org/drawingml/2006/main" w="0">
            <a:solidFill>
              <a:srgbClr val="F07D3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09C0E5-3FD1-4E09-A77A-CDC34F53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6235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VERDICT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9A73AE-A1A9-4834-B7B2-DF6B35A3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F9A"/>
          </a:solidFill>
          <a:ln xmlns:a="http://schemas.openxmlformats.org/drawingml/2006/main" w="0">
            <a:solidFill>
              <a:srgbClr val="159F9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ED5C79-AC11-4F65-8959-E394C0B9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3382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03A9FF8-149B-45A8-84DA-BED77822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10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7B1"/>
          </a:solidFill>
          <a:ln xmlns:a="http://schemas.openxmlformats.org/drawingml/2006/main" w="0">
            <a:solidFill>
              <a:srgbClr val="2C67B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B40D41-414F-4BEF-A457-9EAB66FB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305300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2-PAGE PDF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96BBA1-C52C-463B-A30F-356B57F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81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528"/>
          </a:solidFill>
          <a:ln xmlns:a="http://schemas.openxmlformats.org/drawingml/2006/main" w="0">
            <a:solidFill>
              <a:srgbClr val="E5A52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D62AC4-0048-4D59-ABA5-DC4DB56D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76775"/>
            <a:ext cx="106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CASE LINKS</a:t>
            </a:r>
          </a:p>
        </p:txBody>
      </p:sp>
      <p:cxnSp>
        <p:nvCxnSpPr>
          <p:cNvPr id="151" name=""/>
          <p:cNvCxnSpPr>
            <a:stCxn xmlns:a="http://schemas.openxmlformats.org/drawingml/2006/main" id="10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219200" y="3162300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3B"/>
            </a:solidFill>
            <a:prstDash val="solid"/>
            <a:tailEnd type="triangle" w="med" len="med"/>
          </a:ln>
        </p:spPr>
      </p:cxnSp>
      <p:cxnSp>
        <p:nvCxnSpPr>
          <p:cNvPr id="152" name=""/>
          <p:cNvCxnSpPr>
            <a:stCxn xmlns:a="http://schemas.openxmlformats.org/drawingml/2006/main" id="16" idx="6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095625" y="3162300"/>
            <a:ext cx="809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9F9A"/>
            </a:solidFill>
            <a:prstDash val="solid"/>
            <a:tailEnd type="triangle" w="med" len="med"/>
          </a:ln>
        </p:spPr>
      </p:cxnSp>
      <p:cxnSp>
        <p:nvCxnSpPr>
          <p:cNvPr id="153" name=""/>
          <p:cNvCxnSpPr>
            <a:stCxn xmlns:a="http://schemas.openxmlformats.org/drawingml/2006/main" id="27" idx="3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7696200" y="3162300"/>
            <a:ext cx="7239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3B"/>
            </a:solidFill>
            <a:prstDash val="solid"/>
            <a:tailEnd type="triangle" w="med" len="med"/>
          </a:ln>
        </p:spPr>
      </p:cxnSp>
      <p:cxnSp>
        <p:nvCxnSpPr>
          <p:cNvPr id="154" name=""/>
          <p:cNvCxnSpPr>
            <a:stCxn xmlns:a="http://schemas.openxmlformats.org/drawingml/2006/main" id="46" idx="6"/>
            <a:endCxn xmlns:a="http://schemas.openxmlformats.org/drawingml/2006/main" id="56" idx="2"/>
          </p:cNvCxnSpPr>
          <p:nvPr/>
        </p:nvCxnSpPr>
        <p:spPr>
          <a:xfrm xmlns:a="http://schemas.openxmlformats.org/drawingml/2006/main">
            <a:off x="8896350" y="316230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1A36B"/>
            </a:solidFill>
            <a:prstDash val="solid"/>
            <a:tailEnd type="triangle" w="med" len="me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57D41D-57AF-4197-8D8D-BC20A773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823783F-4358-41C4-83BF-D43D5945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817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7D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7D3B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ED2229-FCCD-4B53-92B1-830A011A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981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B75787-9F47-4EB5-A567-2EEB0B78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834C7C-18EC-4988-83D6-A9F4861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9817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9E7DFD8-0919-4304-92E6-6C1E29C2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DBB4FC-3AE2-473F-B355-022E7AE3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81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5E8B798-25DC-4D69-9756-4548D115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6F8B42-BEA1-4D62-B9BB-688071D7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9817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SQLite / PostgreSQL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5C37CF6-7E4E-4483-A9B4-B7DA887B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9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ED9"/>
          </a:solidFill>
          <a:ln xmlns:a="http://schemas.openxmlformats.org/drawingml/2006/main" w="0">
            <a:solidFill>
              <a:srgbClr val="D9DED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C0086CB-1A12-43FF-A325-B3FA0885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9817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53F"/>
                </a:solidFill>
                <a:latin typeface="Arial"/>
                <a:ea typeface="Arial"/>
                <a:cs typeface="Arial"/>
              </a:rPr>
              <a:t>GeoLite2 + Threat Intel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451188-8C33-4F18-B813-E3C96D84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Attachments never execute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306E11-03E1-4736-AC6C-27B9ADBC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Unknown evidence stays unknown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F63BA4-0530-4DD9-B927-72C7F25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Geolocation describes observed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479870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2026-09-16T06:36:21.9560000Z</dcterms:created>
  <dcterms:modified xsi:type="dcterms:W3CDTF">2026-09-16T06:36:21.9560000Z</dcterms:modified>
</coreProperties>
</file>