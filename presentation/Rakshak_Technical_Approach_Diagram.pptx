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1550f96077474a" /><Relationship Type="http://schemas.openxmlformats.org/officeDocument/2006/relationships/extended-properties" Target="/docProps/app.xml" Id="R0a7c6eda92514795" /><Relationship Type="http://schemas.openxmlformats.org/officeDocument/2006/relationships/officeDocument" Target="/ppt/presentation.xml" Id="Re27cb53ba7574a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b59c68a30c413e"/>
  </p:sldMasterIdLst>
  <p:notesMasterIdLst>
    <p:notesMasterId xmlns:r="http://schemas.openxmlformats.org/officeDocument/2006/relationships" r:id="R12cc3117c36144d8"/>
  </p:notesMasterIdLst>
  <p:sldIdLst>
    <p:sldId xmlns:r="http://schemas.openxmlformats.org/officeDocument/2006/relationships" id="256" r:id="R5c861ca2b8cb49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62907b459c4373" /><Relationship Type="http://schemas.openxmlformats.org/officeDocument/2006/relationships/slideMaster" Target="/ppt/slideMasters/slideMaster1.xml" Id="R3ab59c68a30c413e" /><Relationship Type="http://schemas.openxmlformats.org/officeDocument/2006/relationships/notesMaster" Target="/ppt/notesMasters/notesMaster1.xml" Id="R12cc3117c36144d8" /><Relationship Type="http://schemas.openxmlformats.org/officeDocument/2006/relationships/presProps" Target="/ppt/presProps.xml" Id="R422fd3809cdc4680" /><Relationship Type="http://schemas.openxmlformats.org/officeDocument/2006/relationships/tableStyles" Target="/ppt/tableStyles.xml" Id="R46072abf1ffb4422" /><Relationship Type="http://schemas.openxmlformats.org/officeDocument/2006/relationships/slide" Target="/ppt/slides/slide1.xml" Id="R5c861ca2b8cb49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13ac7c41f2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b26fba601046b2" /><Relationship Type="http://schemas.openxmlformats.org/officeDocument/2006/relationships/notesMaster" Target="/ppt/notesMasters/notesMaster1.xml" Id="R1a4fdfcbbd0041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Rakshak prototype as of 16 September 2026. Sources: project MODEL_CARD.md, README.md, backend analysis pipeline, and the user-provided technical-approach reference image. The diagram intentionally excludes automatic blocking, quarantine, attribution, and automated retraining because the public website does not perform those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77d051cc844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e64df4f674e8f" /><Relationship Type="http://schemas.openxmlformats.org/officeDocument/2006/relationships/slideLayout" Target="/ppt/slideLayouts/slideLayout1.xml" Id="R1d7a0a8232f142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a0a8232f142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979c3e4d24230" /><Relationship Type="http://schemas.openxmlformats.org/officeDocument/2006/relationships/notesSlide" Target="/ppt/notesSlides/notesSlide1.xml" Id="R0d25b513632b49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99065CB-F047-4EF8-AE55-49C75A8F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4381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>
              <a:alpha val="7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4323E-6685-42A7-968C-075222EC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49530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>
              <a:alpha val="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BB8F1-3FDC-4B2B-9318-6E542B9A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66675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C377C-DF00-47FB-8EA1-E951A0B2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RAKSHAK TECHNICAL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2E01F-5EAF-4352-AABC-203F8E34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905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From uploaded email to explainable forensic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7B020-28BE-4ABE-AF1C-87AFE180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72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LOCAL ANALYSIS  •  EVIDENCE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AF2E4-5893-4722-9165-C9711691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619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FD1AC-0A8A-40FC-BBE6-D4BC92DD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6B331-BE4D-4168-B699-C42A330A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812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SECURE INTAKE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7F571-545D-403A-B193-F3341C42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31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Upload .eml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3FF66-0E3D-44FF-AABA-BE5F8873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File type, MIME, size and filename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07209-8B77-400A-A1C4-56CFE68F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2457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FFC1E-8985-4D4E-8672-02F8C536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71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6461E-2F0D-4A39-ACD1-A47655F5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2877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0D6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0D6E8"/>
                </a:solidFill>
                <a:latin typeface="Arial"/>
                <a:ea typeface="Arial"/>
                <a:cs typeface="Arial"/>
              </a:rPr>
              <a:t>SAFE EXTRACTION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153CF-1FEA-4F60-8C30-8700FE3A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907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91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Parse without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F1D55-B1E6-473B-BC35-BA11BE59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4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6990D-6786-4467-AE78-2FD76AE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Headers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8971F-90A6-4878-9C3C-A9A8BF24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1362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From, To, Reply-To,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30996-2235-4A2E-BEB4-7E5A0212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72C4D-5258-40B1-9DD4-03F4054C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38425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83316-8884-4A0B-A3FC-391BE092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38425"/>
            <a:ext cx="1362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Plain text and sanitized HTML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7FD35-C680-4446-9E11-B0DCAF9F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95488-3DC7-44B5-BCC2-120F2F5B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95600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Indicators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DB82D-B6A1-4B97-80AA-E7CF31E3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95600"/>
            <a:ext cx="1362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URLs, domains and public IPs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A5FF9-0978-4FBA-A5E4-228A01DB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50BAA8-A415-4422-91BB-09D59A55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52775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85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Attachments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6093DC-A9E5-488E-9C69-2E32D8EB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52775"/>
            <a:ext cx="1362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2515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Metadata, MIME and bytes for hashing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C0F536-944D-4AB6-9B95-C2BFA8A0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23950"/>
            <a:ext cx="40005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A805C9-E605-4964-9E4D-6CE72CFB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57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ED2292-ACB6-452E-BD13-D92D1EB4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144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PARALLEL EVIDENCE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A5A3C4-BA79-4B3D-BD7C-BDD8F18D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04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12617"/>
          </a:solidFill>
          <a:ln xmlns:a="http://schemas.openxmlformats.org/drawingml/2006/main" w="9525">
            <a:solidFill>
              <a:srgbClr val="FF95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27DAD-49B3-4F09-8FBC-516C47D0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04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9B77DA-186E-4F02-93DD-75CA60DF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81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Rakshak AI content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AC89DE-6785-45DB-8810-0E69B8A6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19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TF-IDF and logistic regression with deterministic rules, threat category and evidence sentences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2CA0E3-3690-4470-B3D0-A2DE31CE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66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23A"/>
          </a:solidFill>
          <a:ln xmlns:a="http://schemas.openxmlformats.org/drawingml/2006/main" w="9525">
            <a:solidFill>
              <a:srgbClr val="50D6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E2F3CD-0F68-46BA-B44A-349BF57F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66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7A4B95-D09D-4D18-B9C4-A2895DF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43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Sender and infrastructure checks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3EFB46-9890-4534-AA02-A5736CD2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SPF, DKIM, DMARC, sender mismatch, URLs, DNS, RDAP, IP, ASN, GeoLite2 and reputation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63BDC8-6D8B-4AD0-AC71-18D82B22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B3017"/>
          </a:solidFill>
          <a:ln xmlns:a="http://schemas.openxmlformats.org/drawingml/2006/main" w="9525">
            <a:solidFill>
              <a:srgbClr val="F7C55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6FAF6E-7474-45C3-BFC8-B416CD23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C55C"/>
          </a:solidFill>
          <a:ln xmlns:a="http://schemas.openxmlformats.org/drawingml/2006/main" w="0">
            <a:solidFill>
              <a:srgbClr val="F7C55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ADFA80-11DC-429A-93F4-09F5ECCA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05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Attachment static analysis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94B241-7843-4970-A3B8-7818573D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Filename, MIME type, extension, SHA-256, risky formats and double extensions. Files never execute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EB08B8-8D77-469F-95E7-8565A051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24000"/>
            <a:ext cx="2000250" cy="21336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A21"/>
          </a:solidFill>
          <a:ln xmlns:a="http://schemas.openxmlformats.org/drawingml/2006/main" w="9525">
            <a:solidFill>
              <a:srgbClr val="FF95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E5DBE8-ACEA-41DE-BBFE-D2B1C291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666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E2FA03-1499-47C2-AA56-412AD5B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24025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EXPLAINABLE SCORING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7C5086-96E3-47AA-8BF8-2E98AB74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764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F6FD38-67F8-4379-B1F3-933443DB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76525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AI 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36FD0C-5D9E-4374-AB29-80B6EEC7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765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7270D5-0DA7-4A1C-8F6E-1C8E252C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051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Sender + domain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A8CAAA-2180-4ADF-B436-79BCA55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051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0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D6E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B23A2D-AA67-47E4-80A3-96604BA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337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Actions + files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FB3D61-8596-4C74-A0A1-6EA4319D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337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7C5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C55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203BC0-7202-44A4-BFD6-959CD201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38137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D4A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8D4A1"/>
                </a:solidFill>
                <a:latin typeface="Arial"/>
                <a:ea typeface="Arial"/>
                <a:cs typeface="Arial"/>
              </a:rPr>
              <a:t>Confidence stays separate</a:t>
            </a:r>
          </a:p>
        </p:txBody>
      </p:sp>
      <p:cxnSp>
        <p:nvCxnSpPr>
          <p:cNvPr id="129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7645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5C"/>
            </a:solidFill>
            <a:prstDash val="solid"/>
            <a:head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1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933950" y="2486025"/>
            <a:ext cx="4000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0D6E8"/>
            </a:solidFill>
            <a:prstDash val="solid"/>
            <a:headEnd type="triangle" w="sm" len="sm"/>
          </a:ln>
        </p:spPr>
      </p:cxnSp>
      <p:cxnSp>
        <p:nvCxnSpPr>
          <p:cNvPr id="131" name=""/>
          <p:cNvCxnSpPr>
            <a:stCxn xmlns:a="http://schemas.openxmlformats.org/drawingml/2006/main" id="28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334500" y="2543175"/>
            <a:ext cx="4000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5C"/>
            </a:solidFill>
            <a:prstDash val="solid"/>
            <a:head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0A29A8-A80B-43F2-B025-F39D8256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3900"/>
            <a:ext cx="92583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1217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A2A0D3-CFBE-4EAB-841A-1365F719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76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4A1"/>
          </a:solidFill>
          <a:ln xmlns:a="http://schemas.openxmlformats.org/drawingml/2006/main" w="0">
            <a:solidFill>
              <a:srgbClr val="78D4A1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1910F1-4625-410E-92C0-C6CBF527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339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D4A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8D4A1"/>
                </a:solidFill>
                <a:latin typeface="Arial"/>
                <a:ea typeface="Arial"/>
                <a:cs typeface="Arial"/>
              </a:rPr>
              <a:t>PUBLIC RESULT AND FORENSIC RECORD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30A742-8076-44C9-8A78-B7ADC51A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E3C7AD-F1DA-4497-B9A0-EF4B176B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910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Clear verdict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F3812A-D94A-4E97-A27E-282C04EE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67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Threat category, risk level and the evidence behind every point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E78D19-2009-46B5-AA98-94CE2036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E6AFB3-02BF-47AE-B384-C903272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910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Sender and route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903F8B-B55C-4477-B4F0-0B854B8D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67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Authentication, domain age, observed server IP and infrastructure location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DC102D-F563-4C6A-86A0-E7F03D36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55C"/>
          </a:solidFill>
          <a:ln xmlns:a="http://schemas.openxmlformats.org/drawingml/2006/main" w="0">
            <a:solidFill>
              <a:srgbClr val="F7C55C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394C2C-138E-415A-8696-66189177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910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Forensic report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725275-0A32-42A6-A370-7E384A1B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One to two page PDF with metadata, IOCs, limitations and recommended action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1156FF-9C8D-4D43-863A-309C5A3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4A1"/>
          </a:solidFill>
          <a:ln xmlns:a="http://schemas.openxmlformats.org/drawingml/2006/main" w="0">
            <a:solidFill>
              <a:srgbClr val="78D4A1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C4D4B9-4070-4192-9994-FB951D7E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910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Case intelligence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E4F20D0-5C2C-42EB-AA11-0563AE4A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67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Investigation history, shared indicators and campaign correlation</a:t>
            </a:r>
          </a:p>
        </p:txBody>
      </p:sp>
      <p:cxnSp>
        <p:nvCxnSpPr>
          <p:cNvPr id="147" name=""/>
          <p:cNvCxnSpPr>
            <a:stCxn xmlns:a="http://schemas.openxmlformats.org/drawingml/2006/main" id="43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7105650" y="3657600"/>
            <a:ext cx="3629025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D4A1"/>
            </a:solidFill>
            <a:prstDash val="solid"/>
            <a:head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006DC9-284D-42EF-B4FB-025136BB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23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9229486-694F-4BE6-BF61-EACE780C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SECURITY BOUNDARY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1D96A7-81C8-475C-8E72-9943845B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986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Unknown data remains unknown. Rakshak never executes attachments and never presents mail-server geolocation as a person’s location.</a:t>
            </a:r>
          </a:p>
        </p:txBody>
      </p:sp>
    </p:spTree>
    <p:extLst>
      <p:ext uri="{BB962C8B-B14F-4D97-AF65-F5344CB8AC3E}">
        <p14:creationId xmlns:p14="http://schemas.microsoft.com/office/powerpoint/2010/main" val="1917832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2026-09-16T06:20:24.3580000Z</dcterms:created>
  <dcterms:modified xsi:type="dcterms:W3CDTF">2026-09-16T06:20:24.3580000Z</dcterms:modified>
</coreProperties>
</file>