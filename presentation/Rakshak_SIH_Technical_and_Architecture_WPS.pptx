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7aa20ab63b45df" /><Relationship Type="http://schemas.openxmlformats.org/officeDocument/2006/relationships/extended-properties" Target="/docProps/app.xml" Id="R49ff043b8521418c" /><Relationship Type="http://schemas.openxmlformats.org/officeDocument/2006/relationships/officeDocument" Target="/ppt/presentation.xml" Id="R73065d4507154973" /></Relationships>
</file>

<file path=ppt/presentation.xml><?xml version="1.0" encoding="utf-8"?>
<p:presentation xmlns:p="http://schemas.openxmlformats.org/presentationml/2006/main">
  <p:sldMasterIdLst>
    <p:sldMasterId xmlns:r="http://schemas.openxmlformats.org/officeDocument/2006/relationships" id="2147483648" r:id="Rd35f1bb9cbe44439"/>
  </p:sldMasterIdLst>
  <p:notesMasterIdLst>
    <p:notesMasterId xmlns:r="http://schemas.openxmlformats.org/officeDocument/2006/relationships" r:id="Rd10efcb9a807462d"/>
  </p:notesMasterIdLst>
  <p:sldIdLst>
    <p:sldId xmlns:r="http://schemas.openxmlformats.org/officeDocument/2006/relationships" id="256" r:id="Rb8c1c525701740d9"/>
    <p:sldId xmlns:r="http://schemas.openxmlformats.org/officeDocument/2006/relationships" id="257" r:id="R662b97b1665746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dbe952834c4385" /><Relationship Type="http://schemas.openxmlformats.org/officeDocument/2006/relationships/slideMaster" Target="/ppt/slideMasters/slideMaster1.xml" Id="Rd35f1bb9cbe44439" /><Relationship Type="http://schemas.openxmlformats.org/officeDocument/2006/relationships/notesMaster" Target="/ppt/notesMasters/notesMaster1.xml" Id="Rd10efcb9a807462d" /><Relationship Type="http://schemas.openxmlformats.org/officeDocument/2006/relationships/presProps" Target="/ppt/presProps.xml" Id="R970a16c81661438d" /><Relationship Type="http://schemas.openxmlformats.org/officeDocument/2006/relationships/tableStyles" Target="/ppt/tableStyles.xml" Id="R83ddea40a43c4125" /><Relationship Type="http://schemas.openxmlformats.org/officeDocument/2006/relationships/slide" Target="/ppt/slides/slide1.xml" Id="Rb8c1c525701740d9" /><Relationship Type="http://schemas.openxmlformats.org/officeDocument/2006/relationships/slide" Target="/ppt/slides/slide2.xml" Id="R662b97b1665746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fdf571a28641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7c4ecf67bd4f03" /><Relationship Type="http://schemas.openxmlformats.org/officeDocument/2006/relationships/notesMaster" Target="/ppt/notesMasters/notesMaster1.xml" Id="R1b7e76ad362e49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23d0f745f64936" /><Relationship Type="http://schemas.openxmlformats.org/officeDocument/2006/relationships/notesMaster" Target="/ppt/notesMasters/notesMaster1.xml" Id="R9a1d66ae2e6a4f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Rakshak architecture reflects the implemented prototype as of 16 September 2026. Design research: Microsoft Support recommends readable sans-serif fonts, high contrast, restrained backgrounds, minimal slide text, and cohesive process graphics. Sources: https://support.microsoft.com/en-us/powerpoint/tips-for-creating-and-delivering-an-effective-presentation and https://support.microsoft.com/en-gb/powerpoint/create-professional-slide-layouts-with-designer. Official SIH submission guidance references an idea presentation format: https://www.sih.gov.in/pdf/IdeasubmissionprocessSIH2020.pdf.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Rakshak system architecture reflects the implemented prototype as of 16 September 2026. The FastAPI layer enforces upload and session controls. Analysis modules combine local text classification and deterministic rules with email, domain, IP, attachment and configured threat-intelligence evidence. Geolocation describes observed infrastructure and cannot establish a person's physical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ceaca64ca245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cc0856fc9044aa" /><Relationship Type="http://schemas.openxmlformats.org/officeDocument/2006/relationships/slideLayout" Target="/ppt/slideLayouts/slideLayout1.xml" Id="Ra4ed6bd6924640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ed6bd69246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ddacf8d9d14437" /><Relationship Type="http://schemas.openxmlformats.org/officeDocument/2006/relationships/notesSlide" Target="/ppt/notesSlides/notesSlide1.xml" Id="Rfadf8bfe9a944d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4ee749b7594528" /><Relationship Type="http://schemas.openxmlformats.org/officeDocument/2006/relationships/notesSlide" Target="/ppt/notesSlides/notesSlide2.xml" Id="R578806a57acc46fe"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1C796281-E2FD-4999-AB91-2374A4DFB5C1}"/>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FCE8D9"/>
          </a:solidFill>
          <a:ln xmlns:a="http://schemas.openxmlformats.org/drawingml/2006/main" w="0">
            <a:solidFill>
              <a:srgbClr val="FCE8D9"/>
            </a:solidFill>
            <a:prstDash val="solid"/>
          </a:ln>
        </p:spPr>
      </p:sp>
      <p:sp>
        <p:nvSpPr>
          <p:cNvPr id="2" name="">
            <a:extLst xmlns:a="http://schemas.openxmlformats.org/drawingml/2006/main">
              <a:ext uri="{FF2B5EF4-FFF2-40B4-BE49-F238E27FC236}">
                <a16:creationId xmlns:a16="http://schemas.microsoft.com/office/drawing/2014/main" id="{05F539E6-4415-43A0-B072-1594C0CC2605}"/>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DDF3F0"/>
          </a:solidFill>
          <a:ln xmlns:a="http://schemas.openxmlformats.org/drawingml/2006/main" w="0">
            <a:solidFill>
              <a:srgbClr val="DDF3F0"/>
            </a:solidFill>
            <a:prstDash val="solid"/>
          </a:ln>
        </p:spPr>
      </p:sp>
      <p:sp>
        <p:nvSpPr>
          <p:cNvPr id="3" name="">
            <a:extLst xmlns:a="http://schemas.openxmlformats.org/drawingml/2006/main">
              <a:ext uri="{FF2B5EF4-FFF2-40B4-BE49-F238E27FC236}">
                <a16:creationId xmlns:a16="http://schemas.microsoft.com/office/drawing/2014/main" id="{3E714A5C-840E-4B08-9828-FFE7A37EE3F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7D3B"/>
          </a:solidFill>
          <a:ln xmlns:a="http://schemas.openxmlformats.org/drawingml/2006/main" w="0">
            <a:solidFill>
              <a:srgbClr val="F07D3B"/>
            </a:solidFill>
            <a:prstDash val="solid"/>
          </a:ln>
        </p:spPr>
      </p:sp>
      <p:sp>
        <p:nvSpPr>
          <p:cNvPr id="4" name="">
            <a:extLst xmlns:a="http://schemas.openxmlformats.org/drawingml/2006/main">
              <a:ext uri="{FF2B5EF4-FFF2-40B4-BE49-F238E27FC236}">
                <a16:creationId xmlns:a16="http://schemas.microsoft.com/office/drawing/2014/main" id="{C3C90000-8ADD-4C44-A552-C01E1CF51F0F}"/>
              </a:ext>
            </a:extLst>
          </p:cNvPr>
          <p:cNvSpPr>
            <a:spLocks xmlns:a="http://schemas.openxmlformats.org/drawingml/2006/main" noGrp="1"/>
          </p:cNvSpPr>
          <p:nvPr/>
        </p:nvSpPr>
        <p:spPr>
          <a:xfrm xmlns:a="http://schemas.openxmlformats.org/drawingml/2006/main">
            <a:off x="552450" y="409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450" b="1">
                <a:solidFill>
                  <a:srgbClr val="10253F"/>
                </a:solidFill>
                <a:latin typeface="Arial"/>
                <a:ea typeface="Arial"/>
                <a:cs typeface="Arial"/>
              </a:defRPr>
            </a:pPr>
            <a:r>
              <a:rPr sz="3450" b="1">
                <a:solidFill>
                  <a:srgbClr val="10253F"/>
                </a:solidFill>
                <a:latin typeface="Arial"/>
                <a:ea typeface="Arial"/>
                <a:cs typeface="Arial"/>
              </a:rPr>
              <a:t>TECHNICAL APPROACH</a:t>
            </a:r>
          </a:p>
        </p:txBody>
      </p:sp>
      <p:sp>
        <p:nvSpPr>
          <p:cNvPr id="5" name="">
            <a:extLst xmlns:a="http://schemas.openxmlformats.org/drawingml/2006/main">
              <a:ext uri="{FF2B5EF4-FFF2-40B4-BE49-F238E27FC236}">
                <a16:creationId xmlns:a16="http://schemas.microsoft.com/office/drawing/2014/main" id="{3CC032B4-25BF-476F-8840-99E82AA2BBD2}"/>
              </a:ext>
            </a:extLst>
          </p:cNvPr>
          <p:cNvSpPr>
            <a:spLocks xmlns:a="http://schemas.openxmlformats.org/drawingml/2006/main" noGrp="1"/>
          </p:cNvSpPr>
          <p:nvPr/>
        </p:nvSpPr>
        <p:spPr>
          <a:xfrm xmlns:a="http://schemas.openxmlformats.org/drawingml/2006/main">
            <a:off x="571500" y="971550"/>
            <a:ext cx="828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536273"/>
                </a:solidFill>
                <a:latin typeface="Arial"/>
                <a:ea typeface="Arial"/>
                <a:cs typeface="Arial"/>
              </a:defRPr>
            </a:pPr>
            <a:r>
              <a:rPr sz="1575" b="0">
                <a:solidFill>
                  <a:srgbClr val="536273"/>
                </a:solidFill>
                <a:latin typeface="Arial"/>
                <a:ea typeface="Arial"/>
                <a:cs typeface="Arial"/>
              </a:rPr>
              <a:t>RAKSHAK converts an original .eml file into an explainable forensic verdict</a:t>
            </a:r>
          </a:p>
        </p:txBody>
      </p:sp>
      <p:sp>
        <p:nvSpPr>
          <p:cNvPr id="6" name="">
            <a:extLst xmlns:a="http://schemas.openxmlformats.org/drawingml/2006/main">
              <a:ext uri="{FF2B5EF4-FFF2-40B4-BE49-F238E27FC236}">
                <a16:creationId xmlns:a16="http://schemas.microsoft.com/office/drawing/2014/main" id="{87B82318-7CEF-42F6-BDA5-019C63D1F653}"/>
              </a:ext>
            </a:extLst>
          </p:cNvPr>
          <p:cNvSpPr>
            <a:spLocks xmlns:a="http://schemas.openxmlformats.org/drawingml/2006/main" noGrp="1"/>
          </p:cNvSpPr>
          <p:nvPr/>
        </p:nvSpPr>
        <p:spPr>
          <a:xfrm xmlns:a="http://schemas.openxmlformats.org/drawingml/2006/main">
            <a:off x="9810750" y="514350"/>
            <a:ext cx="17907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0668127-8B63-46CA-AE7D-E91ACBD8FEC7}"/>
              </a:ext>
            </a:extLst>
          </p:cNvPr>
          <p:cNvSpPr>
            <a:spLocks xmlns:a="http://schemas.openxmlformats.org/drawingml/2006/main" noGrp="1"/>
          </p:cNvSpPr>
          <p:nvPr/>
        </p:nvSpPr>
        <p:spPr>
          <a:xfrm xmlns:a="http://schemas.openxmlformats.org/drawingml/2006/main">
            <a:off x="9982200" y="657225"/>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8" name="">
            <a:extLst xmlns:a="http://schemas.openxmlformats.org/drawingml/2006/main">
              <a:ext uri="{FF2B5EF4-FFF2-40B4-BE49-F238E27FC236}">
                <a16:creationId xmlns:a16="http://schemas.microsoft.com/office/drawing/2014/main" id="{B594957A-2D4E-4451-B06B-0123C632670B}"/>
              </a:ext>
            </a:extLst>
          </p:cNvPr>
          <p:cNvSpPr>
            <a:spLocks xmlns:a="http://schemas.openxmlformats.org/drawingml/2006/main" noGrp="1"/>
          </p:cNvSpPr>
          <p:nvPr/>
        </p:nvSpPr>
        <p:spPr>
          <a:xfrm xmlns:a="http://schemas.openxmlformats.org/drawingml/2006/main">
            <a:off x="10172700" y="552450"/>
            <a:ext cx="1257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0253F"/>
                </a:solidFill>
                <a:latin typeface="Arial"/>
                <a:ea typeface="Arial"/>
                <a:cs typeface="Arial"/>
              </a:defRPr>
            </a:pPr>
            <a:r>
              <a:rPr sz="975" b="1">
                <a:solidFill>
                  <a:srgbClr val="10253F"/>
                </a:solidFill>
                <a:latin typeface="Arial"/>
                <a:ea typeface="Arial"/>
                <a:cs typeface="Arial"/>
              </a:rPr>
              <a:t>SMART INDIA HACKATHON</a:t>
            </a:r>
          </a:p>
        </p:txBody>
      </p:sp>
      <p:sp>
        <p:nvSpPr>
          <p:cNvPr id="9" name="">
            <a:extLst xmlns:a="http://schemas.openxmlformats.org/drawingml/2006/main">
              <a:ext uri="{FF2B5EF4-FFF2-40B4-BE49-F238E27FC236}">
                <a16:creationId xmlns:a16="http://schemas.microsoft.com/office/drawing/2014/main" id="{366AD47B-EFE2-48AF-88F0-5CABF45F81A4}"/>
              </a:ext>
            </a:extLst>
          </p:cNvPr>
          <p:cNvSpPr>
            <a:spLocks xmlns:a="http://schemas.openxmlformats.org/drawingml/2006/main" noGrp="1"/>
          </p:cNvSpPr>
          <p:nvPr/>
        </p:nvSpPr>
        <p:spPr>
          <a:xfrm xmlns:a="http://schemas.openxmlformats.org/drawingml/2006/main">
            <a:off x="933450" y="3162300"/>
            <a:ext cx="10325100" cy="0"/>
          </a:xfrm>
          <a:prstGeom xmlns:a="http://schemas.openxmlformats.org/drawingml/2006/main" prst="line">
            <a:avLst/>
          </a:prstGeom>
          <a:noFill xmlns:a="http://schemas.openxmlformats.org/drawingml/2006/main"/>
          <a:ln xmlns:a="http://schemas.openxmlformats.org/drawingml/2006/main" w="28575">
            <a:solidFill>
              <a:srgbClr val="C7CEC9"/>
            </a:solidFill>
            <a:prstDash val="solid"/>
          </a:ln>
        </p:spPr>
      </p:sp>
      <p:sp>
        <p:nvSpPr>
          <p:cNvPr id="10" name="">
            <a:extLst xmlns:a="http://schemas.openxmlformats.org/drawingml/2006/main">
              <a:ext uri="{FF2B5EF4-FFF2-40B4-BE49-F238E27FC236}">
                <a16:creationId xmlns:a16="http://schemas.microsoft.com/office/drawing/2014/main" id="{6471E9F8-C0E8-4064-BA54-9866EE7AC502}"/>
              </a:ext>
            </a:extLst>
          </p:cNvPr>
          <p:cNvSpPr>
            <a:spLocks xmlns:a="http://schemas.openxmlformats.org/drawingml/2006/main" noGrp="1"/>
          </p:cNvSpPr>
          <p:nvPr/>
        </p:nvSpPr>
        <p:spPr>
          <a:xfrm xmlns:a="http://schemas.openxmlformats.org/drawingml/2006/main">
            <a:off x="74295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11" name="">
            <a:extLst xmlns:a="http://schemas.openxmlformats.org/drawingml/2006/main">
              <a:ext uri="{FF2B5EF4-FFF2-40B4-BE49-F238E27FC236}">
                <a16:creationId xmlns:a16="http://schemas.microsoft.com/office/drawing/2014/main" id="{A78994DC-A01F-434D-BD59-898BD800F20B}"/>
              </a:ext>
            </a:extLst>
          </p:cNvPr>
          <p:cNvSpPr>
            <a:spLocks xmlns:a="http://schemas.openxmlformats.org/drawingml/2006/main" noGrp="1"/>
          </p:cNvSpPr>
          <p:nvPr/>
        </p:nvSpPr>
        <p:spPr>
          <a:xfrm xmlns:a="http://schemas.openxmlformats.org/drawingml/2006/main">
            <a:off x="781050" y="1981200"/>
            <a:ext cx="400050" cy="4000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BCD5E250-BC9F-4959-9580-89570A499311}"/>
              </a:ext>
            </a:extLst>
          </p:cNvPr>
          <p:cNvSpPr>
            <a:spLocks xmlns:a="http://schemas.openxmlformats.org/drawingml/2006/main" noGrp="1"/>
          </p:cNvSpPr>
          <p:nvPr/>
        </p:nvSpPr>
        <p:spPr>
          <a:xfrm xmlns:a="http://schemas.openxmlformats.org/drawingml/2006/main">
            <a:off x="542925" y="2447925"/>
            <a:ext cx="1257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588"/>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EMAIL INTAKE</a:t>
            </a:r>
          </a:p>
        </p:txBody>
      </p:sp>
      <p:sp>
        <p:nvSpPr>
          <p:cNvPr id="13" name="">
            <a:extLst xmlns:a="http://schemas.openxmlformats.org/drawingml/2006/main">
              <a:ext uri="{FF2B5EF4-FFF2-40B4-BE49-F238E27FC236}">
                <a16:creationId xmlns:a16="http://schemas.microsoft.com/office/drawing/2014/main" id="{B409E650-E986-4DC7-8BA3-616216AFAB8A}"/>
              </a:ext>
            </a:extLst>
          </p:cNvPr>
          <p:cNvSpPr>
            <a:spLocks xmlns:a="http://schemas.openxmlformats.org/drawingml/2006/main" noGrp="1"/>
          </p:cNvSpPr>
          <p:nvPr/>
        </p:nvSpPr>
        <p:spPr>
          <a:xfrm xmlns:a="http://schemas.openxmlformats.org/drawingml/2006/main">
            <a:off x="428625" y="3571875"/>
            <a:ext cx="1381125"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A8FABEC-18CB-4F06-9B59-ED6C275CE2B9}"/>
              </a:ext>
            </a:extLst>
          </p:cNvPr>
          <p:cNvSpPr>
            <a:spLocks xmlns:a="http://schemas.openxmlformats.org/drawingml/2006/main" noGrp="1"/>
          </p:cNvSpPr>
          <p:nvPr/>
        </p:nvSpPr>
        <p:spPr>
          <a:xfrm xmlns:a="http://schemas.openxmlformats.org/drawingml/2006/main">
            <a:off x="590550" y="364807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7222"/>
          </a:bodyPr>
          <a:lstStyle xmlns:a="http://schemas.openxmlformats.org/drawingml/2006/main"/>
          <a:p xmlns:a="http://schemas.openxmlformats.org/drawingml/2006/main">
            <a:pPr algn="ctr">
              <a:buNone/>
              <a:defRPr sz="1800" b="1">
                <a:solidFill>
                  <a:srgbClr val="F07D3B"/>
                </a:solidFill>
                <a:latin typeface="Arial"/>
                <a:ea typeface="Arial"/>
                <a:cs typeface="Arial"/>
              </a:defRPr>
            </a:pPr>
            <a:r>
              <a:rPr sz="1800" b="1">
                <a:solidFill>
                  <a:srgbClr val="F07D3B"/>
                </a:solidFill>
                <a:latin typeface="Arial"/>
                <a:ea typeface="Arial"/>
                <a:cs typeface="Arial"/>
              </a:rPr>
              <a:t>.EML</a:t>
            </a:r>
          </a:p>
        </p:txBody>
      </p:sp>
      <p:sp>
        <p:nvSpPr>
          <p:cNvPr id="15" name="">
            <a:extLst xmlns:a="http://schemas.openxmlformats.org/drawingml/2006/main">
              <a:ext uri="{FF2B5EF4-FFF2-40B4-BE49-F238E27FC236}">
                <a16:creationId xmlns:a16="http://schemas.microsoft.com/office/drawing/2014/main" id="{52882A98-3509-4814-9A4B-C47164558652}"/>
              </a:ext>
            </a:extLst>
          </p:cNvPr>
          <p:cNvSpPr>
            <a:spLocks xmlns:a="http://schemas.openxmlformats.org/drawingml/2006/main" noGrp="1"/>
          </p:cNvSpPr>
          <p:nvPr/>
        </p:nvSpPr>
        <p:spPr>
          <a:xfrm xmlns:a="http://schemas.openxmlformats.org/drawingml/2006/main">
            <a:off x="571500" y="3924300"/>
            <a:ext cx="1095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863"/>
          </a:bodyPr>
          <a:lstStyle xmlns:a="http://schemas.openxmlformats.org/drawingml/2006/main"/>
          <a:p xmlns:a="http://schemas.openxmlformats.org/drawingml/2006/main">
            <a:pPr algn="ctr">
              <a:buNone/>
              <a:defRPr sz="1125" b="0">
                <a:solidFill>
                  <a:srgbClr val="536273"/>
                </a:solidFill>
                <a:latin typeface="Arial"/>
                <a:ea typeface="Arial"/>
                <a:cs typeface="Arial"/>
              </a:defRPr>
            </a:pPr>
            <a:r>
              <a:rPr sz="1125" b="0">
                <a:solidFill>
                  <a:srgbClr val="536273"/>
                </a:solidFill>
                <a:latin typeface="Arial"/>
                <a:ea typeface="Arial"/>
                <a:cs typeface="Arial"/>
              </a:rPr>
              <a:t>Size + MIME check</a:t>
            </a:r>
          </a:p>
        </p:txBody>
      </p:sp>
      <p:sp>
        <p:nvSpPr>
          <p:cNvPr id="16" name="">
            <a:extLst xmlns:a="http://schemas.openxmlformats.org/drawingml/2006/main">
              <a:ext uri="{FF2B5EF4-FFF2-40B4-BE49-F238E27FC236}">
                <a16:creationId xmlns:a16="http://schemas.microsoft.com/office/drawing/2014/main" id="{833EE6D0-3012-4718-A3C0-407E7126AB06}"/>
              </a:ext>
            </a:extLst>
          </p:cNvPr>
          <p:cNvSpPr>
            <a:spLocks xmlns:a="http://schemas.openxmlformats.org/drawingml/2006/main" noGrp="1"/>
          </p:cNvSpPr>
          <p:nvPr/>
        </p:nvSpPr>
        <p:spPr>
          <a:xfrm xmlns:a="http://schemas.openxmlformats.org/drawingml/2006/main">
            <a:off x="2619375"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59F9A"/>
            </a:solidFill>
            <a:prstDash val="solid"/>
          </a:ln>
        </p:spPr>
      </p:sp>
      <p:sp>
        <p:nvSpPr>
          <p:cNvPr id="17" name="">
            <a:extLst xmlns:a="http://schemas.openxmlformats.org/drawingml/2006/main">
              <a:ext uri="{FF2B5EF4-FFF2-40B4-BE49-F238E27FC236}">
                <a16:creationId xmlns:a16="http://schemas.microsoft.com/office/drawing/2014/main" id="{84A0FCA4-56CC-4A61-9D37-8EFF628078C1}"/>
              </a:ext>
            </a:extLst>
          </p:cNvPr>
          <p:cNvSpPr>
            <a:spLocks xmlns:a="http://schemas.openxmlformats.org/drawingml/2006/main" noGrp="1"/>
          </p:cNvSpPr>
          <p:nvPr/>
        </p:nvSpPr>
        <p:spPr>
          <a:xfrm xmlns:a="http://schemas.openxmlformats.org/drawingml/2006/main">
            <a:off x="2657475" y="1981200"/>
            <a:ext cx="400050" cy="400050"/>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0125EE3B-DAD3-4F08-8D8B-211063AAF7ED}"/>
              </a:ext>
            </a:extLst>
          </p:cNvPr>
          <p:cNvSpPr>
            <a:spLocks xmlns:a="http://schemas.openxmlformats.org/drawingml/2006/main" noGrp="1"/>
          </p:cNvSpPr>
          <p:nvPr/>
        </p:nvSpPr>
        <p:spPr>
          <a:xfrm xmlns:a="http://schemas.openxmlformats.org/drawingml/2006/main">
            <a:off x="2219325" y="2447925"/>
            <a:ext cx="1276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569"/>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SAFE EXTRACTION</a:t>
            </a:r>
          </a:p>
        </p:txBody>
      </p:sp>
      <p:sp>
        <p:nvSpPr>
          <p:cNvPr id="19" name="">
            <a:extLst xmlns:a="http://schemas.openxmlformats.org/drawingml/2006/main">
              <a:ext uri="{FF2B5EF4-FFF2-40B4-BE49-F238E27FC236}">
                <a16:creationId xmlns:a16="http://schemas.microsoft.com/office/drawing/2014/main" id="{63915A16-D71C-4F96-9F75-23F8D48A500A}"/>
              </a:ext>
            </a:extLst>
          </p:cNvPr>
          <p:cNvSpPr>
            <a:spLocks xmlns:a="http://schemas.openxmlformats.org/drawingml/2006/main" noGrp="1"/>
          </p:cNvSpPr>
          <p:nvPr/>
        </p:nvSpPr>
        <p:spPr>
          <a:xfrm xmlns:a="http://schemas.openxmlformats.org/drawingml/2006/main">
            <a:off x="2238375" y="3590925"/>
            <a:ext cx="60960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0" name="">
            <a:extLst xmlns:a="http://schemas.openxmlformats.org/drawingml/2006/main">
              <a:ext uri="{FF2B5EF4-FFF2-40B4-BE49-F238E27FC236}">
                <a16:creationId xmlns:a16="http://schemas.microsoft.com/office/drawing/2014/main" id="{C06D8391-73EE-4CE0-AC0D-F55406C71E43}"/>
              </a:ext>
            </a:extLst>
          </p:cNvPr>
          <p:cNvSpPr>
            <a:spLocks xmlns:a="http://schemas.openxmlformats.org/drawingml/2006/main" noGrp="1"/>
          </p:cNvSpPr>
          <p:nvPr/>
        </p:nvSpPr>
        <p:spPr>
          <a:xfrm xmlns:a="http://schemas.openxmlformats.org/drawingml/2006/main">
            <a:off x="2238375" y="35909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HEADER</a:t>
            </a:r>
          </a:p>
        </p:txBody>
      </p:sp>
      <p:sp>
        <p:nvSpPr>
          <p:cNvPr id="21" name="">
            <a:extLst xmlns:a="http://schemas.openxmlformats.org/drawingml/2006/main">
              <a:ext uri="{FF2B5EF4-FFF2-40B4-BE49-F238E27FC236}">
                <a16:creationId xmlns:a16="http://schemas.microsoft.com/office/drawing/2014/main" id="{60E3634F-45CF-46FC-A8D4-3A5B9D7E260F}"/>
              </a:ext>
            </a:extLst>
          </p:cNvPr>
          <p:cNvSpPr>
            <a:spLocks xmlns:a="http://schemas.openxmlformats.org/drawingml/2006/main" noGrp="1"/>
          </p:cNvSpPr>
          <p:nvPr/>
        </p:nvSpPr>
        <p:spPr>
          <a:xfrm xmlns:a="http://schemas.openxmlformats.org/drawingml/2006/main">
            <a:off x="2924175" y="3590925"/>
            <a:ext cx="6096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59F9A"/>
            </a:solidFill>
            <a:prstDash val="solid"/>
          </a:ln>
        </p:spPr>
      </p:sp>
      <p:sp>
        <p:nvSpPr>
          <p:cNvPr id="22" name="">
            <a:extLst xmlns:a="http://schemas.openxmlformats.org/drawingml/2006/main">
              <a:ext uri="{FF2B5EF4-FFF2-40B4-BE49-F238E27FC236}">
                <a16:creationId xmlns:a16="http://schemas.microsoft.com/office/drawing/2014/main" id="{2716BBC3-6916-49A8-A6C2-3A42241441EC}"/>
              </a:ext>
            </a:extLst>
          </p:cNvPr>
          <p:cNvSpPr>
            <a:spLocks xmlns:a="http://schemas.openxmlformats.org/drawingml/2006/main" noGrp="1"/>
          </p:cNvSpPr>
          <p:nvPr/>
        </p:nvSpPr>
        <p:spPr>
          <a:xfrm xmlns:a="http://schemas.openxmlformats.org/drawingml/2006/main">
            <a:off x="2924175" y="35909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BODY</a:t>
            </a:r>
          </a:p>
        </p:txBody>
      </p:sp>
      <p:sp>
        <p:nvSpPr>
          <p:cNvPr id="23" name="">
            <a:extLst xmlns:a="http://schemas.openxmlformats.org/drawingml/2006/main">
              <a:ext uri="{FF2B5EF4-FFF2-40B4-BE49-F238E27FC236}">
                <a16:creationId xmlns:a16="http://schemas.microsoft.com/office/drawing/2014/main" id="{B6B2529F-F436-42AA-9707-A3B56A5FB4C7}"/>
              </a:ext>
            </a:extLst>
          </p:cNvPr>
          <p:cNvSpPr>
            <a:spLocks xmlns:a="http://schemas.openxmlformats.org/drawingml/2006/main" noGrp="1"/>
          </p:cNvSpPr>
          <p:nvPr/>
        </p:nvSpPr>
        <p:spPr>
          <a:xfrm xmlns:a="http://schemas.openxmlformats.org/drawingml/2006/main">
            <a:off x="2238375" y="3933825"/>
            <a:ext cx="60960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4" name="">
            <a:extLst xmlns:a="http://schemas.openxmlformats.org/drawingml/2006/main">
              <a:ext uri="{FF2B5EF4-FFF2-40B4-BE49-F238E27FC236}">
                <a16:creationId xmlns:a16="http://schemas.microsoft.com/office/drawing/2014/main" id="{FEBEC7DD-DC0B-4225-906B-ADF79F978C07}"/>
              </a:ext>
            </a:extLst>
          </p:cNvPr>
          <p:cNvSpPr>
            <a:spLocks xmlns:a="http://schemas.openxmlformats.org/drawingml/2006/main" noGrp="1"/>
          </p:cNvSpPr>
          <p:nvPr/>
        </p:nvSpPr>
        <p:spPr>
          <a:xfrm xmlns:a="http://schemas.openxmlformats.org/drawingml/2006/main">
            <a:off x="2238375" y="3933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LINKS</a:t>
            </a:r>
          </a:p>
        </p:txBody>
      </p:sp>
      <p:sp>
        <p:nvSpPr>
          <p:cNvPr id="25" name="">
            <a:extLst xmlns:a="http://schemas.openxmlformats.org/drawingml/2006/main">
              <a:ext uri="{FF2B5EF4-FFF2-40B4-BE49-F238E27FC236}">
                <a16:creationId xmlns:a16="http://schemas.microsoft.com/office/drawing/2014/main" id="{36614B07-EA5F-45CA-926B-3469BB1B553A}"/>
              </a:ext>
            </a:extLst>
          </p:cNvPr>
          <p:cNvSpPr>
            <a:spLocks xmlns:a="http://schemas.openxmlformats.org/drawingml/2006/main" noGrp="1"/>
          </p:cNvSpPr>
          <p:nvPr/>
        </p:nvSpPr>
        <p:spPr>
          <a:xfrm xmlns:a="http://schemas.openxmlformats.org/drawingml/2006/main">
            <a:off x="2924175" y="3933825"/>
            <a:ext cx="6096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59F9A"/>
            </a:solidFill>
            <a:prstDash val="solid"/>
          </a:ln>
        </p:spPr>
      </p:sp>
      <p:sp>
        <p:nvSpPr>
          <p:cNvPr id="26" name="">
            <a:extLst xmlns:a="http://schemas.openxmlformats.org/drawingml/2006/main">
              <a:ext uri="{FF2B5EF4-FFF2-40B4-BE49-F238E27FC236}">
                <a16:creationId xmlns:a16="http://schemas.microsoft.com/office/drawing/2014/main" id="{765C2ACC-B998-4C0B-87F0-F8F72E8FE324}"/>
              </a:ext>
            </a:extLst>
          </p:cNvPr>
          <p:cNvSpPr>
            <a:spLocks xmlns:a="http://schemas.openxmlformats.org/drawingml/2006/main" noGrp="1"/>
          </p:cNvSpPr>
          <p:nvPr/>
        </p:nvSpPr>
        <p:spPr>
          <a:xfrm xmlns:a="http://schemas.openxmlformats.org/drawingml/2006/main">
            <a:off x="2924175" y="3933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FILES</a:t>
            </a:r>
          </a:p>
        </p:txBody>
      </p:sp>
      <p:sp>
        <p:nvSpPr>
          <p:cNvPr id="27" name="">
            <a:extLst xmlns:a="http://schemas.openxmlformats.org/drawingml/2006/main">
              <a:ext uri="{FF2B5EF4-FFF2-40B4-BE49-F238E27FC236}">
                <a16:creationId xmlns:a16="http://schemas.microsoft.com/office/drawing/2014/main" id="{90CD5417-AB14-4EEC-85A1-3FE623BDAD0F}"/>
              </a:ext>
            </a:extLst>
          </p:cNvPr>
          <p:cNvSpPr>
            <a:spLocks xmlns:a="http://schemas.openxmlformats.org/drawingml/2006/main" noGrp="1"/>
          </p:cNvSpPr>
          <p:nvPr/>
        </p:nvSpPr>
        <p:spPr>
          <a:xfrm xmlns:a="http://schemas.openxmlformats.org/drawingml/2006/main">
            <a:off x="3905250" y="1657350"/>
            <a:ext cx="3790950" cy="3105150"/>
          </a:xfrm>
          <a:prstGeom xmlns:a="http://schemas.openxmlformats.org/drawingml/2006/main" prst="roundRect">
            <a:avLst>
              <a:gd name="adj" fmla="val 4908"/>
            </a:avLst>
          </a:prstGeom>
          <a:solidFill xmlns:a="http://schemas.openxmlformats.org/drawingml/2006/main">
            <a:srgbClr val="10253F"/>
          </a:solidFill>
          <a:ln xmlns:a="http://schemas.openxmlformats.org/drawingml/2006/main" w="0">
            <a:solidFill>
              <a:srgbClr val="10253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5BD75FD3-E17C-4262-9A70-CAC861144DB6}"/>
              </a:ext>
            </a:extLst>
          </p:cNvPr>
          <p:cNvSpPr>
            <a:spLocks xmlns:a="http://schemas.openxmlformats.org/drawingml/2006/main" noGrp="1"/>
          </p:cNvSpPr>
          <p:nvPr/>
        </p:nvSpPr>
        <p:spPr>
          <a:xfrm xmlns:a="http://schemas.openxmlformats.org/drawingml/2006/main">
            <a:off x="4095750" y="1847850"/>
            <a:ext cx="400050" cy="4000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29" name="">
            <a:extLst xmlns:a="http://schemas.openxmlformats.org/drawingml/2006/main">
              <a:ext uri="{FF2B5EF4-FFF2-40B4-BE49-F238E27FC236}">
                <a16:creationId xmlns:a16="http://schemas.microsoft.com/office/drawing/2014/main" id="{6C71F801-7E2B-4575-A173-C05255CA9F52}"/>
              </a:ext>
            </a:extLst>
          </p:cNvPr>
          <p:cNvSpPr>
            <a:spLocks xmlns:a="http://schemas.openxmlformats.org/drawingml/2006/main" noGrp="1"/>
          </p:cNvSpPr>
          <p:nvPr/>
        </p:nvSpPr>
        <p:spPr>
          <a:xfrm xmlns:a="http://schemas.openxmlformats.org/drawingml/2006/main">
            <a:off x="4629150" y="1847850"/>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EVIDENCE ENGINE</a:t>
            </a:r>
          </a:p>
        </p:txBody>
      </p:sp>
      <p:sp>
        <p:nvSpPr>
          <p:cNvPr id="30" name="">
            <a:extLst xmlns:a="http://schemas.openxmlformats.org/drawingml/2006/main">
              <a:ext uri="{FF2B5EF4-FFF2-40B4-BE49-F238E27FC236}">
                <a16:creationId xmlns:a16="http://schemas.microsoft.com/office/drawing/2014/main" id="{3FF88D96-5AD0-4EE2-A5B0-39FC182C7BF0}"/>
              </a:ext>
            </a:extLst>
          </p:cNvPr>
          <p:cNvSpPr>
            <a:spLocks xmlns:a="http://schemas.openxmlformats.org/drawingml/2006/main" noGrp="1"/>
          </p:cNvSpPr>
          <p:nvPr/>
        </p:nvSpPr>
        <p:spPr>
          <a:xfrm xmlns:a="http://schemas.openxmlformats.org/drawingml/2006/main">
            <a:off x="4114800" y="227647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a:solidFill>
                  <a:srgbClr val="BEC9D5"/>
                </a:solidFill>
                <a:latin typeface="Arial"/>
                <a:ea typeface="Arial"/>
                <a:cs typeface="Arial"/>
              </a:defRPr>
            </a:pPr>
            <a:r>
              <a:rPr sz="1275" b="0">
                <a:solidFill>
                  <a:srgbClr val="BEC9D5"/>
                </a:solidFill>
                <a:latin typeface="Arial"/>
                <a:ea typeface="Arial"/>
                <a:cs typeface="Arial"/>
              </a:rPr>
              <a:t>Three independent evidence streams</a:t>
            </a:r>
          </a:p>
        </p:txBody>
      </p:sp>
      <p:sp>
        <p:nvSpPr>
          <p:cNvPr id="31" name="">
            <a:extLst xmlns:a="http://schemas.openxmlformats.org/drawingml/2006/main">
              <a:ext uri="{FF2B5EF4-FFF2-40B4-BE49-F238E27FC236}">
                <a16:creationId xmlns:a16="http://schemas.microsoft.com/office/drawing/2014/main" id="{CFBF84AC-261C-4A85-B4BE-A16B56C99A18}"/>
              </a:ext>
            </a:extLst>
          </p:cNvPr>
          <p:cNvSpPr>
            <a:spLocks xmlns:a="http://schemas.openxmlformats.org/drawingml/2006/main" noGrp="1"/>
          </p:cNvSpPr>
          <p:nvPr/>
        </p:nvSpPr>
        <p:spPr>
          <a:xfrm xmlns:a="http://schemas.openxmlformats.org/drawingml/2006/main">
            <a:off x="4095750" y="2686050"/>
            <a:ext cx="3409950" cy="533400"/>
          </a:xfrm>
          <a:prstGeom xmlns:a="http://schemas.openxmlformats.org/drawingml/2006/main" prst="roundRect">
            <a:avLst>
              <a:gd name="adj" fmla="val 14286"/>
            </a:avLst>
          </a:prstGeom>
          <a:solidFill xmlns:a="http://schemas.openxmlformats.org/drawingml/2006/main">
            <a:srgbClr val="40291E"/>
          </a:solidFill>
          <a:ln xmlns:a="http://schemas.openxmlformats.org/drawingml/2006/main" w="9525">
            <a:solidFill>
              <a:srgbClr val="F07D3B"/>
            </a:solidFill>
            <a:prstDash val="solid"/>
          </a:ln>
        </p:spPr>
      </p:sp>
      <p:sp>
        <p:nvSpPr>
          <p:cNvPr id="32" name="">
            <a:extLst xmlns:a="http://schemas.openxmlformats.org/drawingml/2006/main">
              <a:ext uri="{FF2B5EF4-FFF2-40B4-BE49-F238E27FC236}">
                <a16:creationId xmlns:a16="http://schemas.microsoft.com/office/drawing/2014/main" id="{5696ADB9-E2B4-4DBF-94A9-3BEC25E06035}"/>
              </a:ext>
            </a:extLst>
          </p:cNvPr>
          <p:cNvSpPr>
            <a:spLocks xmlns:a="http://schemas.openxmlformats.org/drawingml/2006/main" noGrp="1"/>
          </p:cNvSpPr>
          <p:nvPr/>
        </p:nvSpPr>
        <p:spPr>
          <a:xfrm xmlns:a="http://schemas.openxmlformats.org/drawingml/2006/main">
            <a:off x="4229100" y="2809875"/>
            <a:ext cx="552450" cy="285750"/>
          </a:xfrm>
          <a:prstGeom xmlns:a="http://schemas.openxmlformats.org/drawingml/2006/main" prst="roundRect">
            <a:avLst>
              <a:gd name="adj" fmla="val 50000"/>
            </a:avLst>
          </a:prstGeom>
          <a:solidFill xmlns:a="http://schemas.openxmlformats.org/drawingml/2006/main">
            <a:srgbClr val="F07D3B"/>
          </a:solidFill>
          <a:ln xmlns:a="http://schemas.openxmlformats.org/drawingml/2006/main" w="0">
            <a:solidFill>
              <a:srgbClr val="F07D3B"/>
            </a:solidFill>
            <a:prstDash val="solid"/>
          </a:ln>
        </p:spPr>
      </p:sp>
      <p:sp>
        <p:nvSpPr>
          <p:cNvPr id="33" name="">
            <a:extLst xmlns:a="http://schemas.openxmlformats.org/drawingml/2006/main">
              <a:ext uri="{FF2B5EF4-FFF2-40B4-BE49-F238E27FC236}">
                <a16:creationId xmlns:a16="http://schemas.microsoft.com/office/drawing/2014/main" id="{8DA6EB9A-49C5-40F5-802A-BB6B0FD09496}"/>
              </a:ext>
            </a:extLst>
          </p:cNvPr>
          <p:cNvSpPr>
            <a:spLocks xmlns:a="http://schemas.openxmlformats.org/drawingml/2006/main" noGrp="1"/>
          </p:cNvSpPr>
          <p:nvPr/>
        </p:nvSpPr>
        <p:spPr>
          <a:xfrm xmlns:a="http://schemas.openxmlformats.org/drawingml/2006/main">
            <a:off x="4229100" y="28098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AI</a:t>
            </a:r>
          </a:p>
        </p:txBody>
      </p:sp>
      <p:sp>
        <p:nvSpPr>
          <p:cNvPr id="34" name="">
            <a:extLst xmlns:a="http://schemas.openxmlformats.org/drawingml/2006/main">
              <a:ext uri="{FF2B5EF4-FFF2-40B4-BE49-F238E27FC236}">
                <a16:creationId xmlns:a16="http://schemas.microsoft.com/office/drawing/2014/main" id="{962C73FA-1065-4532-AB36-ADC7EB87ED02}"/>
              </a:ext>
            </a:extLst>
          </p:cNvPr>
          <p:cNvSpPr>
            <a:spLocks xmlns:a="http://schemas.openxmlformats.org/drawingml/2006/main" noGrp="1"/>
          </p:cNvSpPr>
          <p:nvPr/>
        </p:nvSpPr>
        <p:spPr>
          <a:xfrm xmlns:a="http://schemas.openxmlformats.org/drawingml/2006/main">
            <a:off x="4953000" y="273367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Content intelligence</a:t>
            </a:r>
          </a:p>
        </p:txBody>
      </p:sp>
      <p:sp>
        <p:nvSpPr>
          <p:cNvPr id="35" name="">
            <a:extLst xmlns:a="http://schemas.openxmlformats.org/drawingml/2006/main">
              <a:ext uri="{FF2B5EF4-FFF2-40B4-BE49-F238E27FC236}">
                <a16:creationId xmlns:a16="http://schemas.microsoft.com/office/drawing/2014/main" id="{A3A8D3EC-7369-43E1-BB53-65C17E89823A}"/>
              </a:ext>
            </a:extLst>
          </p:cNvPr>
          <p:cNvSpPr>
            <a:spLocks xmlns:a="http://schemas.openxmlformats.org/drawingml/2006/main" noGrp="1"/>
          </p:cNvSpPr>
          <p:nvPr/>
        </p:nvSpPr>
        <p:spPr>
          <a:xfrm xmlns:a="http://schemas.openxmlformats.org/drawingml/2006/main">
            <a:off x="4953000" y="29622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TF-IDF model + deterministic rules</a:t>
            </a:r>
          </a:p>
        </p:txBody>
      </p:sp>
      <p:sp>
        <p:nvSpPr>
          <p:cNvPr id="36" name="">
            <a:extLst xmlns:a="http://schemas.openxmlformats.org/drawingml/2006/main">
              <a:ext uri="{FF2B5EF4-FFF2-40B4-BE49-F238E27FC236}">
                <a16:creationId xmlns:a16="http://schemas.microsoft.com/office/drawing/2014/main" id="{1495BEBA-5C06-45D5-8EE6-7E5766BE6F96}"/>
              </a:ext>
            </a:extLst>
          </p:cNvPr>
          <p:cNvSpPr>
            <a:spLocks xmlns:a="http://schemas.openxmlformats.org/drawingml/2006/main" noGrp="1"/>
          </p:cNvSpPr>
          <p:nvPr/>
        </p:nvSpPr>
        <p:spPr>
          <a:xfrm xmlns:a="http://schemas.openxmlformats.org/drawingml/2006/main">
            <a:off x="4095750" y="3314700"/>
            <a:ext cx="3409950" cy="533400"/>
          </a:xfrm>
          <a:prstGeom xmlns:a="http://schemas.openxmlformats.org/drawingml/2006/main" prst="roundRect">
            <a:avLst>
              <a:gd name="adj" fmla="val 14286"/>
            </a:avLst>
          </a:prstGeom>
          <a:solidFill xmlns:a="http://schemas.openxmlformats.org/drawingml/2006/main">
            <a:srgbClr val="16393D"/>
          </a:solidFill>
          <a:ln xmlns:a="http://schemas.openxmlformats.org/drawingml/2006/main" w="9525">
            <a:solidFill>
              <a:srgbClr val="46D6CF"/>
            </a:solidFill>
            <a:prstDash val="solid"/>
          </a:ln>
        </p:spPr>
      </p:sp>
      <p:sp>
        <p:nvSpPr>
          <p:cNvPr id="37" name="">
            <a:extLst xmlns:a="http://schemas.openxmlformats.org/drawingml/2006/main">
              <a:ext uri="{FF2B5EF4-FFF2-40B4-BE49-F238E27FC236}">
                <a16:creationId xmlns:a16="http://schemas.microsoft.com/office/drawing/2014/main" id="{2EF7065E-A7F3-4F55-BCEA-1E828C34B5A3}"/>
              </a:ext>
            </a:extLst>
          </p:cNvPr>
          <p:cNvSpPr>
            <a:spLocks xmlns:a="http://schemas.openxmlformats.org/drawingml/2006/main" noGrp="1"/>
          </p:cNvSpPr>
          <p:nvPr/>
        </p:nvSpPr>
        <p:spPr>
          <a:xfrm xmlns:a="http://schemas.openxmlformats.org/drawingml/2006/main">
            <a:off x="4229100" y="3438525"/>
            <a:ext cx="552450" cy="285750"/>
          </a:xfrm>
          <a:prstGeom xmlns:a="http://schemas.openxmlformats.org/drawingml/2006/main" prst="roundRect">
            <a:avLst>
              <a:gd name="adj" fmla="val 50000"/>
            </a:avLst>
          </a:prstGeom>
          <a:solidFill xmlns:a="http://schemas.openxmlformats.org/drawingml/2006/main">
            <a:srgbClr val="46D6CF"/>
          </a:solidFill>
          <a:ln xmlns:a="http://schemas.openxmlformats.org/drawingml/2006/main" w="0">
            <a:solidFill>
              <a:srgbClr val="46D6CF"/>
            </a:solidFill>
            <a:prstDash val="solid"/>
          </a:ln>
        </p:spPr>
      </p:sp>
      <p:sp>
        <p:nvSpPr>
          <p:cNvPr id="38" name="">
            <a:extLst xmlns:a="http://schemas.openxmlformats.org/drawingml/2006/main">
              <a:ext uri="{FF2B5EF4-FFF2-40B4-BE49-F238E27FC236}">
                <a16:creationId xmlns:a16="http://schemas.microsoft.com/office/drawing/2014/main" id="{B7BE12D6-E8BD-4D83-B2AD-96A3EDA95E32}"/>
              </a:ext>
            </a:extLst>
          </p:cNvPr>
          <p:cNvSpPr>
            <a:spLocks xmlns:a="http://schemas.openxmlformats.org/drawingml/2006/main" noGrp="1"/>
          </p:cNvSpPr>
          <p:nvPr/>
        </p:nvSpPr>
        <p:spPr>
          <a:xfrm xmlns:a="http://schemas.openxmlformats.org/drawingml/2006/main">
            <a:off x="4229100" y="343852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TRUST</a:t>
            </a:r>
          </a:p>
        </p:txBody>
      </p:sp>
      <p:sp>
        <p:nvSpPr>
          <p:cNvPr id="39" name="">
            <a:extLst xmlns:a="http://schemas.openxmlformats.org/drawingml/2006/main">
              <a:ext uri="{FF2B5EF4-FFF2-40B4-BE49-F238E27FC236}">
                <a16:creationId xmlns:a16="http://schemas.microsoft.com/office/drawing/2014/main" id="{3E9462DA-0CF3-4EE2-93F6-FBF1F778E791}"/>
              </a:ext>
            </a:extLst>
          </p:cNvPr>
          <p:cNvSpPr>
            <a:spLocks xmlns:a="http://schemas.openxmlformats.org/drawingml/2006/main" noGrp="1"/>
          </p:cNvSpPr>
          <p:nvPr/>
        </p:nvSpPr>
        <p:spPr>
          <a:xfrm xmlns:a="http://schemas.openxmlformats.org/drawingml/2006/main">
            <a:off x="4953000" y="336232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Identity + infrastructure</a:t>
            </a:r>
          </a:p>
        </p:txBody>
      </p:sp>
      <p:sp>
        <p:nvSpPr>
          <p:cNvPr id="40" name="">
            <a:extLst xmlns:a="http://schemas.openxmlformats.org/drawingml/2006/main">
              <a:ext uri="{FF2B5EF4-FFF2-40B4-BE49-F238E27FC236}">
                <a16:creationId xmlns:a16="http://schemas.microsoft.com/office/drawing/2014/main" id="{01408C6D-71DE-4187-BE85-99040F7FD6C1}"/>
              </a:ext>
            </a:extLst>
          </p:cNvPr>
          <p:cNvSpPr>
            <a:spLocks xmlns:a="http://schemas.openxmlformats.org/drawingml/2006/main" noGrp="1"/>
          </p:cNvSpPr>
          <p:nvPr/>
        </p:nvSpPr>
        <p:spPr>
          <a:xfrm xmlns:a="http://schemas.openxmlformats.org/drawingml/2006/main">
            <a:off x="4953000" y="35909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4582"/>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Auth, sender, domain, DNS, IP, Geo, reputation</a:t>
            </a:r>
          </a:p>
        </p:txBody>
      </p:sp>
      <p:sp>
        <p:nvSpPr>
          <p:cNvPr id="41" name="">
            <a:extLst xmlns:a="http://schemas.openxmlformats.org/drawingml/2006/main">
              <a:ext uri="{FF2B5EF4-FFF2-40B4-BE49-F238E27FC236}">
                <a16:creationId xmlns:a16="http://schemas.microsoft.com/office/drawing/2014/main" id="{E8432104-80FF-46D4-93F8-54201D8A5125}"/>
              </a:ext>
            </a:extLst>
          </p:cNvPr>
          <p:cNvSpPr>
            <a:spLocks xmlns:a="http://schemas.openxmlformats.org/drawingml/2006/main" noGrp="1"/>
          </p:cNvSpPr>
          <p:nvPr/>
        </p:nvSpPr>
        <p:spPr>
          <a:xfrm xmlns:a="http://schemas.openxmlformats.org/drawingml/2006/main">
            <a:off x="4095750" y="3943350"/>
            <a:ext cx="3409950" cy="533400"/>
          </a:xfrm>
          <a:prstGeom xmlns:a="http://schemas.openxmlformats.org/drawingml/2006/main" prst="roundRect">
            <a:avLst>
              <a:gd name="adj" fmla="val 14286"/>
            </a:avLst>
          </a:prstGeom>
          <a:solidFill xmlns:a="http://schemas.openxmlformats.org/drawingml/2006/main">
            <a:srgbClr val="3B351F"/>
          </a:solidFill>
          <a:ln xmlns:a="http://schemas.openxmlformats.org/drawingml/2006/main" w="9525">
            <a:solidFill>
              <a:srgbClr val="F2C454"/>
            </a:solidFill>
            <a:prstDash val="solid"/>
          </a:ln>
        </p:spPr>
      </p:sp>
      <p:sp>
        <p:nvSpPr>
          <p:cNvPr id="42" name="">
            <a:extLst xmlns:a="http://schemas.openxmlformats.org/drawingml/2006/main">
              <a:ext uri="{FF2B5EF4-FFF2-40B4-BE49-F238E27FC236}">
                <a16:creationId xmlns:a16="http://schemas.microsoft.com/office/drawing/2014/main" id="{ED51BF32-E6C0-4828-B107-D0D44CD8A2B1}"/>
              </a:ext>
            </a:extLst>
          </p:cNvPr>
          <p:cNvSpPr>
            <a:spLocks xmlns:a="http://schemas.openxmlformats.org/drawingml/2006/main" noGrp="1"/>
          </p:cNvSpPr>
          <p:nvPr/>
        </p:nvSpPr>
        <p:spPr>
          <a:xfrm xmlns:a="http://schemas.openxmlformats.org/drawingml/2006/main">
            <a:off x="4229100" y="4067175"/>
            <a:ext cx="552450" cy="285750"/>
          </a:xfrm>
          <a:prstGeom xmlns:a="http://schemas.openxmlformats.org/drawingml/2006/main" prst="roundRect">
            <a:avLst>
              <a:gd name="adj" fmla="val 50000"/>
            </a:avLst>
          </a:prstGeom>
          <a:solidFill xmlns:a="http://schemas.openxmlformats.org/drawingml/2006/main">
            <a:srgbClr val="F2C454"/>
          </a:solidFill>
          <a:ln xmlns:a="http://schemas.openxmlformats.org/drawingml/2006/main" w="0">
            <a:solidFill>
              <a:srgbClr val="F2C454"/>
            </a:solidFill>
            <a:prstDash val="solid"/>
          </a:ln>
        </p:spPr>
      </p:sp>
      <p:sp>
        <p:nvSpPr>
          <p:cNvPr id="43" name="">
            <a:extLst xmlns:a="http://schemas.openxmlformats.org/drawingml/2006/main">
              <a:ext uri="{FF2B5EF4-FFF2-40B4-BE49-F238E27FC236}">
                <a16:creationId xmlns:a16="http://schemas.microsoft.com/office/drawing/2014/main" id="{644A952A-5036-4935-B3D5-23C06C87BFF2}"/>
              </a:ext>
            </a:extLst>
          </p:cNvPr>
          <p:cNvSpPr>
            <a:spLocks xmlns:a="http://schemas.openxmlformats.org/drawingml/2006/main" noGrp="1"/>
          </p:cNvSpPr>
          <p:nvPr/>
        </p:nvSpPr>
        <p:spPr>
          <a:xfrm xmlns:a="http://schemas.openxmlformats.org/drawingml/2006/main">
            <a:off x="4229100" y="40671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HASH</a:t>
            </a:r>
          </a:p>
        </p:txBody>
      </p:sp>
      <p:sp>
        <p:nvSpPr>
          <p:cNvPr id="44" name="">
            <a:extLst xmlns:a="http://schemas.openxmlformats.org/drawingml/2006/main">
              <a:ext uri="{FF2B5EF4-FFF2-40B4-BE49-F238E27FC236}">
                <a16:creationId xmlns:a16="http://schemas.microsoft.com/office/drawing/2014/main" id="{CA05E5B9-4F5D-443F-976E-891384614817}"/>
              </a:ext>
            </a:extLst>
          </p:cNvPr>
          <p:cNvSpPr>
            <a:spLocks xmlns:a="http://schemas.openxmlformats.org/drawingml/2006/main" noGrp="1"/>
          </p:cNvSpPr>
          <p:nvPr/>
        </p:nvSpPr>
        <p:spPr>
          <a:xfrm xmlns:a="http://schemas.openxmlformats.org/drawingml/2006/main">
            <a:off x="4953000" y="399097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Attachment forensics</a:t>
            </a:r>
          </a:p>
        </p:txBody>
      </p:sp>
      <p:sp>
        <p:nvSpPr>
          <p:cNvPr id="45" name="">
            <a:extLst xmlns:a="http://schemas.openxmlformats.org/drawingml/2006/main">
              <a:ext uri="{FF2B5EF4-FFF2-40B4-BE49-F238E27FC236}">
                <a16:creationId xmlns:a16="http://schemas.microsoft.com/office/drawing/2014/main" id="{BB0FE40F-6E31-4521-9F78-5AA935311F68}"/>
              </a:ext>
            </a:extLst>
          </p:cNvPr>
          <p:cNvSpPr>
            <a:spLocks xmlns:a="http://schemas.openxmlformats.org/drawingml/2006/main" noGrp="1"/>
          </p:cNvSpPr>
          <p:nvPr/>
        </p:nvSpPr>
        <p:spPr>
          <a:xfrm xmlns:a="http://schemas.openxmlformats.org/drawingml/2006/main">
            <a:off x="4953000" y="42195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Type, extension, SHA-256 + reputation</a:t>
            </a:r>
          </a:p>
        </p:txBody>
      </p:sp>
      <p:sp>
        <p:nvSpPr>
          <p:cNvPr id="46" name="">
            <a:extLst xmlns:a="http://schemas.openxmlformats.org/drawingml/2006/main">
              <a:ext uri="{FF2B5EF4-FFF2-40B4-BE49-F238E27FC236}">
                <a16:creationId xmlns:a16="http://schemas.microsoft.com/office/drawing/2014/main" id="{DDC29842-2933-4592-9294-7D97395F8CF8}"/>
              </a:ext>
            </a:extLst>
          </p:cNvPr>
          <p:cNvSpPr>
            <a:spLocks xmlns:a="http://schemas.openxmlformats.org/drawingml/2006/main" noGrp="1"/>
          </p:cNvSpPr>
          <p:nvPr/>
        </p:nvSpPr>
        <p:spPr>
          <a:xfrm xmlns:a="http://schemas.openxmlformats.org/drawingml/2006/main">
            <a:off x="842010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47" name="">
            <a:extLst xmlns:a="http://schemas.openxmlformats.org/drawingml/2006/main">
              <a:ext uri="{FF2B5EF4-FFF2-40B4-BE49-F238E27FC236}">
                <a16:creationId xmlns:a16="http://schemas.microsoft.com/office/drawing/2014/main" id="{FC1141C3-C61A-41E2-80E7-AD0B4D433477}"/>
              </a:ext>
            </a:extLst>
          </p:cNvPr>
          <p:cNvSpPr>
            <a:spLocks xmlns:a="http://schemas.openxmlformats.org/drawingml/2006/main" noGrp="1"/>
          </p:cNvSpPr>
          <p:nvPr/>
        </p:nvSpPr>
        <p:spPr>
          <a:xfrm xmlns:a="http://schemas.openxmlformats.org/drawingml/2006/main">
            <a:off x="8458200" y="1981200"/>
            <a:ext cx="400050" cy="400050"/>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48" name="">
            <a:extLst xmlns:a="http://schemas.openxmlformats.org/drawingml/2006/main">
              <a:ext uri="{FF2B5EF4-FFF2-40B4-BE49-F238E27FC236}">
                <a16:creationId xmlns:a16="http://schemas.microsoft.com/office/drawing/2014/main" id="{54A7345E-00C2-4B95-BDB5-4C827BFA2BBD}"/>
              </a:ext>
            </a:extLst>
          </p:cNvPr>
          <p:cNvSpPr>
            <a:spLocks xmlns:a="http://schemas.openxmlformats.org/drawingml/2006/main" noGrp="1"/>
          </p:cNvSpPr>
          <p:nvPr/>
        </p:nvSpPr>
        <p:spPr>
          <a:xfrm xmlns:a="http://schemas.openxmlformats.org/drawingml/2006/main">
            <a:off x="8105775" y="2447925"/>
            <a:ext cx="1181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745"/>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RISK FUSION</a:t>
            </a:r>
          </a:p>
        </p:txBody>
      </p:sp>
      <p:sp>
        <p:nvSpPr>
          <p:cNvPr id="49" name="">
            <a:extLst xmlns:a="http://schemas.openxmlformats.org/drawingml/2006/main">
              <a:ext uri="{FF2B5EF4-FFF2-40B4-BE49-F238E27FC236}">
                <a16:creationId xmlns:a16="http://schemas.microsoft.com/office/drawing/2014/main" id="{98BC2D86-9A3B-46D2-A89C-B36F9EF4CB24}"/>
              </a:ext>
            </a:extLst>
          </p:cNvPr>
          <p:cNvSpPr>
            <a:spLocks xmlns:a="http://schemas.openxmlformats.org/drawingml/2006/main" noGrp="1"/>
          </p:cNvSpPr>
          <p:nvPr/>
        </p:nvSpPr>
        <p:spPr>
          <a:xfrm xmlns:a="http://schemas.openxmlformats.org/drawingml/2006/main">
            <a:off x="8058150" y="3571875"/>
            <a:ext cx="1200150" cy="1200150"/>
          </a:xfrm>
          <a:prstGeom xmlns:a="http://schemas.openxmlformats.org/drawingml/2006/main" prst="ellipse">
            <a:avLst/>
          </a:prstGeom>
          <a:solidFill xmlns:a="http://schemas.openxmlformats.org/drawingml/2006/main">
            <a:srgbClr val="FFFFFF"/>
          </a:solidFill>
          <a:ln xmlns:a="http://schemas.openxmlformats.org/drawingml/2006/main" w="47625">
            <a:solidFill>
              <a:srgbClr val="2C67B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02FC8134-3EB7-43C4-AC6B-067BFC8EB3F9}"/>
              </a:ext>
            </a:extLst>
          </p:cNvPr>
          <p:cNvSpPr>
            <a:spLocks xmlns:a="http://schemas.openxmlformats.org/drawingml/2006/main" noGrp="1"/>
          </p:cNvSpPr>
          <p:nvPr/>
        </p:nvSpPr>
        <p:spPr>
          <a:xfrm xmlns:a="http://schemas.openxmlformats.org/drawingml/2006/main">
            <a:off x="8191500" y="3752850"/>
            <a:ext cx="933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250" b="1">
                <a:solidFill>
                  <a:srgbClr val="10253F"/>
                </a:solidFill>
                <a:latin typeface="Arial"/>
                <a:ea typeface="Arial"/>
                <a:cs typeface="Arial"/>
              </a:defRPr>
            </a:pPr>
            <a:r>
              <a:rPr sz="2250" b="1">
                <a:solidFill>
                  <a:srgbClr val="10253F"/>
                </a:solidFill>
                <a:latin typeface="Arial"/>
                <a:ea typeface="Arial"/>
                <a:cs typeface="Arial"/>
              </a:rPr>
              <a:t>0–100</a:t>
            </a:r>
          </a:p>
        </p:txBody>
      </p:sp>
      <p:sp>
        <p:nvSpPr>
          <p:cNvPr id="51" name="">
            <a:extLst xmlns:a="http://schemas.openxmlformats.org/drawingml/2006/main">
              <a:ext uri="{FF2B5EF4-FFF2-40B4-BE49-F238E27FC236}">
                <a16:creationId xmlns:a16="http://schemas.microsoft.com/office/drawing/2014/main" id="{15149475-AE28-4223-AB61-D00837B35A9D}"/>
              </a:ext>
            </a:extLst>
          </p:cNvPr>
          <p:cNvSpPr>
            <a:spLocks xmlns:a="http://schemas.openxmlformats.org/drawingml/2006/main" noGrp="1"/>
          </p:cNvSpPr>
          <p:nvPr/>
        </p:nvSpPr>
        <p:spPr>
          <a:xfrm xmlns:a="http://schemas.openxmlformats.org/drawingml/2006/main">
            <a:off x="8239125" y="418147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2C67B1"/>
                </a:solidFill>
                <a:latin typeface="Arial"/>
                <a:ea typeface="Arial"/>
                <a:cs typeface="Arial"/>
              </a:defRPr>
            </a:pPr>
            <a:r>
              <a:rPr sz="900" b="1">
                <a:solidFill>
                  <a:srgbClr val="2C67B1"/>
                </a:solidFill>
                <a:latin typeface="Arial"/>
                <a:ea typeface="Arial"/>
                <a:cs typeface="Arial"/>
              </a:rPr>
              <a:t>EXPLAINABLE</a:t>
            </a:r>
          </a:p>
        </p:txBody>
      </p:sp>
      <p:sp>
        <p:nvSpPr>
          <p:cNvPr id="52" name="">
            <a:extLst xmlns:a="http://schemas.openxmlformats.org/drawingml/2006/main">
              <a:ext uri="{FF2B5EF4-FFF2-40B4-BE49-F238E27FC236}">
                <a16:creationId xmlns:a16="http://schemas.microsoft.com/office/drawing/2014/main" id="{97701D04-6FE1-48CB-A5F4-79CC83EC00B4}"/>
              </a:ext>
            </a:extLst>
          </p:cNvPr>
          <p:cNvSpPr>
            <a:spLocks xmlns:a="http://schemas.openxmlformats.org/drawingml/2006/main" noGrp="1"/>
          </p:cNvSpPr>
          <p:nvPr/>
        </p:nvSpPr>
        <p:spPr>
          <a:xfrm xmlns:a="http://schemas.openxmlformats.org/drawingml/2006/main">
            <a:off x="7820025" y="49244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F07D3B"/>
                </a:solidFill>
                <a:latin typeface="Arial"/>
                <a:ea typeface="Arial"/>
                <a:cs typeface="Arial"/>
              </a:defRPr>
            </a:pPr>
            <a:r>
              <a:rPr sz="975" b="1">
                <a:solidFill>
                  <a:srgbClr val="F07D3B"/>
                </a:solidFill>
                <a:latin typeface="Arial"/>
                <a:ea typeface="Arial"/>
                <a:cs typeface="Arial"/>
              </a:rPr>
              <a:t>AI 40</a:t>
            </a:r>
          </a:p>
        </p:txBody>
      </p:sp>
      <p:sp>
        <p:nvSpPr>
          <p:cNvPr id="53" name="">
            <a:extLst xmlns:a="http://schemas.openxmlformats.org/drawingml/2006/main">
              <a:ext uri="{FF2B5EF4-FFF2-40B4-BE49-F238E27FC236}">
                <a16:creationId xmlns:a16="http://schemas.microsoft.com/office/drawing/2014/main" id="{F0FEF81C-E2BA-4659-8B2B-07972C232D1A}"/>
              </a:ext>
            </a:extLst>
          </p:cNvPr>
          <p:cNvSpPr>
            <a:spLocks xmlns:a="http://schemas.openxmlformats.org/drawingml/2006/main" noGrp="1"/>
          </p:cNvSpPr>
          <p:nvPr/>
        </p:nvSpPr>
        <p:spPr>
          <a:xfrm xmlns:a="http://schemas.openxmlformats.org/drawingml/2006/main">
            <a:off x="8353425" y="492442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TRUST 35</a:t>
            </a:r>
          </a:p>
        </p:txBody>
      </p:sp>
      <p:sp>
        <p:nvSpPr>
          <p:cNvPr id="54" name="">
            <a:extLst xmlns:a="http://schemas.openxmlformats.org/drawingml/2006/main">
              <a:ext uri="{FF2B5EF4-FFF2-40B4-BE49-F238E27FC236}">
                <a16:creationId xmlns:a16="http://schemas.microsoft.com/office/drawing/2014/main" id="{E0066E91-CB02-4F41-B1F8-1AD4837B3111}"/>
              </a:ext>
            </a:extLst>
          </p:cNvPr>
          <p:cNvSpPr>
            <a:spLocks xmlns:a="http://schemas.openxmlformats.org/drawingml/2006/main" noGrp="1"/>
          </p:cNvSpPr>
          <p:nvPr/>
        </p:nvSpPr>
        <p:spPr>
          <a:xfrm xmlns:a="http://schemas.openxmlformats.org/drawingml/2006/main">
            <a:off x="9001125" y="4924425"/>
            <a:ext cx="657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E5A528"/>
                </a:solidFill>
                <a:latin typeface="Arial"/>
                <a:ea typeface="Arial"/>
                <a:cs typeface="Arial"/>
              </a:defRPr>
            </a:pPr>
            <a:r>
              <a:rPr sz="975" b="1">
                <a:solidFill>
                  <a:srgbClr val="E5A528"/>
                </a:solidFill>
                <a:latin typeface="Arial"/>
                <a:ea typeface="Arial"/>
                <a:cs typeface="Arial"/>
              </a:rPr>
              <a:t>ACTION 25</a:t>
            </a:r>
          </a:p>
        </p:txBody>
      </p:sp>
      <p:sp>
        <p:nvSpPr>
          <p:cNvPr id="55" name="">
            <a:extLst xmlns:a="http://schemas.openxmlformats.org/drawingml/2006/main">
              <a:ext uri="{FF2B5EF4-FFF2-40B4-BE49-F238E27FC236}">
                <a16:creationId xmlns:a16="http://schemas.microsoft.com/office/drawing/2014/main" id="{5CA645EF-8BBF-4E90-BEAB-395226554190}"/>
              </a:ext>
            </a:extLst>
          </p:cNvPr>
          <p:cNvSpPr>
            <a:spLocks xmlns:a="http://schemas.openxmlformats.org/drawingml/2006/main" noGrp="1"/>
          </p:cNvSpPr>
          <p:nvPr/>
        </p:nvSpPr>
        <p:spPr>
          <a:xfrm xmlns:a="http://schemas.openxmlformats.org/drawingml/2006/main">
            <a:off x="7781925" y="51911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050" b="0">
                <a:solidFill>
                  <a:srgbClr val="41A36B"/>
                </a:solidFill>
                <a:latin typeface="Arial"/>
                <a:ea typeface="Arial"/>
                <a:cs typeface="Arial"/>
              </a:defRPr>
            </a:pPr>
            <a:r>
              <a:rPr sz="1050" b="0">
                <a:solidFill>
                  <a:srgbClr val="41A36B"/>
                </a:solidFill>
                <a:latin typeface="Arial"/>
                <a:ea typeface="Arial"/>
                <a:cs typeface="Arial"/>
              </a:rPr>
              <a:t>Separate evidence coverage</a:t>
            </a:r>
          </a:p>
        </p:txBody>
      </p:sp>
      <p:sp>
        <p:nvSpPr>
          <p:cNvPr id="56" name="">
            <a:extLst xmlns:a="http://schemas.openxmlformats.org/drawingml/2006/main">
              <a:ext uri="{FF2B5EF4-FFF2-40B4-BE49-F238E27FC236}">
                <a16:creationId xmlns:a16="http://schemas.microsoft.com/office/drawing/2014/main" id="{B5BC00AD-1332-4F00-B653-0EB98B6A683B}"/>
              </a:ext>
            </a:extLst>
          </p:cNvPr>
          <p:cNvSpPr>
            <a:spLocks xmlns:a="http://schemas.openxmlformats.org/drawingml/2006/main" noGrp="1"/>
          </p:cNvSpPr>
          <p:nvPr/>
        </p:nvSpPr>
        <p:spPr>
          <a:xfrm xmlns:a="http://schemas.openxmlformats.org/drawingml/2006/main">
            <a:off x="1059180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41A36B"/>
            </a:solidFill>
            <a:prstDash val="solid"/>
          </a:ln>
        </p:spPr>
      </p:sp>
      <p:sp>
        <p:nvSpPr>
          <p:cNvPr id="57" name="">
            <a:extLst xmlns:a="http://schemas.openxmlformats.org/drawingml/2006/main">
              <a:ext uri="{FF2B5EF4-FFF2-40B4-BE49-F238E27FC236}">
                <a16:creationId xmlns:a16="http://schemas.microsoft.com/office/drawing/2014/main" id="{9AB2CDEA-D252-4FAA-B32F-6A1A2D0CB0E7}"/>
              </a:ext>
            </a:extLst>
          </p:cNvPr>
          <p:cNvSpPr>
            <a:spLocks xmlns:a="http://schemas.openxmlformats.org/drawingml/2006/main" noGrp="1"/>
          </p:cNvSpPr>
          <p:nvPr/>
        </p:nvSpPr>
        <p:spPr>
          <a:xfrm xmlns:a="http://schemas.openxmlformats.org/drawingml/2006/main">
            <a:off x="10629900" y="1981200"/>
            <a:ext cx="400050" cy="400050"/>
          </a:xfrm>
          <a:prstGeom xmlns:a="http://schemas.openxmlformats.org/drawingml/2006/main" prst="ellipse">
            <a:avLst/>
          </a:prstGeom>
          <a:solidFill xmlns:a="http://schemas.openxmlformats.org/drawingml/2006/main">
            <a:srgbClr val="41A36B"/>
          </a:solidFill>
          <a:ln xmlns:a="http://schemas.openxmlformats.org/drawingml/2006/main" w="0">
            <a:solidFill>
              <a:srgbClr val="41A36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58" name="">
            <a:extLst xmlns:a="http://schemas.openxmlformats.org/drawingml/2006/main">
              <a:ext uri="{FF2B5EF4-FFF2-40B4-BE49-F238E27FC236}">
                <a16:creationId xmlns:a16="http://schemas.microsoft.com/office/drawing/2014/main" id="{36DBDA38-5B30-4324-B6D6-052C03318EFE}"/>
              </a:ext>
            </a:extLst>
          </p:cNvPr>
          <p:cNvSpPr>
            <a:spLocks xmlns:a="http://schemas.openxmlformats.org/drawingml/2006/main" noGrp="1"/>
          </p:cNvSpPr>
          <p:nvPr/>
        </p:nvSpPr>
        <p:spPr>
          <a:xfrm xmlns:a="http://schemas.openxmlformats.org/drawingml/2006/main">
            <a:off x="10210800" y="2447925"/>
            <a:ext cx="1295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2874"/>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USER RESULT</a:t>
            </a:r>
          </a:p>
        </p:txBody>
      </p:sp>
      <p:sp>
        <p:nvSpPr>
          <p:cNvPr id="59" name="">
            <a:extLst xmlns:a="http://schemas.openxmlformats.org/drawingml/2006/main">
              <a:ext uri="{FF2B5EF4-FFF2-40B4-BE49-F238E27FC236}">
                <a16:creationId xmlns:a16="http://schemas.microsoft.com/office/drawing/2014/main" id="{AB72865B-38FA-445C-84AF-FC6102CEAD05}"/>
              </a:ext>
            </a:extLst>
          </p:cNvPr>
          <p:cNvSpPr>
            <a:spLocks xmlns:a="http://schemas.openxmlformats.org/drawingml/2006/main" noGrp="1"/>
          </p:cNvSpPr>
          <p:nvPr/>
        </p:nvSpPr>
        <p:spPr>
          <a:xfrm xmlns:a="http://schemas.openxmlformats.org/drawingml/2006/main">
            <a:off x="10325100" y="3667125"/>
            <a:ext cx="85725" cy="8572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60" name="">
            <a:extLst xmlns:a="http://schemas.openxmlformats.org/drawingml/2006/main">
              <a:ext uri="{FF2B5EF4-FFF2-40B4-BE49-F238E27FC236}">
                <a16:creationId xmlns:a16="http://schemas.microsoft.com/office/drawing/2014/main" id="{1C09C0E5-3FD1-4E09-A77A-CDC34F53F9B5}"/>
              </a:ext>
            </a:extLst>
          </p:cNvPr>
          <p:cNvSpPr>
            <a:spLocks xmlns:a="http://schemas.openxmlformats.org/drawingml/2006/main" noGrp="1"/>
          </p:cNvSpPr>
          <p:nvPr/>
        </p:nvSpPr>
        <p:spPr>
          <a:xfrm xmlns:a="http://schemas.openxmlformats.org/drawingml/2006/main">
            <a:off x="10496550" y="3562350"/>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VERDICT</a:t>
            </a:r>
          </a:p>
        </p:txBody>
      </p:sp>
      <p:sp>
        <p:nvSpPr>
          <p:cNvPr id="61" name="">
            <a:extLst xmlns:a="http://schemas.openxmlformats.org/drawingml/2006/main">
              <a:ext uri="{FF2B5EF4-FFF2-40B4-BE49-F238E27FC236}">
                <a16:creationId xmlns:a16="http://schemas.microsoft.com/office/drawing/2014/main" id="{D19A73AE-A1A9-4834-B7B2-DF6B35A3391E}"/>
              </a:ext>
            </a:extLst>
          </p:cNvPr>
          <p:cNvSpPr>
            <a:spLocks xmlns:a="http://schemas.openxmlformats.org/drawingml/2006/main" noGrp="1"/>
          </p:cNvSpPr>
          <p:nvPr/>
        </p:nvSpPr>
        <p:spPr>
          <a:xfrm xmlns:a="http://schemas.openxmlformats.org/drawingml/2006/main">
            <a:off x="10325100" y="4038600"/>
            <a:ext cx="85725" cy="85725"/>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62" name="">
            <a:extLst xmlns:a="http://schemas.openxmlformats.org/drawingml/2006/main">
              <a:ext uri="{FF2B5EF4-FFF2-40B4-BE49-F238E27FC236}">
                <a16:creationId xmlns:a16="http://schemas.microsoft.com/office/drawing/2014/main" id="{2EED5C79-AC11-4F65-8959-E394C0B90D34}"/>
              </a:ext>
            </a:extLst>
          </p:cNvPr>
          <p:cNvSpPr>
            <a:spLocks xmlns:a="http://schemas.openxmlformats.org/drawingml/2006/main" noGrp="1"/>
          </p:cNvSpPr>
          <p:nvPr/>
        </p:nvSpPr>
        <p:spPr>
          <a:xfrm xmlns:a="http://schemas.openxmlformats.org/drawingml/2006/main">
            <a:off x="10496550" y="3933825"/>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EVIDENCE</a:t>
            </a:r>
          </a:p>
        </p:txBody>
      </p:sp>
      <p:sp>
        <p:nvSpPr>
          <p:cNvPr id="63" name="">
            <a:extLst xmlns:a="http://schemas.openxmlformats.org/drawingml/2006/main">
              <a:ext uri="{FF2B5EF4-FFF2-40B4-BE49-F238E27FC236}">
                <a16:creationId xmlns:a16="http://schemas.microsoft.com/office/drawing/2014/main" id="{D03A9FF8-149B-45A8-84DA-BED77822BBB8}"/>
              </a:ext>
            </a:extLst>
          </p:cNvPr>
          <p:cNvSpPr>
            <a:spLocks xmlns:a="http://schemas.openxmlformats.org/drawingml/2006/main" noGrp="1"/>
          </p:cNvSpPr>
          <p:nvPr/>
        </p:nvSpPr>
        <p:spPr>
          <a:xfrm xmlns:a="http://schemas.openxmlformats.org/drawingml/2006/main">
            <a:off x="10325100" y="4410075"/>
            <a:ext cx="85725" cy="85725"/>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64" name="">
            <a:extLst xmlns:a="http://schemas.openxmlformats.org/drawingml/2006/main">
              <a:ext uri="{FF2B5EF4-FFF2-40B4-BE49-F238E27FC236}">
                <a16:creationId xmlns:a16="http://schemas.microsoft.com/office/drawing/2014/main" id="{06B40D41-414F-4BEF-A457-9EAB66FBE2E3}"/>
              </a:ext>
            </a:extLst>
          </p:cNvPr>
          <p:cNvSpPr>
            <a:spLocks xmlns:a="http://schemas.openxmlformats.org/drawingml/2006/main" noGrp="1"/>
          </p:cNvSpPr>
          <p:nvPr/>
        </p:nvSpPr>
        <p:spPr>
          <a:xfrm xmlns:a="http://schemas.openxmlformats.org/drawingml/2006/main">
            <a:off x="10496550" y="4305300"/>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2-PAGE PDF</a:t>
            </a:r>
          </a:p>
        </p:txBody>
      </p:sp>
      <p:sp>
        <p:nvSpPr>
          <p:cNvPr id="65" name="">
            <a:extLst xmlns:a="http://schemas.openxmlformats.org/drawingml/2006/main">
              <a:ext uri="{FF2B5EF4-FFF2-40B4-BE49-F238E27FC236}">
                <a16:creationId xmlns:a16="http://schemas.microsoft.com/office/drawing/2014/main" id="{3E96BBA1-C52C-463B-A30F-356B57FFE45F}"/>
              </a:ext>
            </a:extLst>
          </p:cNvPr>
          <p:cNvSpPr>
            <a:spLocks xmlns:a="http://schemas.openxmlformats.org/drawingml/2006/main" noGrp="1"/>
          </p:cNvSpPr>
          <p:nvPr/>
        </p:nvSpPr>
        <p:spPr>
          <a:xfrm xmlns:a="http://schemas.openxmlformats.org/drawingml/2006/main">
            <a:off x="10325100" y="4781550"/>
            <a:ext cx="85725" cy="85725"/>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66" name="">
            <a:extLst xmlns:a="http://schemas.openxmlformats.org/drawingml/2006/main">
              <a:ext uri="{FF2B5EF4-FFF2-40B4-BE49-F238E27FC236}">
                <a16:creationId xmlns:a16="http://schemas.microsoft.com/office/drawing/2014/main" id="{3ED62AC4-0048-4D59-ABA5-DC4DB56D559F}"/>
              </a:ext>
            </a:extLst>
          </p:cNvPr>
          <p:cNvSpPr>
            <a:spLocks xmlns:a="http://schemas.openxmlformats.org/drawingml/2006/main" noGrp="1"/>
          </p:cNvSpPr>
          <p:nvPr/>
        </p:nvSpPr>
        <p:spPr>
          <a:xfrm xmlns:a="http://schemas.openxmlformats.org/drawingml/2006/main">
            <a:off x="10496550" y="4676775"/>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CASE LINKS</a:t>
            </a:r>
          </a:p>
        </p:txBody>
      </p:sp>
      <p:cxnSp>
        <p:nvCxnSpPr>
          <p:cNvPr id="221" name=""/>
          <p:cNvCxnSpPr>
            <a:stCxn xmlns:a="http://schemas.openxmlformats.org/drawingml/2006/main" id="10" idx="6"/>
            <a:endCxn xmlns:a="http://schemas.openxmlformats.org/drawingml/2006/main" id="16" idx="2"/>
          </p:cNvCxnSpPr>
          <p:nvPr/>
        </p:nvCxnSpPr>
        <p:spPr>
          <a:xfrm xmlns:a="http://schemas.openxmlformats.org/drawingml/2006/main">
            <a:off x="1219200" y="3162300"/>
            <a:ext cx="1400175" cy="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222" name=""/>
          <p:cNvCxnSpPr>
            <a:stCxn xmlns:a="http://schemas.openxmlformats.org/drawingml/2006/main" id="16" idx="6"/>
            <a:endCxn xmlns:a="http://schemas.openxmlformats.org/drawingml/2006/main" id="27" idx="1"/>
          </p:cNvCxnSpPr>
          <p:nvPr/>
        </p:nvCxnSpPr>
        <p:spPr>
          <a:xfrm xmlns:a="http://schemas.openxmlformats.org/drawingml/2006/main">
            <a:off x="3095625" y="3162300"/>
            <a:ext cx="809625" cy="47625"/>
          </a:xfrm>
          <a:prstGeom xmlns:a="http://schemas.openxmlformats.org/drawingml/2006/main" prst="straightConnector1">
            <a:avLst/>
          </a:prstGeom>
          <a:ln xmlns:a="http://schemas.openxmlformats.org/drawingml/2006/main" w="28575">
            <a:solidFill>
              <a:srgbClr val="159F9A"/>
            </a:solidFill>
            <a:prstDash val="solid"/>
            <a:tailEnd type="triangle" w="med" len="med"/>
          </a:ln>
        </p:spPr>
      </p:cxnSp>
      <p:cxnSp>
        <p:nvCxnSpPr>
          <p:cNvPr id="223" name=""/>
          <p:cNvCxnSpPr>
            <a:stCxn xmlns:a="http://schemas.openxmlformats.org/drawingml/2006/main" id="27" idx="3"/>
            <a:endCxn xmlns:a="http://schemas.openxmlformats.org/drawingml/2006/main" id="46" idx="2"/>
          </p:cNvCxnSpPr>
          <p:nvPr/>
        </p:nvCxnSpPr>
        <p:spPr>
          <a:xfrm xmlns:a="http://schemas.openxmlformats.org/drawingml/2006/main" flipV="1">
            <a:off x="7696200" y="3162300"/>
            <a:ext cx="723900" cy="47625"/>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224" name=""/>
          <p:cNvCxnSpPr>
            <a:stCxn xmlns:a="http://schemas.openxmlformats.org/drawingml/2006/main" id="46" idx="6"/>
            <a:endCxn xmlns:a="http://schemas.openxmlformats.org/drawingml/2006/main" id="56" idx="2"/>
          </p:cNvCxnSpPr>
          <p:nvPr/>
        </p:nvCxnSpPr>
        <p:spPr>
          <a:xfrm xmlns:a="http://schemas.openxmlformats.org/drawingml/2006/main">
            <a:off x="8896350" y="3162300"/>
            <a:ext cx="1695450" cy="0"/>
          </a:xfrm>
          <a:prstGeom xmlns:a="http://schemas.openxmlformats.org/drawingml/2006/main" prst="straightConnector1">
            <a:avLst/>
          </a:prstGeom>
          <a:ln xmlns:a="http://schemas.openxmlformats.org/drawingml/2006/main" w="28575">
            <a:solidFill>
              <a:srgbClr val="41A36B"/>
            </a:solidFill>
            <a:prstDash val="solid"/>
            <a:tailEnd type="triangle" w="med" len="med"/>
          </a:ln>
        </p:spPr>
      </p:cxnSp>
      <p:sp>
        <p:nvSpPr>
          <p:cNvPr id="71" name="">
            <a:extLst xmlns:a="http://schemas.openxmlformats.org/drawingml/2006/main">
              <a:ext uri="{FF2B5EF4-FFF2-40B4-BE49-F238E27FC236}">
                <a16:creationId xmlns:a16="http://schemas.microsoft.com/office/drawing/2014/main" id="{F057D41D-57AF-4197-8D8D-BC20A77335D5}"/>
              </a:ext>
            </a:extLst>
          </p:cNvPr>
          <p:cNvSpPr>
            <a:spLocks xmlns:a="http://schemas.openxmlformats.org/drawingml/2006/main" noGrp="1"/>
          </p:cNvSpPr>
          <p:nvPr/>
        </p:nvSpPr>
        <p:spPr>
          <a:xfrm xmlns:a="http://schemas.openxmlformats.org/drawingml/2006/main">
            <a:off x="552450" y="5905500"/>
            <a:ext cx="110871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2" name="">
            <a:extLst xmlns:a="http://schemas.openxmlformats.org/drawingml/2006/main">
              <a:ext uri="{FF2B5EF4-FFF2-40B4-BE49-F238E27FC236}">
                <a16:creationId xmlns:a16="http://schemas.microsoft.com/office/drawing/2014/main" id="{C823783F-4358-41C4-83BF-D43D5945C871}"/>
              </a:ext>
            </a:extLst>
          </p:cNvPr>
          <p:cNvSpPr>
            <a:spLocks xmlns:a="http://schemas.openxmlformats.org/drawingml/2006/main" noGrp="1"/>
          </p:cNvSpPr>
          <p:nvPr/>
        </p:nvSpPr>
        <p:spPr>
          <a:xfrm xmlns:a="http://schemas.openxmlformats.org/drawingml/2006/main">
            <a:off x="752475" y="598170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1">
                <a:solidFill>
                  <a:srgbClr val="F07D3B"/>
                </a:solidFill>
                <a:latin typeface="Arial"/>
                <a:ea typeface="Arial"/>
                <a:cs typeface="Arial"/>
              </a:defRPr>
            </a:pPr>
            <a:r>
              <a:rPr sz="1050" b="1">
                <a:solidFill>
                  <a:srgbClr val="F07D3B"/>
                </a:solidFill>
                <a:latin typeface="Arial"/>
                <a:ea typeface="Arial"/>
                <a:cs typeface="Arial"/>
              </a:rPr>
              <a:t>IMPLEMENTATION</a:t>
            </a:r>
          </a:p>
        </p:txBody>
      </p:sp>
      <p:sp>
        <p:nvSpPr>
          <p:cNvPr id="73" name="">
            <a:extLst xmlns:a="http://schemas.openxmlformats.org/drawingml/2006/main">
              <a:ext uri="{FF2B5EF4-FFF2-40B4-BE49-F238E27FC236}">
                <a16:creationId xmlns:a16="http://schemas.microsoft.com/office/drawing/2014/main" id="{A5ED2229-FCCD-4B53-92B1-830A011A737D}"/>
              </a:ext>
            </a:extLst>
          </p:cNvPr>
          <p:cNvSpPr>
            <a:spLocks xmlns:a="http://schemas.openxmlformats.org/drawingml/2006/main" noGrp="1"/>
          </p:cNvSpPr>
          <p:nvPr/>
        </p:nvSpPr>
        <p:spPr>
          <a:xfrm xmlns:a="http://schemas.openxmlformats.org/drawingml/2006/main">
            <a:off x="2200275" y="59817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React + TypeScript</a:t>
            </a:r>
          </a:p>
        </p:txBody>
      </p:sp>
      <p:sp>
        <p:nvSpPr>
          <p:cNvPr id="74" name="">
            <a:extLst xmlns:a="http://schemas.openxmlformats.org/drawingml/2006/main">
              <a:ext uri="{FF2B5EF4-FFF2-40B4-BE49-F238E27FC236}">
                <a16:creationId xmlns:a16="http://schemas.microsoft.com/office/drawing/2014/main" id="{EDB75787-9F47-4EB5-A567-2EEB0B78FB80}"/>
              </a:ext>
            </a:extLst>
          </p:cNvPr>
          <p:cNvSpPr>
            <a:spLocks xmlns:a="http://schemas.openxmlformats.org/drawingml/2006/main" noGrp="1"/>
          </p:cNvSpPr>
          <p:nvPr/>
        </p:nvSpPr>
        <p:spPr>
          <a:xfrm xmlns:a="http://schemas.openxmlformats.org/drawingml/2006/main">
            <a:off x="3857625"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5" name="">
            <a:extLst xmlns:a="http://schemas.openxmlformats.org/drawingml/2006/main">
              <a:ext uri="{FF2B5EF4-FFF2-40B4-BE49-F238E27FC236}">
                <a16:creationId xmlns:a16="http://schemas.microsoft.com/office/drawing/2014/main" id="{FC834C7C-18EC-4988-83D6-A9F4861A5B6F}"/>
              </a:ext>
            </a:extLst>
          </p:cNvPr>
          <p:cNvSpPr>
            <a:spLocks xmlns:a="http://schemas.openxmlformats.org/drawingml/2006/main" noGrp="1"/>
          </p:cNvSpPr>
          <p:nvPr/>
        </p:nvSpPr>
        <p:spPr>
          <a:xfrm xmlns:a="http://schemas.openxmlformats.org/drawingml/2006/main">
            <a:off x="4048125" y="5981700"/>
            <a:ext cx="97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FastAPI</a:t>
            </a:r>
          </a:p>
        </p:txBody>
      </p:sp>
      <p:sp>
        <p:nvSpPr>
          <p:cNvPr id="76" name="">
            <a:extLst xmlns:a="http://schemas.openxmlformats.org/drawingml/2006/main">
              <a:ext uri="{FF2B5EF4-FFF2-40B4-BE49-F238E27FC236}">
                <a16:creationId xmlns:a16="http://schemas.microsoft.com/office/drawing/2014/main" id="{89E7DFD8-0919-4304-92E6-6C1E29C21F1F}"/>
              </a:ext>
            </a:extLst>
          </p:cNvPr>
          <p:cNvSpPr>
            <a:spLocks xmlns:a="http://schemas.openxmlformats.org/drawingml/2006/main" noGrp="1"/>
          </p:cNvSpPr>
          <p:nvPr/>
        </p:nvSpPr>
        <p:spPr>
          <a:xfrm xmlns:a="http://schemas.openxmlformats.org/drawingml/2006/main">
            <a:off x="512445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7" name="">
            <a:extLst xmlns:a="http://schemas.openxmlformats.org/drawingml/2006/main">
              <a:ext uri="{FF2B5EF4-FFF2-40B4-BE49-F238E27FC236}">
                <a16:creationId xmlns:a16="http://schemas.microsoft.com/office/drawing/2014/main" id="{BBDBB4FC-3AE2-473F-B355-022E7AE33FA0}"/>
              </a:ext>
            </a:extLst>
          </p:cNvPr>
          <p:cNvSpPr>
            <a:spLocks xmlns:a="http://schemas.openxmlformats.org/drawingml/2006/main" noGrp="1"/>
          </p:cNvSpPr>
          <p:nvPr/>
        </p:nvSpPr>
        <p:spPr>
          <a:xfrm xmlns:a="http://schemas.openxmlformats.org/drawingml/2006/main">
            <a:off x="5314950" y="59817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scikit-learn</a:t>
            </a:r>
          </a:p>
        </p:txBody>
      </p:sp>
      <p:sp>
        <p:nvSpPr>
          <p:cNvPr id="78" name="">
            <a:extLst xmlns:a="http://schemas.openxmlformats.org/drawingml/2006/main">
              <a:ext uri="{FF2B5EF4-FFF2-40B4-BE49-F238E27FC236}">
                <a16:creationId xmlns:a16="http://schemas.microsoft.com/office/drawing/2014/main" id="{85E8B798-25DC-4D69-9756-4548D115DF1A}"/>
              </a:ext>
            </a:extLst>
          </p:cNvPr>
          <p:cNvSpPr>
            <a:spLocks xmlns:a="http://schemas.openxmlformats.org/drawingml/2006/main" noGrp="1"/>
          </p:cNvSpPr>
          <p:nvPr/>
        </p:nvSpPr>
        <p:spPr>
          <a:xfrm xmlns:a="http://schemas.openxmlformats.org/drawingml/2006/main">
            <a:off x="674370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9" name="">
            <a:extLst xmlns:a="http://schemas.openxmlformats.org/drawingml/2006/main">
              <a:ext uri="{FF2B5EF4-FFF2-40B4-BE49-F238E27FC236}">
                <a16:creationId xmlns:a16="http://schemas.microsoft.com/office/drawing/2014/main" id="{246F8B42-BEA1-4D62-B9BB-688071D7766E}"/>
              </a:ext>
            </a:extLst>
          </p:cNvPr>
          <p:cNvSpPr>
            <a:spLocks xmlns:a="http://schemas.openxmlformats.org/drawingml/2006/main" noGrp="1"/>
          </p:cNvSpPr>
          <p:nvPr/>
        </p:nvSpPr>
        <p:spPr>
          <a:xfrm xmlns:a="http://schemas.openxmlformats.org/drawingml/2006/main">
            <a:off x="6943725" y="598170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SQLite / PostgreSQL</a:t>
            </a:r>
          </a:p>
        </p:txBody>
      </p:sp>
      <p:sp>
        <p:nvSpPr>
          <p:cNvPr id="80" name="">
            <a:extLst xmlns:a="http://schemas.openxmlformats.org/drawingml/2006/main">
              <a:ext uri="{FF2B5EF4-FFF2-40B4-BE49-F238E27FC236}">
                <a16:creationId xmlns:a16="http://schemas.microsoft.com/office/drawing/2014/main" id="{F5C37CF6-7E4E-4483-A9B4-B7DA887B9FF7}"/>
              </a:ext>
            </a:extLst>
          </p:cNvPr>
          <p:cNvSpPr>
            <a:spLocks xmlns:a="http://schemas.openxmlformats.org/drawingml/2006/main" noGrp="1"/>
          </p:cNvSpPr>
          <p:nvPr/>
        </p:nvSpPr>
        <p:spPr>
          <a:xfrm xmlns:a="http://schemas.openxmlformats.org/drawingml/2006/main">
            <a:off x="878205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81" name="">
            <a:extLst xmlns:a="http://schemas.openxmlformats.org/drawingml/2006/main">
              <a:ext uri="{FF2B5EF4-FFF2-40B4-BE49-F238E27FC236}">
                <a16:creationId xmlns:a16="http://schemas.microsoft.com/office/drawing/2014/main" id="{5C0086CB-1A12-43FF-A325-B3FA0885310C}"/>
              </a:ext>
            </a:extLst>
          </p:cNvPr>
          <p:cNvSpPr>
            <a:spLocks xmlns:a="http://schemas.openxmlformats.org/drawingml/2006/main" noGrp="1"/>
          </p:cNvSpPr>
          <p:nvPr/>
        </p:nvSpPr>
        <p:spPr>
          <a:xfrm xmlns:a="http://schemas.openxmlformats.org/drawingml/2006/main">
            <a:off x="8991600" y="59817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GeoLite2 + Threat Intel</a:t>
            </a:r>
          </a:p>
        </p:txBody>
      </p:sp>
      <p:sp>
        <p:nvSpPr>
          <p:cNvPr id="82" name="">
            <a:extLst xmlns:a="http://schemas.openxmlformats.org/drawingml/2006/main">
              <a:ext uri="{FF2B5EF4-FFF2-40B4-BE49-F238E27FC236}">
                <a16:creationId xmlns:a16="http://schemas.microsoft.com/office/drawing/2014/main" id="{40451188-8C33-4F18-B813-E3C96D8498F7}"/>
              </a:ext>
            </a:extLst>
          </p:cNvPr>
          <p:cNvSpPr>
            <a:spLocks xmlns:a="http://schemas.openxmlformats.org/drawingml/2006/main" noGrp="1"/>
          </p:cNvSpPr>
          <p:nvPr/>
        </p:nvSpPr>
        <p:spPr>
          <a:xfrm xmlns:a="http://schemas.openxmlformats.org/drawingml/2006/main">
            <a:off x="571500" y="6534150"/>
            <a:ext cx="2266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00" b="0">
                <a:solidFill>
                  <a:srgbClr val="536273"/>
                </a:solidFill>
                <a:latin typeface="Arial"/>
                <a:ea typeface="Arial"/>
                <a:cs typeface="Arial"/>
              </a:defRPr>
            </a:pPr>
            <a:r>
              <a:rPr sz="900" b="0">
                <a:solidFill>
                  <a:srgbClr val="536273"/>
                </a:solidFill>
                <a:latin typeface="Arial"/>
                <a:ea typeface="Arial"/>
                <a:cs typeface="Arial"/>
              </a:rPr>
              <a:t>Attachments never execute</a:t>
            </a:r>
          </a:p>
        </p:txBody>
      </p:sp>
      <p:sp>
        <p:nvSpPr>
          <p:cNvPr id="83" name="">
            <a:extLst xmlns:a="http://schemas.openxmlformats.org/drawingml/2006/main">
              <a:ext uri="{FF2B5EF4-FFF2-40B4-BE49-F238E27FC236}">
                <a16:creationId xmlns:a16="http://schemas.microsoft.com/office/drawing/2014/main" id="{A2306E11-03E1-4736-AC6C-27B9ADBC89BB}"/>
              </a:ext>
            </a:extLst>
          </p:cNvPr>
          <p:cNvSpPr>
            <a:spLocks xmlns:a="http://schemas.openxmlformats.org/drawingml/2006/main" noGrp="1"/>
          </p:cNvSpPr>
          <p:nvPr/>
        </p:nvSpPr>
        <p:spPr>
          <a:xfrm xmlns:a="http://schemas.openxmlformats.org/drawingml/2006/main">
            <a:off x="4962525" y="65341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0">
                <a:solidFill>
                  <a:srgbClr val="536273"/>
                </a:solidFill>
                <a:latin typeface="Arial"/>
                <a:ea typeface="Arial"/>
                <a:cs typeface="Arial"/>
              </a:defRPr>
            </a:pPr>
            <a:r>
              <a:rPr sz="900" b="0">
                <a:solidFill>
                  <a:srgbClr val="536273"/>
                </a:solidFill>
                <a:latin typeface="Arial"/>
                <a:ea typeface="Arial"/>
                <a:cs typeface="Arial"/>
              </a:rPr>
              <a:t>Unknown evidence stays unknown</a:t>
            </a:r>
          </a:p>
        </p:txBody>
      </p:sp>
      <p:sp>
        <p:nvSpPr>
          <p:cNvPr id="84" name="">
            <a:extLst xmlns:a="http://schemas.openxmlformats.org/drawingml/2006/main">
              <a:ext uri="{FF2B5EF4-FFF2-40B4-BE49-F238E27FC236}">
                <a16:creationId xmlns:a16="http://schemas.microsoft.com/office/drawing/2014/main" id="{69F63BA4-0530-4DD9-B927-72C7F257B5D8}"/>
              </a:ext>
            </a:extLst>
          </p:cNvPr>
          <p:cNvSpPr>
            <a:spLocks xmlns:a="http://schemas.openxmlformats.org/drawingml/2006/main" noGrp="1"/>
          </p:cNvSpPr>
          <p:nvPr/>
        </p:nvSpPr>
        <p:spPr>
          <a:xfrm xmlns:a="http://schemas.openxmlformats.org/drawingml/2006/main">
            <a:off x="8763000" y="65341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900" b="0">
                <a:solidFill>
                  <a:srgbClr val="536273"/>
                </a:solidFill>
                <a:latin typeface="Arial"/>
                <a:ea typeface="Arial"/>
                <a:cs typeface="Arial"/>
              </a:defRPr>
            </a:pPr>
            <a:r>
              <a:rPr sz="900" b="0">
                <a:solidFill>
                  <a:srgbClr val="536273"/>
                </a:solidFill>
                <a:latin typeface="Arial"/>
                <a:ea typeface="Arial"/>
                <a:cs typeface="Arial"/>
              </a:rPr>
              <a:t>Geolocation describes observed infrastructure</a:t>
            </a:r>
          </a:p>
        </p:txBody>
      </p:sp>
    </p:spTree>
    <p:extLst>
      <p:ext uri="{BB962C8B-B14F-4D97-AF65-F5344CB8AC3E}">
        <p14:creationId xmlns:p14="http://schemas.microsoft.com/office/powerpoint/2010/main" val="147987062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7" name="">
            <a:extLst xmlns:a="http://schemas.openxmlformats.org/drawingml/2006/main">
              <a:ext uri="{FF2B5EF4-FFF2-40B4-BE49-F238E27FC236}">
                <a16:creationId xmlns:a16="http://schemas.microsoft.com/office/drawing/2014/main" id="{0D23503E-65D9-4DA7-9097-13AA13348F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7D3B"/>
          </a:solidFill>
          <a:ln xmlns:a="http://schemas.openxmlformats.org/drawingml/2006/main" w="0">
            <a:solidFill>
              <a:srgbClr val="F07D3B"/>
            </a:solidFill>
            <a:prstDash val="solid"/>
          </a:ln>
        </p:spPr>
      </p:sp>
      <p:sp>
        <p:nvSpPr>
          <p:cNvPr id="2" name="">
            <a:extLst xmlns:a="http://schemas.openxmlformats.org/drawingml/2006/main">
              <a:ext uri="{FF2B5EF4-FFF2-40B4-BE49-F238E27FC236}">
                <a16:creationId xmlns:a16="http://schemas.microsoft.com/office/drawing/2014/main" id="{C60E8B63-72D2-4915-A82F-14FA703D29AE}"/>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DDF3F0"/>
          </a:solidFill>
          <a:ln xmlns:a="http://schemas.openxmlformats.org/drawingml/2006/main" w="0">
            <a:solidFill>
              <a:srgbClr val="DDF3F0"/>
            </a:solidFill>
            <a:prstDash val="solid"/>
          </a:ln>
        </p:spPr>
      </p:sp>
      <p:sp>
        <p:nvSpPr>
          <p:cNvPr id="3" name="">
            <a:extLst xmlns:a="http://schemas.openxmlformats.org/drawingml/2006/main">
              <a:ext uri="{FF2B5EF4-FFF2-40B4-BE49-F238E27FC236}">
                <a16:creationId xmlns:a16="http://schemas.microsoft.com/office/drawing/2014/main" id="{B4C9EF7C-59F1-40ED-AB64-77396E1E119A}"/>
              </a:ext>
            </a:extLst>
          </p:cNvPr>
          <p:cNvSpPr>
            <a:spLocks xmlns:a="http://schemas.openxmlformats.org/drawingml/2006/main" noGrp="1"/>
          </p:cNvSpPr>
          <p:nvPr/>
        </p:nvSpPr>
        <p:spPr>
          <a:xfrm xmlns:a="http://schemas.openxmlformats.org/drawingml/2006/main">
            <a:off x="0" y="4953000"/>
            <a:ext cx="1905000" cy="1905000"/>
          </a:xfrm>
          <a:prstGeom xmlns:a="http://schemas.openxmlformats.org/drawingml/2006/main" prst="ellipse">
            <a:avLst/>
          </a:prstGeom>
          <a:solidFill xmlns:a="http://schemas.openxmlformats.org/drawingml/2006/main">
            <a:srgbClr val="FCE8D9"/>
          </a:solidFill>
          <a:ln xmlns:a="http://schemas.openxmlformats.org/drawingml/2006/main" w="0">
            <a:solidFill>
              <a:srgbClr val="FCE8D9"/>
            </a:solidFill>
            <a:prstDash val="solid"/>
          </a:ln>
        </p:spPr>
      </p:sp>
      <p:sp>
        <p:nvSpPr>
          <p:cNvPr id="4" name="">
            <a:extLst xmlns:a="http://schemas.openxmlformats.org/drawingml/2006/main">
              <a:ext uri="{FF2B5EF4-FFF2-40B4-BE49-F238E27FC236}">
                <a16:creationId xmlns:a16="http://schemas.microsoft.com/office/drawing/2014/main" id="{84DF9CD6-4B7D-456D-8113-57614D2F6F7C}"/>
              </a:ext>
            </a:extLst>
          </p:cNvPr>
          <p:cNvSpPr>
            <a:spLocks xmlns:a="http://schemas.openxmlformats.org/drawingml/2006/main" noGrp="1"/>
          </p:cNvSpPr>
          <p:nvPr/>
        </p:nvSpPr>
        <p:spPr>
          <a:xfrm xmlns:a="http://schemas.openxmlformats.org/drawingml/2006/main">
            <a:off x="552450" y="409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10253F"/>
                </a:solidFill>
                <a:latin typeface="Arial"/>
                <a:ea typeface="Arial"/>
                <a:cs typeface="Arial"/>
              </a:defRPr>
            </a:pPr>
            <a:r>
              <a:rPr sz="3450" b="1">
                <a:solidFill>
                  <a:srgbClr val="10253F"/>
                </a:solidFill>
                <a:latin typeface="Arial"/>
                <a:ea typeface="Arial"/>
                <a:cs typeface="Arial"/>
              </a:rPr>
              <a:t>SYSTEM ARCHITECTURE</a:t>
            </a:r>
          </a:p>
        </p:txBody>
      </p:sp>
      <p:sp>
        <p:nvSpPr>
          <p:cNvPr id="5" name="">
            <a:extLst xmlns:a="http://schemas.openxmlformats.org/drawingml/2006/main">
              <a:ext uri="{FF2B5EF4-FFF2-40B4-BE49-F238E27FC236}">
                <a16:creationId xmlns:a16="http://schemas.microsoft.com/office/drawing/2014/main" id="{43EF6F0D-6276-4AED-9608-97F5A36BA671}"/>
              </a:ext>
            </a:extLst>
          </p:cNvPr>
          <p:cNvSpPr>
            <a:spLocks xmlns:a="http://schemas.openxmlformats.org/drawingml/2006/main" noGrp="1"/>
          </p:cNvSpPr>
          <p:nvPr/>
        </p:nvSpPr>
        <p:spPr>
          <a:xfrm xmlns:a="http://schemas.openxmlformats.org/drawingml/2006/main">
            <a:off x="571500" y="9715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536273"/>
                </a:solidFill>
                <a:latin typeface="Arial"/>
                <a:ea typeface="Arial"/>
                <a:cs typeface="Arial"/>
              </a:defRPr>
            </a:pPr>
            <a:r>
              <a:rPr sz="1575" b="0">
                <a:solidFill>
                  <a:srgbClr val="536273"/>
                </a:solidFill>
                <a:latin typeface="Arial"/>
                <a:ea typeface="Arial"/>
                <a:cs typeface="Arial"/>
              </a:rPr>
              <a:t>A secure, modular pipeline connects the public interface to forensic evidence</a:t>
            </a:r>
          </a:p>
        </p:txBody>
      </p:sp>
      <p:sp>
        <p:nvSpPr>
          <p:cNvPr id="6" name="">
            <a:extLst xmlns:a="http://schemas.openxmlformats.org/drawingml/2006/main">
              <a:ext uri="{FF2B5EF4-FFF2-40B4-BE49-F238E27FC236}">
                <a16:creationId xmlns:a16="http://schemas.microsoft.com/office/drawing/2014/main" id="{85B75E7D-CB2C-4F58-B3F8-F23AA9E1106D}"/>
              </a:ext>
            </a:extLst>
          </p:cNvPr>
          <p:cNvSpPr>
            <a:spLocks xmlns:a="http://schemas.openxmlformats.org/drawingml/2006/main" noGrp="1"/>
          </p:cNvSpPr>
          <p:nvPr/>
        </p:nvSpPr>
        <p:spPr>
          <a:xfrm xmlns:a="http://schemas.openxmlformats.org/drawingml/2006/main">
            <a:off x="9810750" y="514350"/>
            <a:ext cx="17907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BDEBF0F-2959-4237-A68F-A5DEE86915E9}"/>
              </a:ext>
            </a:extLst>
          </p:cNvPr>
          <p:cNvSpPr>
            <a:spLocks xmlns:a="http://schemas.openxmlformats.org/drawingml/2006/main" noGrp="1"/>
          </p:cNvSpPr>
          <p:nvPr/>
        </p:nvSpPr>
        <p:spPr>
          <a:xfrm xmlns:a="http://schemas.openxmlformats.org/drawingml/2006/main">
            <a:off x="9982200" y="657225"/>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8" name="">
            <a:extLst xmlns:a="http://schemas.openxmlformats.org/drawingml/2006/main">
              <a:ext uri="{FF2B5EF4-FFF2-40B4-BE49-F238E27FC236}">
                <a16:creationId xmlns:a16="http://schemas.microsoft.com/office/drawing/2014/main" id="{5D8C7604-7671-477E-BE12-F784C3281CA3}"/>
              </a:ext>
            </a:extLst>
          </p:cNvPr>
          <p:cNvSpPr>
            <a:spLocks xmlns:a="http://schemas.openxmlformats.org/drawingml/2006/main" noGrp="1"/>
          </p:cNvSpPr>
          <p:nvPr/>
        </p:nvSpPr>
        <p:spPr>
          <a:xfrm xmlns:a="http://schemas.openxmlformats.org/drawingml/2006/main">
            <a:off x="10191750" y="5524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defRPr sz="1050" b="1">
                <a:solidFill>
                  <a:srgbClr val="10253F"/>
                </a:solidFill>
                <a:latin typeface="Arial"/>
                <a:ea typeface="Arial"/>
                <a:cs typeface="Arial"/>
              </a:defRPr>
            </a:pPr>
            <a:r>
              <a:rPr sz="1050" b="1">
                <a:solidFill>
                  <a:srgbClr val="10253F"/>
                </a:solidFill>
                <a:latin typeface="Arial"/>
                <a:ea typeface="Arial"/>
                <a:cs typeface="Arial"/>
              </a:rPr>
              <a:t>RAKSHAK PLATFORM</a:t>
            </a:r>
          </a:p>
        </p:txBody>
      </p:sp>
      <p:sp>
        <p:nvSpPr>
          <p:cNvPr id="9" name="">
            <a:extLst xmlns:a="http://schemas.openxmlformats.org/drawingml/2006/main">
              <a:ext uri="{FF2B5EF4-FFF2-40B4-BE49-F238E27FC236}">
                <a16:creationId xmlns:a16="http://schemas.microsoft.com/office/drawing/2014/main" id="{989FCBA9-6B9E-43D3-B155-64A359F32E31}"/>
              </a:ext>
            </a:extLst>
          </p:cNvPr>
          <p:cNvSpPr>
            <a:spLocks xmlns:a="http://schemas.openxmlformats.org/drawingml/2006/main" noGrp="1"/>
          </p:cNvSpPr>
          <p:nvPr/>
        </p:nvSpPr>
        <p:spPr>
          <a:xfrm xmlns:a="http://schemas.openxmlformats.org/drawingml/2006/main">
            <a:off x="571500" y="1762125"/>
            <a:ext cx="95250" cy="952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10" name="">
            <a:extLst xmlns:a="http://schemas.openxmlformats.org/drawingml/2006/main">
              <a:ext uri="{FF2B5EF4-FFF2-40B4-BE49-F238E27FC236}">
                <a16:creationId xmlns:a16="http://schemas.microsoft.com/office/drawing/2014/main" id="{D19CF1F0-7E6F-482C-A41E-CBA7F0C31E65}"/>
              </a:ext>
            </a:extLst>
          </p:cNvPr>
          <p:cNvSpPr>
            <a:spLocks xmlns:a="http://schemas.openxmlformats.org/drawingml/2006/main" noGrp="1"/>
          </p:cNvSpPr>
          <p:nvPr/>
        </p:nvSpPr>
        <p:spPr>
          <a:xfrm xmlns:a="http://schemas.openxmlformats.org/drawingml/2006/main">
            <a:off x="762000" y="16764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07D3B"/>
                </a:solidFill>
                <a:latin typeface="Arial"/>
                <a:ea typeface="Arial"/>
                <a:cs typeface="Arial"/>
              </a:defRPr>
            </a:pPr>
            <a:r>
              <a:rPr sz="1050" b="1">
                <a:solidFill>
                  <a:srgbClr val="F07D3B"/>
                </a:solidFill>
                <a:latin typeface="Arial"/>
                <a:ea typeface="Arial"/>
                <a:cs typeface="Arial"/>
              </a:rPr>
              <a:t>EXPERIENCE</a:t>
            </a:r>
          </a:p>
        </p:txBody>
      </p:sp>
      <p:sp>
        <p:nvSpPr>
          <p:cNvPr id="11" name="">
            <a:extLst xmlns:a="http://schemas.openxmlformats.org/drawingml/2006/main">
              <a:ext uri="{FF2B5EF4-FFF2-40B4-BE49-F238E27FC236}">
                <a16:creationId xmlns:a16="http://schemas.microsoft.com/office/drawing/2014/main" id="{E19E0FDF-517E-4443-BCDD-9CF4D10482F0}"/>
              </a:ext>
            </a:extLst>
          </p:cNvPr>
          <p:cNvSpPr>
            <a:spLocks xmlns:a="http://schemas.openxmlformats.org/drawingml/2006/main" noGrp="1"/>
          </p:cNvSpPr>
          <p:nvPr/>
        </p:nvSpPr>
        <p:spPr>
          <a:xfrm xmlns:a="http://schemas.openxmlformats.org/drawingml/2006/main">
            <a:off x="571500" y="2676525"/>
            <a:ext cx="95250" cy="95250"/>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12" name="">
            <a:extLst xmlns:a="http://schemas.openxmlformats.org/drawingml/2006/main">
              <a:ext uri="{FF2B5EF4-FFF2-40B4-BE49-F238E27FC236}">
                <a16:creationId xmlns:a16="http://schemas.microsoft.com/office/drawing/2014/main" id="{452FE492-120D-4DA4-90A3-E957C50C58CE}"/>
              </a:ext>
            </a:extLst>
          </p:cNvPr>
          <p:cNvSpPr>
            <a:spLocks xmlns:a="http://schemas.openxmlformats.org/drawingml/2006/main" noGrp="1"/>
          </p:cNvSpPr>
          <p:nvPr/>
        </p:nvSpPr>
        <p:spPr>
          <a:xfrm xmlns:a="http://schemas.openxmlformats.org/drawingml/2006/main">
            <a:off x="762000" y="25908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C67B1"/>
                </a:solidFill>
                <a:latin typeface="Arial"/>
                <a:ea typeface="Arial"/>
                <a:cs typeface="Arial"/>
              </a:defRPr>
            </a:pPr>
            <a:r>
              <a:rPr sz="1050" b="1">
                <a:solidFill>
                  <a:srgbClr val="2C67B1"/>
                </a:solidFill>
                <a:latin typeface="Arial"/>
                <a:ea typeface="Arial"/>
                <a:cs typeface="Arial"/>
              </a:rPr>
              <a:t>SECURITY</a:t>
            </a:r>
          </a:p>
        </p:txBody>
      </p:sp>
      <p:sp>
        <p:nvSpPr>
          <p:cNvPr id="13" name="">
            <a:extLst xmlns:a="http://schemas.openxmlformats.org/drawingml/2006/main">
              <a:ext uri="{FF2B5EF4-FFF2-40B4-BE49-F238E27FC236}">
                <a16:creationId xmlns:a16="http://schemas.microsoft.com/office/drawing/2014/main" id="{AAA1316B-B87F-4D84-A4DC-1800F5332B16}"/>
              </a:ext>
            </a:extLst>
          </p:cNvPr>
          <p:cNvSpPr>
            <a:spLocks xmlns:a="http://schemas.openxmlformats.org/drawingml/2006/main" noGrp="1"/>
          </p:cNvSpPr>
          <p:nvPr/>
        </p:nvSpPr>
        <p:spPr>
          <a:xfrm xmlns:a="http://schemas.openxmlformats.org/drawingml/2006/main">
            <a:off x="571500" y="3590925"/>
            <a:ext cx="95250" cy="95250"/>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14" name="">
            <a:extLst xmlns:a="http://schemas.openxmlformats.org/drawingml/2006/main">
              <a:ext uri="{FF2B5EF4-FFF2-40B4-BE49-F238E27FC236}">
                <a16:creationId xmlns:a16="http://schemas.microsoft.com/office/drawing/2014/main" id="{C464201D-F76E-431C-8E67-88BC71F17460}"/>
              </a:ext>
            </a:extLst>
          </p:cNvPr>
          <p:cNvSpPr>
            <a:spLocks xmlns:a="http://schemas.openxmlformats.org/drawingml/2006/main" noGrp="1"/>
          </p:cNvSpPr>
          <p:nvPr/>
        </p:nvSpPr>
        <p:spPr>
          <a:xfrm xmlns:a="http://schemas.openxmlformats.org/drawingml/2006/main">
            <a:off x="762000" y="35052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59F9A"/>
                </a:solidFill>
                <a:latin typeface="Arial"/>
                <a:ea typeface="Arial"/>
                <a:cs typeface="Arial"/>
              </a:defRPr>
            </a:pPr>
            <a:r>
              <a:rPr sz="1050" b="1">
                <a:solidFill>
                  <a:srgbClr val="159F9A"/>
                </a:solidFill>
                <a:latin typeface="Arial"/>
                <a:ea typeface="Arial"/>
                <a:cs typeface="Arial"/>
              </a:rPr>
              <a:t>ANALYSIS</a:t>
            </a:r>
          </a:p>
        </p:txBody>
      </p:sp>
      <p:sp>
        <p:nvSpPr>
          <p:cNvPr id="15" name="">
            <a:extLst xmlns:a="http://schemas.openxmlformats.org/drawingml/2006/main">
              <a:ext uri="{FF2B5EF4-FFF2-40B4-BE49-F238E27FC236}">
                <a16:creationId xmlns:a16="http://schemas.microsoft.com/office/drawing/2014/main" id="{A849F343-47D1-448F-B259-8D33FA4ED184}"/>
              </a:ext>
            </a:extLst>
          </p:cNvPr>
          <p:cNvSpPr>
            <a:spLocks xmlns:a="http://schemas.openxmlformats.org/drawingml/2006/main" noGrp="1"/>
          </p:cNvSpPr>
          <p:nvPr/>
        </p:nvSpPr>
        <p:spPr>
          <a:xfrm xmlns:a="http://schemas.openxmlformats.org/drawingml/2006/main">
            <a:off x="571500" y="5286375"/>
            <a:ext cx="95250" cy="95250"/>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16" name="">
            <a:extLst xmlns:a="http://schemas.openxmlformats.org/drawingml/2006/main">
              <a:ext uri="{FF2B5EF4-FFF2-40B4-BE49-F238E27FC236}">
                <a16:creationId xmlns:a16="http://schemas.microsoft.com/office/drawing/2014/main" id="{BFB8D8E4-EA2A-410E-A968-88BA6AB66B70}"/>
              </a:ext>
            </a:extLst>
          </p:cNvPr>
          <p:cNvSpPr>
            <a:spLocks xmlns:a="http://schemas.openxmlformats.org/drawingml/2006/main" noGrp="1"/>
          </p:cNvSpPr>
          <p:nvPr/>
        </p:nvSpPr>
        <p:spPr>
          <a:xfrm xmlns:a="http://schemas.openxmlformats.org/drawingml/2006/main">
            <a:off x="762000" y="520065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E5A528"/>
                </a:solidFill>
                <a:latin typeface="Arial"/>
                <a:ea typeface="Arial"/>
                <a:cs typeface="Arial"/>
              </a:defRPr>
            </a:pPr>
            <a:r>
              <a:rPr sz="1050" b="1">
                <a:solidFill>
                  <a:srgbClr val="E5A528"/>
                </a:solidFill>
                <a:latin typeface="Arial"/>
                <a:ea typeface="Arial"/>
                <a:cs typeface="Arial"/>
              </a:rPr>
              <a:t>DATA + INTEL</a:t>
            </a:r>
          </a:p>
        </p:txBody>
      </p:sp>
      <p:sp>
        <p:nvSpPr>
          <p:cNvPr id="17" name="">
            <a:extLst xmlns:a="http://schemas.openxmlformats.org/drawingml/2006/main">
              <a:ext uri="{FF2B5EF4-FFF2-40B4-BE49-F238E27FC236}">
                <a16:creationId xmlns:a16="http://schemas.microsoft.com/office/drawing/2014/main" id="{1AB083D0-869D-435C-AF0F-1BA88F60FA5A}"/>
              </a:ext>
            </a:extLst>
          </p:cNvPr>
          <p:cNvSpPr>
            <a:spLocks xmlns:a="http://schemas.openxmlformats.org/drawingml/2006/main" noGrp="1"/>
          </p:cNvSpPr>
          <p:nvPr/>
        </p:nvSpPr>
        <p:spPr>
          <a:xfrm xmlns:a="http://schemas.openxmlformats.org/drawingml/2006/main">
            <a:off x="1952625" y="1504950"/>
            <a:ext cx="75247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42BDAF89-7BD5-4B63-9FE0-020D19D49737}"/>
              </a:ext>
            </a:extLst>
          </p:cNvPr>
          <p:cNvSpPr>
            <a:spLocks xmlns:a="http://schemas.openxmlformats.org/drawingml/2006/main" noGrp="1"/>
          </p:cNvSpPr>
          <p:nvPr/>
        </p:nvSpPr>
        <p:spPr>
          <a:xfrm xmlns:a="http://schemas.openxmlformats.org/drawingml/2006/main">
            <a:off x="2133600" y="1676400"/>
            <a:ext cx="1524000" cy="400050"/>
          </a:xfrm>
          <a:prstGeom xmlns:a="http://schemas.openxmlformats.org/drawingml/2006/main" prst="roundRect">
            <a:avLst>
              <a:gd name="adj" fmla="val 50000"/>
            </a:avLst>
          </a:prstGeom>
          <a:solidFill xmlns:a="http://schemas.openxmlformats.org/drawingml/2006/main">
            <a:srgbClr val="FCE8D9"/>
          </a:solidFill>
          <a:ln xmlns:a="http://schemas.openxmlformats.org/drawingml/2006/main" w="9525">
            <a:solidFill>
              <a:srgbClr val="F07D3B"/>
            </a:solidFill>
            <a:prstDash val="solid"/>
          </a:ln>
        </p:spPr>
      </p:sp>
      <p:sp>
        <p:nvSpPr>
          <p:cNvPr id="19" name="">
            <a:extLst xmlns:a="http://schemas.openxmlformats.org/drawingml/2006/main">
              <a:ext uri="{FF2B5EF4-FFF2-40B4-BE49-F238E27FC236}">
                <a16:creationId xmlns:a16="http://schemas.microsoft.com/office/drawing/2014/main" id="{6B170E57-4400-4FF1-AE05-3D16A0C13683}"/>
              </a:ext>
            </a:extLst>
          </p:cNvPr>
          <p:cNvSpPr>
            <a:spLocks xmlns:a="http://schemas.openxmlformats.org/drawingml/2006/main" noGrp="1"/>
          </p:cNvSpPr>
          <p:nvPr/>
        </p:nvSpPr>
        <p:spPr>
          <a:xfrm xmlns:a="http://schemas.openxmlformats.org/drawingml/2006/main">
            <a:off x="2133600" y="16764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07D3B"/>
                </a:solidFill>
                <a:latin typeface="Arial"/>
                <a:ea typeface="Arial"/>
                <a:cs typeface="Arial"/>
              </a:defRPr>
            </a:pPr>
            <a:r>
              <a:rPr sz="1350" b="1">
                <a:solidFill>
                  <a:srgbClr val="F07D3B"/>
                </a:solidFill>
                <a:latin typeface="Arial"/>
                <a:ea typeface="Arial"/>
                <a:cs typeface="Arial"/>
              </a:rPr>
              <a:t>PUBLIC USER</a:t>
            </a:r>
          </a:p>
        </p:txBody>
      </p:sp>
      <p:sp>
        <p:nvSpPr>
          <p:cNvPr id="20" name="">
            <a:extLst xmlns:a="http://schemas.openxmlformats.org/drawingml/2006/main">
              <a:ext uri="{FF2B5EF4-FFF2-40B4-BE49-F238E27FC236}">
                <a16:creationId xmlns:a16="http://schemas.microsoft.com/office/drawing/2014/main" id="{AC2D3949-670A-456E-850B-482024D5B6FE}"/>
              </a:ext>
            </a:extLst>
          </p:cNvPr>
          <p:cNvSpPr>
            <a:spLocks xmlns:a="http://schemas.openxmlformats.org/drawingml/2006/main" noGrp="1"/>
          </p:cNvSpPr>
          <p:nvPr/>
        </p:nvSpPr>
        <p:spPr>
          <a:xfrm xmlns:a="http://schemas.openxmlformats.org/drawingml/2006/main">
            <a:off x="4019550" y="161925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3864"/>
          </a:bodyPr>
          <a:lstStyle xmlns:a="http://schemas.openxmlformats.org/drawingml/2006/main"/>
          <a:p xmlns:a="http://schemas.openxmlformats.org/drawingml/2006/main">
            <a:pPr algn="l">
              <a:defRPr sz="1575" b="1">
                <a:solidFill>
                  <a:srgbClr val="10253F"/>
                </a:solidFill>
                <a:latin typeface="Arial"/>
                <a:ea typeface="Arial"/>
                <a:cs typeface="Arial"/>
              </a:defRPr>
            </a:pPr>
            <a:r>
              <a:rPr sz="1575" b="1">
                <a:solidFill>
                  <a:srgbClr val="10253F"/>
                </a:solidFill>
                <a:latin typeface="Arial"/>
                <a:ea typeface="Arial"/>
                <a:cs typeface="Arial"/>
              </a:rPr>
              <a:t>REACT + TYPESCRIPT WEB APP</a:t>
            </a:r>
          </a:p>
        </p:txBody>
      </p:sp>
      <p:sp>
        <p:nvSpPr>
          <p:cNvPr id="21" name="">
            <a:extLst xmlns:a="http://schemas.openxmlformats.org/drawingml/2006/main">
              <a:ext uri="{FF2B5EF4-FFF2-40B4-BE49-F238E27FC236}">
                <a16:creationId xmlns:a16="http://schemas.microsoft.com/office/drawing/2014/main" id="{7431796B-DC7E-4DA4-9E95-68C029A29BAA}"/>
              </a:ext>
            </a:extLst>
          </p:cNvPr>
          <p:cNvSpPr>
            <a:spLocks xmlns:a="http://schemas.openxmlformats.org/drawingml/2006/main" noGrp="1"/>
          </p:cNvSpPr>
          <p:nvPr/>
        </p:nvSpPr>
        <p:spPr>
          <a:xfrm xmlns:a="http://schemas.openxmlformats.org/drawingml/2006/main">
            <a:off x="4019550" y="19145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536273"/>
                </a:solidFill>
                <a:latin typeface="Arial"/>
                <a:ea typeface="Arial"/>
                <a:cs typeface="Arial"/>
              </a:defRPr>
            </a:pPr>
            <a:r>
              <a:rPr sz="1125" b="0">
                <a:solidFill>
                  <a:srgbClr val="536273"/>
                </a:solidFill>
                <a:latin typeface="Arial"/>
                <a:ea typeface="Arial"/>
                <a:cs typeface="Arial"/>
              </a:rPr>
              <a:t>Safe .eml upload</a:t>
            </a:r>
          </a:p>
        </p:txBody>
      </p:sp>
      <p:sp>
        <p:nvSpPr>
          <p:cNvPr id="22" name="">
            <a:extLst xmlns:a="http://schemas.openxmlformats.org/drawingml/2006/main">
              <a:ext uri="{FF2B5EF4-FFF2-40B4-BE49-F238E27FC236}">
                <a16:creationId xmlns:a16="http://schemas.microsoft.com/office/drawing/2014/main" id="{3813A463-1252-4EDC-9329-64266968DF21}"/>
              </a:ext>
            </a:extLst>
          </p:cNvPr>
          <p:cNvSpPr>
            <a:spLocks xmlns:a="http://schemas.openxmlformats.org/drawingml/2006/main" noGrp="1"/>
          </p:cNvSpPr>
          <p:nvPr/>
        </p:nvSpPr>
        <p:spPr>
          <a:xfrm xmlns:a="http://schemas.openxmlformats.org/drawingml/2006/main">
            <a:off x="6867525" y="1724025"/>
            <a:ext cx="116205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3" name="">
            <a:extLst xmlns:a="http://schemas.openxmlformats.org/drawingml/2006/main">
              <a:ext uri="{FF2B5EF4-FFF2-40B4-BE49-F238E27FC236}">
                <a16:creationId xmlns:a16="http://schemas.microsoft.com/office/drawing/2014/main" id="{588A4DE8-CA9C-4BBA-BE6A-353BDA42062D}"/>
              </a:ext>
            </a:extLst>
          </p:cNvPr>
          <p:cNvSpPr>
            <a:spLocks xmlns:a="http://schemas.openxmlformats.org/drawingml/2006/main" noGrp="1"/>
          </p:cNvSpPr>
          <p:nvPr/>
        </p:nvSpPr>
        <p:spPr>
          <a:xfrm xmlns:a="http://schemas.openxmlformats.org/drawingml/2006/main">
            <a:off x="6867525" y="17240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59F9A"/>
                </a:solidFill>
                <a:latin typeface="Arial"/>
                <a:ea typeface="Arial"/>
                <a:cs typeface="Arial"/>
              </a:defRPr>
            </a:pPr>
            <a:r>
              <a:rPr sz="900" b="1">
                <a:solidFill>
                  <a:srgbClr val="159F9A"/>
                </a:solidFill>
                <a:latin typeface="Arial"/>
                <a:ea typeface="Arial"/>
                <a:cs typeface="Arial"/>
              </a:rPr>
              <a:t>VIEW EVIDENCE</a:t>
            </a:r>
          </a:p>
        </p:txBody>
      </p:sp>
      <p:sp>
        <p:nvSpPr>
          <p:cNvPr id="24" name="">
            <a:extLst xmlns:a="http://schemas.openxmlformats.org/drawingml/2006/main">
              <a:ext uri="{FF2B5EF4-FFF2-40B4-BE49-F238E27FC236}">
                <a16:creationId xmlns:a16="http://schemas.microsoft.com/office/drawing/2014/main" id="{7EF4718E-5512-451C-8D5E-31D15BE8EE1B}"/>
              </a:ext>
            </a:extLst>
          </p:cNvPr>
          <p:cNvSpPr>
            <a:spLocks xmlns:a="http://schemas.openxmlformats.org/drawingml/2006/main" noGrp="1"/>
          </p:cNvSpPr>
          <p:nvPr/>
        </p:nvSpPr>
        <p:spPr>
          <a:xfrm xmlns:a="http://schemas.openxmlformats.org/drawingml/2006/main">
            <a:off x="8143875" y="1724025"/>
            <a:ext cx="1133475" cy="266700"/>
          </a:xfrm>
          <a:prstGeom xmlns:a="http://schemas.openxmlformats.org/drawingml/2006/main" prst="roundRect">
            <a:avLst>
              <a:gd name="adj" fmla="val 50000"/>
            </a:avLst>
          </a:prstGeom>
          <a:solidFill xmlns:a="http://schemas.openxmlformats.org/drawingml/2006/main">
            <a:srgbClr val="E3ECF8"/>
          </a:solidFill>
          <a:ln xmlns:a="http://schemas.openxmlformats.org/drawingml/2006/main" w="9525">
            <a:solidFill>
              <a:srgbClr val="2C67B1"/>
            </a:solidFill>
            <a:prstDash val="solid"/>
          </a:ln>
        </p:spPr>
      </p:sp>
      <p:sp>
        <p:nvSpPr>
          <p:cNvPr id="25" name="">
            <a:extLst xmlns:a="http://schemas.openxmlformats.org/drawingml/2006/main">
              <a:ext uri="{FF2B5EF4-FFF2-40B4-BE49-F238E27FC236}">
                <a16:creationId xmlns:a16="http://schemas.microsoft.com/office/drawing/2014/main" id="{6098C9BA-CBF6-4645-B79F-F6A8ABB13516}"/>
              </a:ext>
            </a:extLst>
          </p:cNvPr>
          <p:cNvSpPr>
            <a:spLocks xmlns:a="http://schemas.openxmlformats.org/drawingml/2006/main" noGrp="1"/>
          </p:cNvSpPr>
          <p:nvPr/>
        </p:nvSpPr>
        <p:spPr>
          <a:xfrm xmlns:a="http://schemas.openxmlformats.org/drawingml/2006/main">
            <a:off x="8143875" y="1724025"/>
            <a:ext cx="1133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2C67B1"/>
                </a:solidFill>
                <a:latin typeface="Arial"/>
                <a:ea typeface="Arial"/>
                <a:cs typeface="Arial"/>
              </a:defRPr>
            </a:pPr>
            <a:r>
              <a:rPr sz="900" b="1">
                <a:solidFill>
                  <a:srgbClr val="2C67B1"/>
                </a:solidFill>
                <a:latin typeface="Arial"/>
                <a:ea typeface="Arial"/>
                <a:cs typeface="Arial"/>
              </a:rPr>
              <a:t>DOWNLOAD PDF</a:t>
            </a:r>
          </a:p>
        </p:txBody>
      </p:sp>
      <p:sp>
        <p:nvSpPr>
          <p:cNvPr id="26" name="">
            <a:extLst xmlns:a="http://schemas.openxmlformats.org/drawingml/2006/main">
              <a:ext uri="{FF2B5EF4-FFF2-40B4-BE49-F238E27FC236}">
                <a16:creationId xmlns:a16="http://schemas.microsoft.com/office/drawing/2014/main" id="{B09DC67E-B0B4-4915-BB43-8BE663B7073C}"/>
              </a:ext>
            </a:extLst>
          </p:cNvPr>
          <p:cNvSpPr>
            <a:spLocks xmlns:a="http://schemas.openxmlformats.org/drawingml/2006/main" noGrp="1"/>
          </p:cNvSpPr>
          <p:nvPr/>
        </p:nvSpPr>
        <p:spPr>
          <a:xfrm xmlns:a="http://schemas.openxmlformats.org/drawingml/2006/main">
            <a:off x="1952625" y="2419350"/>
            <a:ext cx="7524750" cy="742950"/>
          </a:xfrm>
          <a:prstGeom xmlns:a="http://schemas.openxmlformats.org/drawingml/2006/main" prst="roundRect">
            <a:avLst>
              <a:gd name="adj" fmla="val 15385"/>
            </a:avLst>
          </a:prstGeom>
          <a:solidFill xmlns:a="http://schemas.openxmlformats.org/drawingml/2006/main">
            <a:srgbClr val="E3ECF8"/>
          </a:solidFill>
          <a:ln xmlns:a="http://schemas.openxmlformats.org/drawingml/2006/main" w="9525">
            <a:solidFill>
              <a:srgbClr val="2C67B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A5BACF9D-0798-46F5-8117-054E89607891}"/>
              </a:ext>
            </a:extLst>
          </p:cNvPr>
          <p:cNvSpPr>
            <a:spLocks xmlns:a="http://schemas.openxmlformats.org/drawingml/2006/main" noGrp="1"/>
          </p:cNvSpPr>
          <p:nvPr/>
        </p:nvSpPr>
        <p:spPr>
          <a:xfrm xmlns:a="http://schemas.openxmlformats.org/drawingml/2006/main">
            <a:off x="2133600" y="2590800"/>
            <a:ext cx="1809750" cy="400050"/>
          </a:xfrm>
          <a:prstGeom xmlns:a="http://schemas.openxmlformats.org/drawingml/2006/main" prst="roundRect">
            <a:avLst>
              <a:gd name="adj" fmla="val 50000"/>
            </a:avLst>
          </a:prstGeom>
          <a:solidFill xmlns:a="http://schemas.openxmlformats.org/drawingml/2006/main">
            <a:srgbClr val="2C67B1"/>
          </a:solidFill>
          <a:ln xmlns:a="http://schemas.openxmlformats.org/drawingml/2006/main" w="0">
            <a:solidFill>
              <a:srgbClr val="2C67B1"/>
            </a:solidFill>
            <a:prstDash val="solid"/>
          </a:ln>
        </p:spPr>
      </p:sp>
      <p:sp>
        <p:nvSpPr>
          <p:cNvPr id="28" name="">
            <a:extLst xmlns:a="http://schemas.openxmlformats.org/drawingml/2006/main">
              <a:ext uri="{FF2B5EF4-FFF2-40B4-BE49-F238E27FC236}">
                <a16:creationId xmlns:a16="http://schemas.microsoft.com/office/drawing/2014/main" id="{338580E1-531D-462A-9931-E5268B7ED757}"/>
              </a:ext>
            </a:extLst>
          </p:cNvPr>
          <p:cNvSpPr>
            <a:spLocks xmlns:a="http://schemas.openxmlformats.org/drawingml/2006/main" noGrp="1"/>
          </p:cNvSpPr>
          <p:nvPr/>
        </p:nvSpPr>
        <p:spPr>
          <a:xfrm xmlns:a="http://schemas.openxmlformats.org/drawingml/2006/main">
            <a:off x="2133600" y="25908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FASTAPI GATEWAY</a:t>
            </a:r>
          </a:p>
        </p:txBody>
      </p:sp>
      <p:sp>
        <p:nvSpPr>
          <p:cNvPr id="29" name="">
            <a:extLst xmlns:a="http://schemas.openxmlformats.org/drawingml/2006/main">
              <a:ext uri="{FF2B5EF4-FFF2-40B4-BE49-F238E27FC236}">
                <a16:creationId xmlns:a16="http://schemas.microsoft.com/office/drawing/2014/main" id="{5F0A4B7B-93E3-44DF-86FD-971A831D13D2}"/>
              </a:ext>
            </a:extLst>
          </p:cNvPr>
          <p:cNvSpPr>
            <a:spLocks xmlns:a="http://schemas.openxmlformats.org/drawingml/2006/main" noGrp="1"/>
          </p:cNvSpPr>
          <p:nvPr/>
        </p:nvSpPr>
        <p:spPr>
          <a:xfrm xmlns:a="http://schemas.openxmlformats.org/drawingml/2006/main">
            <a:off x="4238625"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Upload validation</a:t>
            </a:r>
          </a:p>
        </p:txBody>
      </p:sp>
      <p:sp>
        <p:nvSpPr>
          <p:cNvPr id="30" name="">
            <a:extLst xmlns:a="http://schemas.openxmlformats.org/drawingml/2006/main">
              <a:ext uri="{FF2B5EF4-FFF2-40B4-BE49-F238E27FC236}">
                <a16:creationId xmlns:a16="http://schemas.microsoft.com/office/drawing/2014/main" id="{75B8C136-0FEA-4064-B820-70BFE3681215}"/>
              </a:ext>
            </a:extLst>
          </p:cNvPr>
          <p:cNvSpPr>
            <a:spLocks xmlns:a="http://schemas.openxmlformats.org/drawingml/2006/main" noGrp="1"/>
          </p:cNvSpPr>
          <p:nvPr/>
        </p:nvSpPr>
        <p:spPr>
          <a:xfrm xmlns:a="http://schemas.openxmlformats.org/drawingml/2006/main">
            <a:off x="4238625" y="277177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Size, MIME, filename</a:t>
            </a:r>
          </a:p>
        </p:txBody>
      </p:sp>
      <p:sp>
        <p:nvSpPr>
          <p:cNvPr id="31" name="">
            <a:extLst xmlns:a="http://schemas.openxmlformats.org/drawingml/2006/main">
              <a:ext uri="{FF2B5EF4-FFF2-40B4-BE49-F238E27FC236}">
                <a16:creationId xmlns:a16="http://schemas.microsoft.com/office/drawing/2014/main" id="{D7D54542-B774-4FFA-8DEB-0A4EC9193D02}"/>
              </a:ext>
            </a:extLst>
          </p:cNvPr>
          <p:cNvSpPr>
            <a:spLocks xmlns:a="http://schemas.openxmlformats.org/drawingml/2006/main" noGrp="1"/>
          </p:cNvSpPr>
          <p:nvPr/>
        </p:nvSpPr>
        <p:spPr>
          <a:xfrm xmlns:a="http://schemas.openxmlformats.org/drawingml/2006/main">
            <a:off x="5962650"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Session isolation</a:t>
            </a:r>
          </a:p>
        </p:txBody>
      </p:sp>
      <p:sp>
        <p:nvSpPr>
          <p:cNvPr id="32" name="">
            <a:extLst xmlns:a="http://schemas.openxmlformats.org/drawingml/2006/main">
              <a:ext uri="{FF2B5EF4-FFF2-40B4-BE49-F238E27FC236}">
                <a16:creationId xmlns:a16="http://schemas.microsoft.com/office/drawing/2014/main" id="{1D58359D-186C-422C-B1FF-588093FDAADA}"/>
              </a:ext>
            </a:extLst>
          </p:cNvPr>
          <p:cNvSpPr>
            <a:spLocks xmlns:a="http://schemas.openxmlformats.org/drawingml/2006/main" noGrp="1"/>
          </p:cNvSpPr>
          <p:nvPr/>
        </p:nvSpPr>
        <p:spPr>
          <a:xfrm xmlns:a="http://schemas.openxmlformats.org/drawingml/2006/main">
            <a:off x="5962650" y="27717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Private case access</a:t>
            </a:r>
          </a:p>
        </p:txBody>
      </p:sp>
      <p:sp>
        <p:nvSpPr>
          <p:cNvPr id="33" name="">
            <a:extLst xmlns:a="http://schemas.openxmlformats.org/drawingml/2006/main">
              <a:ext uri="{FF2B5EF4-FFF2-40B4-BE49-F238E27FC236}">
                <a16:creationId xmlns:a16="http://schemas.microsoft.com/office/drawing/2014/main" id="{349FD7FA-9539-44A7-ACE7-EE9B91998AB0}"/>
              </a:ext>
            </a:extLst>
          </p:cNvPr>
          <p:cNvSpPr>
            <a:spLocks xmlns:a="http://schemas.openxmlformats.org/drawingml/2006/main" noGrp="1"/>
          </p:cNvSpPr>
          <p:nvPr/>
        </p:nvSpPr>
        <p:spPr>
          <a:xfrm xmlns:a="http://schemas.openxmlformats.org/drawingml/2006/main">
            <a:off x="7677150"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Runtime controls</a:t>
            </a:r>
          </a:p>
        </p:txBody>
      </p:sp>
      <p:sp>
        <p:nvSpPr>
          <p:cNvPr id="34" name="">
            <a:extLst xmlns:a="http://schemas.openxmlformats.org/drawingml/2006/main">
              <a:ext uri="{FF2B5EF4-FFF2-40B4-BE49-F238E27FC236}">
                <a16:creationId xmlns:a16="http://schemas.microsoft.com/office/drawing/2014/main" id="{EA2E2332-D0F9-4814-B007-197B946CEC16}"/>
              </a:ext>
            </a:extLst>
          </p:cNvPr>
          <p:cNvSpPr>
            <a:spLocks xmlns:a="http://schemas.openxmlformats.org/drawingml/2006/main" noGrp="1"/>
          </p:cNvSpPr>
          <p:nvPr/>
        </p:nvSpPr>
        <p:spPr>
          <a:xfrm xmlns:a="http://schemas.openxmlformats.org/drawingml/2006/main">
            <a:off x="7677150" y="2771775"/>
            <a:ext cx="160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6282"/>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Limits, timeouts, rate control</a:t>
            </a:r>
          </a:p>
        </p:txBody>
      </p:sp>
      <p:sp>
        <p:nvSpPr>
          <p:cNvPr id="35" name="">
            <a:extLst xmlns:a="http://schemas.openxmlformats.org/drawingml/2006/main">
              <a:ext uri="{FF2B5EF4-FFF2-40B4-BE49-F238E27FC236}">
                <a16:creationId xmlns:a16="http://schemas.microsoft.com/office/drawing/2014/main" id="{54C6B61E-A1B4-43A4-8A1E-1E5BB5D0CC13}"/>
              </a:ext>
            </a:extLst>
          </p:cNvPr>
          <p:cNvSpPr>
            <a:spLocks xmlns:a="http://schemas.openxmlformats.org/drawingml/2006/main" noGrp="1"/>
          </p:cNvSpPr>
          <p:nvPr/>
        </p:nvSpPr>
        <p:spPr>
          <a:xfrm xmlns:a="http://schemas.openxmlformats.org/drawingml/2006/main">
            <a:off x="1952625" y="3333750"/>
            <a:ext cx="7524750" cy="1562100"/>
          </a:xfrm>
          <a:prstGeom xmlns:a="http://schemas.openxmlformats.org/drawingml/2006/main" prst="roundRect">
            <a:avLst>
              <a:gd name="adj" fmla="val 7317"/>
            </a:avLst>
          </a:prstGeom>
          <a:solidFill xmlns:a="http://schemas.openxmlformats.org/drawingml/2006/main">
            <a:srgbClr val="102B4B"/>
          </a:solidFill>
          <a:ln xmlns:a="http://schemas.openxmlformats.org/drawingml/2006/main" w="0">
            <a:solidFill>
              <a:srgbClr val="102B4B"/>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7C023051-B00F-426E-B969-B3BDEF88950D}"/>
              </a:ext>
            </a:extLst>
          </p:cNvPr>
          <p:cNvSpPr>
            <a:spLocks xmlns:a="http://schemas.openxmlformats.org/drawingml/2006/main" noGrp="1"/>
          </p:cNvSpPr>
          <p:nvPr/>
        </p:nvSpPr>
        <p:spPr>
          <a:xfrm xmlns:a="http://schemas.openxmlformats.org/drawingml/2006/main">
            <a:off x="2133600" y="34766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ANALYSIS ORCHESTRATOR</a:t>
            </a:r>
          </a:p>
        </p:txBody>
      </p:sp>
      <p:sp>
        <p:nvSpPr>
          <p:cNvPr id="37" name="">
            <a:extLst xmlns:a="http://schemas.openxmlformats.org/drawingml/2006/main">
              <a:ext uri="{FF2B5EF4-FFF2-40B4-BE49-F238E27FC236}">
                <a16:creationId xmlns:a16="http://schemas.microsoft.com/office/drawing/2014/main" id="{90B3DE86-43F7-489A-825B-EC2590B40730}"/>
              </a:ext>
            </a:extLst>
          </p:cNvPr>
          <p:cNvSpPr>
            <a:spLocks xmlns:a="http://schemas.openxmlformats.org/drawingml/2006/main" noGrp="1"/>
          </p:cNvSpPr>
          <p:nvPr/>
        </p:nvSpPr>
        <p:spPr>
          <a:xfrm xmlns:a="http://schemas.openxmlformats.org/drawingml/2006/main">
            <a:off x="4810125" y="3476625"/>
            <a:ext cx="4352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125" b="0">
                <a:solidFill>
                  <a:srgbClr val="C8D3DF"/>
                </a:solidFill>
                <a:latin typeface="Arial"/>
                <a:ea typeface="Arial"/>
                <a:cs typeface="Arial"/>
              </a:defRPr>
            </a:pPr>
            <a:r>
              <a:rPr sz="1125" b="0">
                <a:solidFill>
                  <a:srgbClr val="C8D3DF"/>
                </a:solidFill>
                <a:latin typeface="Arial"/>
                <a:ea typeface="Arial"/>
                <a:cs typeface="Arial"/>
              </a:rPr>
              <a:t>Independent modules return evidence to one bounded scoring policy</a:t>
            </a:r>
          </a:p>
        </p:txBody>
      </p:sp>
      <p:sp>
        <p:nvSpPr>
          <p:cNvPr id="38" name="">
            <a:extLst xmlns:a="http://schemas.openxmlformats.org/drawingml/2006/main">
              <a:ext uri="{FF2B5EF4-FFF2-40B4-BE49-F238E27FC236}">
                <a16:creationId xmlns:a16="http://schemas.microsoft.com/office/drawing/2014/main" id="{7E55D652-C73A-4F31-B107-556892BCEBA8}"/>
              </a:ext>
            </a:extLst>
          </p:cNvPr>
          <p:cNvSpPr>
            <a:spLocks xmlns:a="http://schemas.openxmlformats.org/drawingml/2006/main" noGrp="1"/>
          </p:cNvSpPr>
          <p:nvPr/>
        </p:nvSpPr>
        <p:spPr>
          <a:xfrm xmlns:a="http://schemas.openxmlformats.org/drawingml/2006/main">
            <a:off x="2133600" y="3905250"/>
            <a:ext cx="1809750" cy="781050"/>
          </a:xfrm>
          <a:prstGeom xmlns:a="http://schemas.openxmlformats.org/drawingml/2006/main" prst="roundRect">
            <a:avLst>
              <a:gd name="adj" fmla="val 9756"/>
            </a:avLst>
          </a:prstGeom>
          <a:solidFill xmlns:a="http://schemas.openxmlformats.org/drawingml/2006/main">
            <a:srgbClr val="40291E"/>
          </a:solidFill>
          <a:ln xmlns:a="http://schemas.openxmlformats.org/drawingml/2006/main" w="9525">
            <a:solidFill>
              <a:srgbClr val="F07D3B"/>
            </a:solidFill>
            <a:prstDash val="solid"/>
          </a:ln>
        </p:spPr>
      </p:sp>
      <p:sp>
        <p:nvSpPr>
          <p:cNvPr id="39" name="">
            <a:extLst xmlns:a="http://schemas.openxmlformats.org/drawingml/2006/main">
              <a:ext uri="{FF2B5EF4-FFF2-40B4-BE49-F238E27FC236}">
                <a16:creationId xmlns:a16="http://schemas.microsoft.com/office/drawing/2014/main" id="{62A3C93E-745D-4DF1-AE2E-87F4298606DA}"/>
              </a:ext>
            </a:extLst>
          </p:cNvPr>
          <p:cNvSpPr>
            <a:spLocks xmlns:a="http://schemas.openxmlformats.org/drawingml/2006/main" noGrp="1"/>
          </p:cNvSpPr>
          <p:nvPr/>
        </p:nvSpPr>
        <p:spPr>
          <a:xfrm xmlns:a="http://schemas.openxmlformats.org/drawingml/2006/main">
            <a:off x="2266950" y="4010025"/>
            <a:ext cx="971550" cy="266700"/>
          </a:xfrm>
          <a:prstGeom xmlns:a="http://schemas.openxmlformats.org/drawingml/2006/main" prst="roundRect">
            <a:avLst>
              <a:gd name="adj" fmla="val 50000"/>
            </a:avLst>
          </a:prstGeom>
          <a:solidFill xmlns:a="http://schemas.openxmlformats.org/drawingml/2006/main">
            <a:srgbClr val="F07D3B"/>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9DB016B6-9935-45BE-8BB8-3816DE959337}"/>
              </a:ext>
            </a:extLst>
          </p:cNvPr>
          <p:cNvSpPr>
            <a:spLocks xmlns:a="http://schemas.openxmlformats.org/drawingml/2006/main" noGrp="1"/>
          </p:cNvSpPr>
          <p:nvPr/>
        </p:nvSpPr>
        <p:spPr>
          <a:xfrm xmlns:a="http://schemas.openxmlformats.org/drawingml/2006/main">
            <a:off x="2266950" y="40100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RAKSHAK AI</a:t>
            </a:r>
          </a:p>
        </p:txBody>
      </p:sp>
      <p:sp>
        <p:nvSpPr>
          <p:cNvPr id="41" name="">
            <a:extLst xmlns:a="http://schemas.openxmlformats.org/drawingml/2006/main">
              <a:ext uri="{FF2B5EF4-FFF2-40B4-BE49-F238E27FC236}">
                <a16:creationId xmlns:a16="http://schemas.microsoft.com/office/drawing/2014/main" id="{1C7D1532-5C3D-4A5F-801C-E46F658A1821}"/>
              </a:ext>
            </a:extLst>
          </p:cNvPr>
          <p:cNvSpPr>
            <a:spLocks xmlns:a="http://schemas.openxmlformats.org/drawingml/2006/main" noGrp="1"/>
          </p:cNvSpPr>
          <p:nvPr/>
        </p:nvSpPr>
        <p:spPr>
          <a:xfrm xmlns:a="http://schemas.openxmlformats.org/drawingml/2006/main">
            <a:off x="2266950" y="432435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Text model + rules</a:t>
            </a:r>
          </a:p>
        </p:txBody>
      </p:sp>
      <p:sp>
        <p:nvSpPr>
          <p:cNvPr id="42" name="">
            <a:extLst xmlns:a="http://schemas.openxmlformats.org/drawingml/2006/main">
              <a:ext uri="{FF2B5EF4-FFF2-40B4-BE49-F238E27FC236}">
                <a16:creationId xmlns:a16="http://schemas.microsoft.com/office/drawing/2014/main" id="{92BC2B36-30E3-43FA-B21C-8D0C8FB9EA41}"/>
              </a:ext>
            </a:extLst>
          </p:cNvPr>
          <p:cNvSpPr>
            <a:spLocks xmlns:a="http://schemas.openxmlformats.org/drawingml/2006/main" noGrp="1"/>
          </p:cNvSpPr>
          <p:nvPr/>
        </p:nvSpPr>
        <p:spPr>
          <a:xfrm xmlns:a="http://schemas.openxmlformats.org/drawingml/2006/main">
            <a:off x="4095750" y="3905250"/>
            <a:ext cx="2095500" cy="781050"/>
          </a:xfrm>
          <a:prstGeom xmlns:a="http://schemas.openxmlformats.org/drawingml/2006/main" prst="roundRect">
            <a:avLst>
              <a:gd name="adj" fmla="val 9756"/>
            </a:avLst>
          </a:prstGeom>
          <a:solidFill xmlns:a="http://schemas.openxmlformats.org/drawingml/2006/main">
            <a:srgbClr val="16393D"/>
          </a:solidFill>
          <a:ln xmlns:a="http://schemas.openxmlformats.org/drawingml/2006/main" w="9525">
            <a:solidFill>
              <a:srgbClr val="46D6CF"/>
            </a:solidFill>
            <a:prstDash val="solid"/>
          </a:ln>
        </p:spPr>
      </p:sp>
      <p:sp>
        <p:nvSpPr>
          <p:cNvPr id="43" name="">
            <a:extLst xmlns:a="http://schemas.openxmlformats.org/drawingml/2006/main">
              <a:ext uri="{FF2B5EF4-FFF2-40B4-BE49-F238E27FC236}">
                <a16:creationId xmlns:a16="http://schemas.microsoft.com/office/drawing/2014/main" id="{81ACBD8C-1AE6-45EF-9DB7-84821BFF2234}"/>
              </a:ext>
            </a:extLst>
          </p:cNvPr>
          <p:cNvSpPr>
            <a:spLocks xmlns:a="http://schemas.openxmlformats.org/drawingml/2006/main" noGrp="1"/>
          </p:cNvSpPr>
          <p:nvPr/>
        </p:nvSpPr>
        <p:spPr>
          <a:xfrm xmlns:a="http://schemas.openxmlformats.org/drawingml/2006/main">
            <a:off x="4229100" y="4010025"/>
            <a:ext cx="971550" cy="266700"/>
          </a:xfrm>
          <a:prstGeom xmlns:a="http://schemas.openxmlformats.org/drawingml/2006/main" prst="roundRect">
            <a:avLst>
              <a:gd name="adj" fmla="val 50000"/>
            </a:avLst>
          </a:prstGeom>
          <a:solidFill xmlns:a="http://schemas.openxmlformats.org/drawingml/2006/main">
            <a:srgbClr val="46D6CF"/>
          </a:solidFill>
          <a:ln xmlns:a="http://schemas.openxmlformats.org/drawingml/2006/main" w="9525">
            <a:solidFill>
              <a:srgbClr val="10253F"/>
            </a:solidFill>
            <a:prstDash val="solid"/>
          </a:ln>
        </p:spPr>
      </p:sp>
      <p:sp>
        <p:nvSpPr>
          <p:cNvPr id="44" name="">
            <a:extLst xmlns:a="http://schemas.openxmlformats.org/drawingml/2006/main">
              <a:ext uri="{FF2B5EF4-FFF2-40B4-BE49-F238E27FC236}">
                <a16:creationId xmlns:a16="http://schemas.microsoft.com/office/drawing/2014/main" id="{D618718A-334B-42E4-B645-753731A8B1DA}"/>
              </a:ext>
            </a:extLst>
          </p:cNvPr>
          <p:cNvSpPr>
            <a:spLocks xmlns:a="http://schemas.openxmlformats.org/drawingml/2006/main" noGrp="1"/>
          </p:cNvSpPr>
          <p:nvPr/>
        </p:nvSpPr>
        <p:spPr>
          <a:xfrm xmlns:a="http://schemas.openxmlformats.org/drawingml/2006/main">
            <a:off x="4229100" y="40100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0253F"/>
                </a:solidFill>
                <a:latin typeface="Arial"/>
                <a:ea typeface="Arial"/>
                <a:cs typeface="Arial"/>
              </a:defRPr>
            </a:pPr>
            <a:r>
              <a:rPr sz="900" b="1">
                <a:solidFill>
                  <a:srgbClr val="10253F"/>
                </a:solidFill>
                <a:latin typeface="Arial"/>
                <a:ea typeface="Arial"/>
                <a:cs typeface="Arial"/>
              </a:rPr>
              <a:t>EMAIL TRUST</a:t>
            </a:r>
          </a:p>
        </p:txBody>
      </p:sp>
      <p:sp>
        <p:nvSpPr>
          <p:cNvPr id="45" name="">
            <a:extLst xmlns:a="http://schemas.openxmlformats.org/drawingml/2006/main">
              <a:ext uri="{FF2B5EF4-FFF2-40B4-BE49-F238E27FC236}">
                <a16:creationId xmlns:a16="http://schemas.microsoft.com/office/drawing/2014/main" id="{F17F7EBF-9E64-4055-9EB2-08C398074A3F}"/>
              </a:ext>
            </a:extLst>
          </p:cNvPr>
          <p:cNvSpPr>
            <a:spLocks xmlns:a="http://schemas.openxmlformats.org/drawingml/2006/main" noGrp="1"/>
          </p:cNvSpPr>
          <p:nvPr/>
        </p:nvSpPr>
        <p:spPr>
          <a:xfrm xmlns:a="http://schemas.openxmlformats.org/drawingml/2006/main">
            <a:off x="4229100" y="4324350"/>
            <a:ext cx="1752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Parser, auth, sender</a:t>
            </a:r>
          </a:p>
        </p:txBody>
      </p:sp>
      <p:sp>
        <p:nvSpPr>
          <p:cNvPr id="46" name="">
            <a:extLst xmlns:a="http://schemas.openxmlformats.org/drawingml/2006/main">
              <a:ext uri="{FF2B5EF4-FFF2-40B4-BE49-F238E27FC236}">
                <a16:creationId xmlns:a16="http://schemas.microsoft.com/office/drawing/2014/main" id="{E31F9D99-1B02-427D-B186-41242DCC22AE}"/>
              </a:ext>
            </a:extLst>
          </p:cNvPr>
          <p:cNvSpPr>
            <a:spLocks xmlns:a="http://schemas.openxmlformats.org/drawingml/2006/main" noGrp="1"/>
          </p:cNvSpPr>
          <p:nvPr/>
        </p:nvSpPr>
        <p:spPr>
          <a:xfrm xmlns:a="http://schemas.openxmlformats.org/drawingml/2006/main">
            <a:off x="6343650" y="3905250"/>
            <a:ext cx="2095500" cy="781050"/>
          </a:xfrm>
          <a:prstGeom xmlns:a="http://schemas.openxmlformats.org/drawingml/2006/main" prst="roundRect">
            <a:avLst>
              <a:gd name="adj" fmla="val 9756"/>
            </a:avLst>
          </a:prstGeom>
          <a:solidFill xmlns:a="http://schemas.openxmlformats.org/drawingml/2006/main">
            <a:srgbClr val="3B351F"/>
          </a:solidFill>
          <a:ln xmlns:a="http://schemas.openxmlformats.org/drawingml/2006/main" w="9525">
            <a:solidFill>
              <a:srgbClr val="F2C454"/>
            </a:solidFill>
            <a:prstDash val="solid"/>
          </a:ln>
        </p:spPr>
      </p:sp>
      <p:sp>
        <p:nvSpPr>
          <p:cNvPr id="47" name="">
            <a:extLst xmlns:a="http://schemas.openxmlformats.org/drawingml/2006/main">
              <a:ext uri="{FF2B5EF4-FFF2-40B4-BE49-F238E27FC236}">
                <a16:creationId xmlns:a16="http://schemas.microsoft.com/office/drawing/2014/main" id="{BBA255F2-6074-44CF-B1B7-AFB000125338}"/>
              </a:ext>
            </a:extLst>
          </p:cNvPr>
          <p:cNvSpPr>
            <a:spLocks xmlns:a="http://schemas.openxmlformats.org/drawingml/2006/main" noGrp="1"/>
          </p:cNvSpPr>
          <p:nvPr/>
        </p:nvSpPr>
        <p:spPr>
          <a:xfrm xmlns:a="http://schemas.openxmlformats.org/drawingml/2006/main">
            <a:off x="6477000" y="4010025"/>
            <a:ext cx="914400" cy="266700"/>
          </a:xfrm>
          <a:prstGeom xmlns:a="http://schemas.openxmlformats.org/drawingml/2006/main" prst="roundRect">
            <a:avLst>
              <a:gd name="adj" fmla="val 50000"/>
            </a:avLst>
          </a:prstGeom>
          <a:solidFill xmlns:a="http://schemas.openxmlformats.org/drawingml/2006/main">
            <a:srgbClr val="F2C454"/>
          </a:solidFill>
          <a:ln xmlns:a="http://schemas.openxmlformats.org/drawingml/2006/main" w="9525">
            <a:solidFill>
              <a:srgbClr val="10253F"/>
            </a:solidFill>
            <a:prstDash val="solid"/>
          </a:ln>
        </p:spPr>
      </p:sp>
      <p:sp>
        <p:nvSpPr>
          <p:cNvPr id="48" name="">
            <a:extLst xmlns:a="http://schemas.openxmlformats.org/drawingml/2006/main">
              <a:ext uri="{FF2B5EF4-FFF2-40B4-BE49-F238E27FC236}">
                <a16:creationId xmlns:a16="http://schemas.microsoft.com/office/drawing/2014/main" id="{18D5D972-9EDE-44A4-9AD7-CC9F58EBA067}"/>
              </a:ext>
            </a:extLst>
          </p:cNvPr>
          <p:cNvSpPr>
            <a:spLocks xmlns:a="http://schemas.openxmlformats.org/drawingml/2006/main" noGrp="1"/>
          </p:cNvSpPr>
          <p:nvPr/>
        </p:nvSpPr>
        <p:spPr>
          <a:xfrm xmlns:a="http://schemas.openxmlformats.org/drawingml/2006/main">
            <a:off x="6477000" y="401002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0253F"/>
                </a:solidFill>
                <a:latin typeface="Arial"/>
                <a:ea typeface="Arial"/>
                <a:cs typeface="Arial"/>
              </a:defRPr>
            </a:pPr>
            <a:r>
              <a:rPr sz="900" b="1">
                <a:solidFill>
                  <a:srgbClr val="10253F"/>
                </a:solidFill>
                <a:latin typeface="Arial"/>
                <a:ea typeface="Arial"/>
                <a:cs typeface="Arial"/>
              </a:rPr>
              <a:t>FORENSICS</a:t>
            </a:r>
          </a:p>
        </p:txBody>
      </p:sp>
      <p:sp>
        <p:nvSpPr>
          <p:cNvPr id="49" name="">
            <a:extLst xmlns:a="http://schemas.openxmlformats.org/drawingml/2006/main">
              <a:ext uri="{FF2B5EF4-FFF2-40B4-BE49-F238E27FC236}">
                <a16:creationId xmlns:a16="http://schemas.microsoft.com/office/drawing/2014/main" id="{3A22B8C6-4C60-4232-9883-206D9BAF20F0}"/>
              </a:ext>
            </a:extLst>
          </p:cNvPr>
          <p:cNvSpPr>
            <a:spLocks xmlns:a="http://schemas.openxmlformats.org/drawingml/2006/main" noGrp="1"/>
          </p:cNvSpPr>
          <p:nvPr/>
        </p:nvSpPr>
        <p:spPr>
          <a:xfrm xmlns:a="http://schemas.openxmlformats.org/drawingml/2006/main">
            <a:off x="6477000" y="4324350"/>
            <a:ext cx="1752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Domain, IP, Geo, files</a:t>
            </a:r>
          </a:p>
        </p:txBody>
      </p:sp>
      <p:sp>
        <p:nvSpPr>
          <p:cNvPr id="50" name="">
            <a:extLst xmlns:a="http://schemas.openxmlformats.org/drawingml/2006/main">
              <a:ext uri="{FF2B5EF4-FFF2-40B4-BE49-F238E27FC236}">
                <a16:creationId xmlns:a16="http://schemas.microsoft.com/office/drawing/2014/main" id="{FDE7A612-5288-4413-B9AF-D3A64DD5D344}"/>
              </a:ext>
            </a:extLst>
          </p:cNvPr>
          <p:cNvSpPr>
            <a:spLocks xmlns:a="http://schemas.openxmlformats.org/drawingml/2006/main" noGrp="1"/>
          </p:cNvSpPr>
          <p:nvPr/>
        </p:nvSpPr>
        <p:spPr>
          <a:xfrm xmlns:a="http://schemas.openxmlformats.org/drawingml/2006/main">
            <a:off x="8515350" y="3819525"/>
            <a:ext cx="857250" cy="857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51" name="">
            <a:extLst xmlns:a="http://schemas.openxmlformats.org/drawingml/2006/main">
              <a:ext uri="{FF2B5EF4-FFF2-40B4-BE49-F238E27FC236}">
                <a16:creationId xmlns:a16="http://schemas.microsoft.com/office/drawing/2014/main" id="{59F1C688-2818-49F4-BB05-0293B60A058F}"/>
              </a:ext>
            </a:extLst>
          </p:cNvPr>
          <p:cNvSpPr>
            <a:spLocks xmlns:a="http://schemas.openxmlformats.org/drawingml/2006/main" noGrp="1"/>
          </p:cNvSpPr>
          <p:nvPr/>
        </p:nvSpPr>
        <p:spPr>
          <a:xfrm xmlns:a="http://schemas.openxmlformats.org/drawingml/2006/main">
            <a:off x="8572500" y="3943350"/>
            <a:ext cx="74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0253F"/>
                </a:solidFill>
                <a:latin typeface="Arial"/>
                <a:ea typeface="Arial"/>
                <a:cs typeface="Arial"/>
              </a:defRPr>
            </a:pPr>
            <a:r>
              <a:rPr sz="1500" b="1">
                <a:solidFill>
                  <a:srgbClr val="10253F"/>
                </a:solidFill>
                <a:latin typeface="Arial"/>
                <a:ea typeface="Arial"/>
                <a:cs typeface="Arial"/>
              </a:rPr>
              <a:t>0–100</a:t>
            </a:r>
          </a:p>
        </p:txBody>
      </p:sp>
      <p:sp>
        <p:nvSpPr>
          <p:cNvPr id="52" name="">
            <a:extLst xmlns:a="http://schemas.openxmlformats.org/drawingml/2006/main">
              <a:ext uri="{FF2B5EF4-FFF2-40B4-BE49-F238E27FC236}">
                <a16:creationId xmlns:a16="http://schemas.microsoft.com/office/drawing/2014/main" id="{E8CBED58-99CF-4AAD-AB7D-8EDCA33BC3DD}"/>
              </a:ext>
            </a:extLst>
          </p:cNvPr>
          <p:cNvSpPr>
            <a:spLocks xmlns:a="http://schemas.openxmlformats.org/drawingml/2006/main" noGrp="1"/>
          </p:cNvSpPr>
          <p:nvPr/>
        </p:nvSpPr>
        <p:spPr>
          <a:xfrm xmlns:a="http://schemas.openxmlformats.org/drawingml/2006/main">
            <a:off x="8715375" y="4219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07D3B"/>
                </a:solidFill>
                <a:latin typeface="Arial"/>
                <a:ea typeface="Arial"/>
                <a:cs typeface="Arial"/>
              </a:defRPr>
            </a:pPr>
            <a:r>
              <a:rPr sz="975" b="1">
                <a:solidFill>
                  <a:srgbClr val="F07D3B"/>
                </a:solidFill>
                <a:latin typeface="Arial"/>
                <a:ea typeface="Arial"/>
                <a:cs typeface="Arial"/>
              </a:rPr>
              <a:t>RISK</a:t>
            </a:r>
          </a:p>
        </p:txBody>
      </p:sp>
      <p:sp>
        <p:nvSpPr>
          <p:cNvPr id="53" name="">
            <a:extLst xmlns:a="http://schemas.openxmlformats.org/drawingml/2006/main">
              <a:ext uri="{FF2B5EF4-FFF2-40B4-BE49-F238E27FC236}">
                <a16:creationId xmlns:a16="http://schemas.microsoft.com/office/drawing/2014/main" id="{1E840087-A610-41DC-8062-8ECE8BD289CB}"/>
              </a:ext>
            </a:extLst>
          </p:cNvPr>
          <p:cNvSpPr>
            <a:spLocks xmlns:a="http://schemas.openxmlformats.org/drawingml/2006/main" noGrp="1"/>
          </p:cNvSpPr>
          <p:nvPr/>
        </p:nvSpPr>
        <p:spPr>
          <a:xfrm xmlns:a="http://schemas.openxmlformats.org/drawingml/2006/main">
            <a:off x="8620125" y="4438650"/>
            <a:ext cx="6477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41A36B"/>
                </a:solidFill>
                <a:latin typeface="Arial"/>
                <a:ea typeface="Arial"/>
                <a:cs typeface="Arial"/>
              </a:defRPr>
            </a:pPr>
            <a:r>
              <a:rPr sz="750" b="0">
                <a:solidFill>
                  <a:srgbClr val="41A36B"/>
                </a:solidFill>
                <a:latin typeface="Arial"/>
                <a:ea typeface="Arial"/>
                <a:cs typeface="Arial"/>
              </a:rPr>
              <a:t>+ coverage</a:t>
            </a:r>
          </a:p>
        </p:txBody>
      </p:sp>
      <p:sp>
        <p:nvSpPr>
          <p:cNvPr id="54" name="">
            <a:extLst xmlns:a="http://schemas.openxmlformats.org/drawingml/2006/main">
              <a:ext uri="{FF2B5EF4-FFF2-40B4-BE49-F238E27FC236}">
                <a16:creationId xmlns:a16="http://schemas.microsoft.com/office/drawing/2014/main" id="{D3AE840A-6BB6-42FD-824D-EA3F546CBB04}"/>
              </a:ext>
            </a:extLst>
          </p:cNvPr>
          <p:cNvSpPr>
            <a:spLocks xmlns:a="http://schemas.openxmlformats.org/drawingml/2006/main" noGrp="1"/>
          </p:cNvSpPr>
          <p:nvPr/>
        </p:nvSpPr>
        <p:spPr>
          <a:xfrm xmlns:a="http://schemas.openxmlformats.org/drawingml/2006/main">
            <a:off x="1952625" y="5067300"/>
            <a:ext cx="7524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5" name="">
            <a:extLst xmlns:a="http://schemas.openxmlformats.org/drawingml/2006/main">
              <a:ext uri="{FF2B5EF4-FFF2-40B4-BE49-F238E27FC236}">
                <a16:creationId xmlns:a16="http://schemas.microsoft.com/office/drawing/2014/main" id="{453FCD72-CFC8-4478-80D4-EFCFAE5C07B0}"/>
              </a:ext>
            </a:extLst>
          </p:cNvPr>
          <p:cNvSpPr>
            <a:spLocks xmlns:a="http://schemas.openxmlformats.org/drawingml/2006/main" noGrp="1"/>
          </p:cNvSpPr>
          <p:nvPr/>
        </p:nvSpPr>
        <p:spPr>
          <a:xfrm xmlns:a="http://schemas.openxmlformats.org/drawingml/2006/main">
            <a:off x="2133600" y="5219700"/>
            <a:ext cx="1809750" cy="361950"/>
          </a:xfrm>
          <a:prstGeom xmlns:a="http://schemas.openxmlformats.org/drawingml/2006/main" prst="roundRect">
            <a:avLst>
              <a:gd name="adj" fmla="val 50000"/>
            </a:avLst>
          </a:prstGeom>
          <a:solidFill xmlns:a="http://schemas.openxmlformats.org/drawingml/2006/main">
            <a:srgbClr val="FAF0D6"/>
          </a:solidFill>
          <a:ln xmlns:a="http://schemas.openxmlformats.org/drawingml/2006/main" w="9525">
            <a:solidFill>
              <a:srgbClr val="E5A528"/>
            </a:solidFill>
            <a:prstDash val="solid"/>
          </a:ln>
        </p:spPr>
      </p:sp>
      <p:sp>
        <p:nvSpPr>
          <p:cNvPr id="56" name="">
            <a:extLst xmlns:a="http://schemas.openxmlformats.org/drawingml/2006/main">
              <a:ext uri="{FF2B5EF4-FFF2-40B4-BE49-F238E27FC236}">
                <a16:creationId xmlns:a16="http://schemas.microsoft.com/office/drawing/2014/main" id="{C7AFFEE6-3F58-499A-8062-8E45942091EB}"/>
              </a:ext>
            </a:extLst>
          </p:cNvPr>
          <p:cNvSpPr>
            <a:spLocks xmlns:a="http://schemas.openxmlformats.org/drawingml/2006/main" noGrp="1"/>
          </p:cNvSpPr>
          <p:nvPr/>
        </p:nvSpPr>
        <p:spPr>
          <a:xfrm xmlns:a="http://schemas.openxmlformats.org/drawingml/2006/main">
            <a:off x="2133600" y="5219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53F"/>
                </a:solidFill>
                <a:latin typeface="Arial"/>
                <a:ea typeface="Arial"/>
                <a:cs typeface="Arial"/>
              </a:defRPr>
            </a:pPr>
            <a:r>
              <a:rPr sz="1275" b="1">
                <a:solidFill>
                  <a:srgbClr val="10253F"/>
                </a:solidFill>
                <a:latin typeface="Arial"/>
                <a:ea typeface="Arial"/>
                <a:cs typeface="Arial"/>
              </a:rPr>
              <a:t>CASE DATABASE</a:t>
            </a:r>
          </a:p>
        </p:txBody>
      </p:sp>
      <p:sp>
        <p:nvSpPr>
          <p:cNvPr id="57" name="">
            <a:extLst xmlns:a="http://schemas.openxmlformats.org/drawingml/2006/main">
              <a:ext uri="{FF2B5EF4-FFF2-40B4-BE49-F238E27FC236}">
                <a16:creationId xmlns:a16="http://schemas.microsoft.com/office/drawing/2014/main" id="{7D87280D-6FA9-4040-A640-5AB7F5D476C3}"/>
              </a:ext>
            </a:extLst>
          </p:cNvPr>
          <p:cNvSpPr>
            <a:spLocks xmlns:a="http://schemas.openxmlformats.org/drawingml/2006/main" noGrp="1"/>
          </p:cNvSpPr>
          <p:nvPr/>
        </p:nvSpPr>
        <p:spPr>
          <a:xfrm xmlns:a="http://schemas.openxmlformats.org/drawingml/2006/main">
            <a:off x="4095750" y="52197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1200" b="1">
                <a:solidFill>
                  <a:srgbClr val="536273"/>
                </a:solidFill>
                <a:latin typeface="Arial"/>
                <a:ea typeface="Arial"/>
                <a:cs typeface="Arial"/>
              </a:defRPr>
            </a:pPr>
            <a:r>
              <a:rPr sz="1200" b="1">
                <a:solidFill>
                  <a:srgbClr val="536273"/>
                </a:solidFill>
                <a:latin typeface="Arial"/>
                <a:ea typeface="Arial"/>
                <a:cs typeface="Arial"/>
              </a:rPr>
              <a:t>SQLite  |  PostgreSQL-ready</a:t>
            </a:r>
          </a:p>
        </p:txBody>
      </p:sp>
      <p:sp>
        <p:nvSpPr>
          <p:cNvPr id="58" name="">
            <a:extLst xmlns:a="http://schemas.openxmlformats.org/drawingml/2006/main">
              <a:ext uri="{FF2B5EF4-FFF2-40B4-BE49-F238E27FC236}">
                <a16:creationId xmlns:a16="http://schemas.microsoft.com/office/drawing/2014/main" id="{E53D76A3-CD99-4418-A2EA-4C4D11B53636}"/>
              </a:ext>
            </a:extLst>
          </p:cNvPr>
          <p:cNvSpPr>
            <a:spLocks xmlns:a="http://schemas.openxmlformats.org/drawingml/2006/main" noGrp="1"/>
          </p:cNvSpPr>
          <p:nvPr/>
        </p:nvSpPr>
        <p:spPr>
          <a:xfrm xmlns:a="http://schemas.openxmlformats.org/drawingml/2006/main">
            <a:off x="6210300" y="5238750"/>
            <a:ext cx="0" cy="323850"/>
          </a:xfrm>
          <a:prstGeom xmlns:a="http://schemas.openxmlformats.org/drawingml/2006/main" prst="line">
            <a:avLst/>
          </a:prstGeom>
          <a:noFill xmlns:a="http://schemas.openxmlformats.org/drawingml/2006/main"/>
          <a:ln xmlns:a="http://schemas.openxmlformats.org/drawingml/2006/main" w="19050">
            <a:solidFill>
              <a:srgbClr val="D9DED9"/>
            </a:solidFill>
            <a:prstDash val="solid"/>
          </a:ln>
        </p:spPr>
      </p:sp>
      <p:sp>
        <p:nvSpPr>
          <p:cNvPr id="59" name="">
            <a:extLst xmlns:a="http://schemas.openxmlformats.org/drawingml/2006/main">
              <a:ext uri="{FF2B5EF4-FFF2-40B4-BE49-F238E27FC236}">
                <a16:creationId xmlns:a16="http://schemas.microsoft.com/office/drawing/2014/main" id="{FB216124-EA81-4E02-9B71-999E2AF94BD9}"/>
              </a:ext>
            </a:extLst>
          </p:cNvPr>
          <p:cNvSpPr>
            <a:spLocks xmlns:a="http://schemas.openxmlformats.org/drawingml/2006/main" noGrp="1"/>
          </p:cNvSpPr>
          <p:nvPr/>
        </p:nvSpPr>
        <p:spPr>
          <a:xfrm xmlns:a="http://schemas.openxmlformats.org/drawingml/2006/main">
            <a:off x="6419850" y="52197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59F9A"/>
                </a:solidFill>
                <a:latin typeface="Arial"/>
                <a:ea typeface="Arial"/>
                <a:cs typeface="Arial"/>
              </a:defRPr>
            </a:pPr>
            <a:r>
              <a:rPr sz="1200" b="1">
                <a:solidFill>
                  <a:srgbClr val="159F9A"/>
                </a:solidFill>
                <a:latin typeface="Arial"/>
                <a:ea typeface="Arial"/>
                <a:cs typeface="Arial"/>
              </a:rPr>
              <a:t>GEOLITE2</a:t>
            </a:r>
          </a:p>
        </p:txBody>
      </p:sp>
      <p:sp>
        <p:nvSpPr>
          <p:cNvPr id="60" name="">
            <a:extLst xmlns:a="http://schemas.openxmlformats.org/drawingml/2006/main">
              <a:ext uri="{FF2B5EF4-FFF2-40B4-BE49-F238E27FC236}">
                <a16:creationId xmlns:a16="http://schemas.microsoft.com/office/drawing/2014/main" id="{25CFF219-43F7-4CB7-B4D3-B31BEDFB26B0}"/>
              </a:ext>
            </a:extLst>
          </p:cNvPr>
          <p:cNvSpPr>
            <a:spLocks xmlns:a="http://schemas.openxmlformats.org/drawingml/2006/main" noGrp="1"/>
          </p:cNvSpPr>
          <p:nvPr/>
        </p:nvSpPr>
        <p:spPr>
          <a:xfrm xmlns:a="http://schemas.openxmlformats.org/drawingml/2006/main">
            <a:off x="7600950" y="5238750"/>
            <a:ext cx="0" cy="323850"/>
          </a:xfrm>
          <a:prstGeom xmlns:a="http://schemas.openxmlformats.org/drawingml/2006/main" prst="line">
            <a:avLst/>
          </a:prstGeom>
          <a:noFill xmlns:a="http://schemas.openxmlformats.org/drawingml/2006/main"/>
          <a:ln xmlns:a="http://schemas.openxmlformats.org/drawingml/2006/main" w="19050">
            <a:solidFill>
              <a:srgbClr val="D9DED9"/>
            </a:solidFill>
            <a:prstDash val="solid"/>
          </a:ln>
        </p:spPr>
      </p:sp>
      <p:sp>
        <p:nvSpPr>
          <p:cNvPr id="61" name="">
            <a:extLst xmlns:a="http://schemas.openxmlformats.org/drawingml/2006/main">
              <a:ext uri="{FF2B5EF4-FFF2-40B4-BE49-F238E27FC236}">
                <a16:creationId xmlns:a16="http://schemas.microsoft.com/office/drawing/2014/main" id="{B0100303-E7AB-4138-A275-244119D1137A}"/>
              </a:ext>
            </a:extLst>
          </p:cNvPr>
          <p:cNvSpPr>
            <a:spLocks xmlns:a="http://schemas.openxmlformats.org/drawingml/2006/main" noGrp="1"/>
          </p:cNvSpPr>
          <p:nvPr/>
        </p:nvSpPr>
        <p:spPr>
          <a:xfrm xmlns:a="http://schemas.openxmlformats.org/drawingml/2006/main">
            <a:off x="7791450" y="5219700"/>
            <a:ext cx="1504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2C67B1"/>
                </a:solidFill>
                <a:latin typeface="Arial"/>
                <a:ea typeface="Arial"/>
                <a:cs typeface="Arial"/>
              </a:defRPr>
            </a:pPr>
            <a:r>
              <a:rPr sz="825" b="1">
                <a:solidFill>
                  <a:srgbClr val="2C67B1"/>
                </a:solidFill>
                <a:latin typeface="Arial"/>
                <a:ea typeface="Arial"/>
                <a:cs typeface="Arial"/>
              </a:rPr>
              <a:t>VT  •  ABUSEIPDB  •  URLHAUS  •  OTX</a:t>
            </a:r>
          </a:p>
        </p:txBody>
      </p:sp>
      <p:cxnSp>
        <p:nvCxnSpPr>
          <p:cNvPr id="148" name=""/>
          <p:cNvCxnSpPr>
            <a:stCxn xmlns:a="http://schemas.openxmlformats.org/drawingml/2006/main" id="17" idx="2"/>
            <a:endCxn xmlns:a="http://schemas.openxmlformats.org/drawingml/2006/main" id="26" idx="0"/>
          </p:cNvCxnSpPr>
          <p:nvPr/>
        </p:nvCxnSpPr>
        <p:spPr>
          <a:xfrm xmlns:a="http://schemas.openxmlformats.org/drawingml/2006/main">
            <a:off x="5715000" y="2247900"/>
            <a:ext cx="0" cy="17145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149" name=""/>
          <p:cNvCxnSpPr>
            <a:stCxn xmlns:a="http://schemas.openxmlformats.org/drawingml/2006/main" id="26" idx="2"/>
            <a:endCxn xmlns:a="http://schemas.openxmlformats.org/drawingml/2006/main" id="35" idx="0"/>
          </p:cNvCxnSpPr>
          <p:nvPr/>
        </p:nvCxnSpPr>
        <p:spPr>
          <a:xfrm xmlns:a="http://schemas.openxmlformats.org/drawingml/2006/main">
            <a:off x="5715000" y="3162300"/>
            <a:ext cx="0" cy="171450"/>
          </a:xfrm>
          <a:prstGeom xmlns:a="http://schemas.openxmlformats.org/drawingml/2006/main" prst="straightConnector1">
            <a:avLst/>
          </a:prstGeom>
          <a:ln xmlns:a="http://schemas.openxmlformats.org/drawingml/2006/main" w="28575">
            <a:solidFill>
              <a:srgbClr val="2C67B1"/>
            </a:solidFill>
            <a:prstDash val="solid"/>
            <a:tailEnd type="triangle" w="med" len="med"/>
          </a:ln>
        </p:spPr>
      </p:cxnSp>
      <p:cxnSp>
        <p:nvCxnSpPr>
          <p:cNvPr id="150" name=""/>
          <p:cNvCxnSpPr>
            <a:stCxn xmlns:a="http://schemas.openxmlformats.org/drawingml/2006/main" id="54" idx="0"/>
            <a:endCxn xmlns:a="http://schemas.openxmlformats.org/drawingml/2006/main" id="35" idx="2"/>
          </p:cNvCxnSpPr>
          <p:nvPr/>
        </p:nvCxnSpPr>
        <p:spPr>
          <a:xfrm xmlns:a="http://schemas.openxmlformats.org/drawingml/2006/main" flipV="1">
            <a:off x="5715000" y="4895850"/>
            <a:ext cx="0" cy="171450"/>
          </a:xfrm>
          <a:prstGeom xmlns:a="http://schemas.openxmlformats.org/drawingml/2006/main" prst="straightConnector1">
            <a:avLst/>
          </a:prstGeom>
          <a:ln xmlns:a="http://schemas.openxmlformats.org/drawingml/2006/main" w="28575">
            <a:solidFill>
              <a:srgbClr val="E5A528"/>
            </a:solidFill>
            <a:prstDash val="solid"/>
            <a:tailEnd type="triangle" w="med" len="med"/>
          </a:ln>
        </p:spPr>
      </p:cxnSp>
      <p:sp>
        <p:nvSpPr>
          <p:cNvPr id="65" name="">
            <a:extLst xmlns:a="http://schemas.openxmlformats.org/drawingml/2006/main">
              <a:ext uri="{FF2B5EF4-FFF2-40B4-BE49-F238E27FC236}">
                <a16:creationId xmlns:a16="http://schemas.microsoft.com/office/drawing/2014/main" id="{A90AB7DF-D85C-4888-AA5F-443E7461B2C2}"/>
              </a:ext>
            </a:extLst>
          </p:cNvPr>
          <p:cNvSpPr>
            <a:spLocks xmlns:a="http://schemas.openxmlformats.org/drawingml/2006/main" noGrp="1"/>
          </p:cNvSpPr>
          <p:nvPr/>
        </p:nvSpPr>
        <p:spPr>
          <a:xfrm xmlns:a="http://schemas.openxmlformats.org/drawingml/2006/main">
            <a:off x="9810750" y="1657350"/>
            <a:ext cx="1828800" cy="40767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66" name="">
            <a:extLst xmlns:a="http://schemas.openxmlformats.org/drawingml/2006/main">
              <a:ext uri="{FF2B5EF4-FFF2-40B4-BE49-F238E27FC236}">
                <a16:creationId xmlns:a16="http://schemas.microsoft.com/office/drawing/2014/main" id="{E2018D10-B6C5-4F0F-AD2E-9D51CC895C76}"/>
              </a:ext>
            </a:extLst>
          </p:cNvPr>
          <p:cNvSpPr>
            <a:spLocks xmlns:a="http://schemas.openxmlformats.org/drawingml/2006/main" noGrp="1"/>
          </p:cNvSpPr>
          <p:nvPr/>
        </p:nvSpPr>
        <p:spPr>
          <a:xfrm xmlns:a="http://schemas.openxmlformats.org/drawingml/2006/main">
            <a:off x="10001250" y="1838325"/>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103"/>
          </a:bodyPr>
          <a:lstStyle xmlns:a="http://schemas.openxmlformats.org/drawingml/2006/main"/>
          <a:p xmlns:a="http://schemas.openxmlformats.org/drawingml/2006/main">
            <a:pPr algn="ctr">
              <a:defRPr sz="1350" b="1">
                <a:solidFill>
                  <a:srgbClr val="10253F"/>
                </a:solidFill>
                <a:latin typeface="Arial"/>
                <a:ea typeface="Arial"/>
                <a:cs typeface="Arial"/>
              </a:defRPr>
            </a:pPr>
            <a:r>
              <a:rPr sz="1350" b="1">
                <a:solidFill>
                  <a:srgbClr val="10253F"/>
                </a:solidFill>
                <a:latin typeface="Arial"/>
                <a:ea typeface="Arial"/>
                <a:cs typeface="Arial"/>
              </a:rPr>
              <a:t>EVIDENCE OUTPUT</a:t>
            </a:r>
          </a:p>
        </p:txBody>
      </p:sp>
      <p:sp>
        <p:nvSpPr>
          <p:cNvPr id="67" name="">
            <a:extLst xmlns:a="http://schemas.openxmlformats.org/drawingml/2006/main">
              <a:ext uri="{FF2B5EF4-FFF2-40B4-BE49-F238E27FC236}">
                <a16:creationId xmlns:a16="http://schemas.microsoft.com/office/drawing/2014/main" id="{80172E0F-7BE9-489A-9F10-500ACBC9E8DE}"/>
              </a:ext>
            </a:extLst>
          </p:cNvPr>
          <p:cNvSpPr>
            <a:spLocks xmlns:a="http://schemas.openxmlformats.org/drawingml/2006/main" noGrp="1"/>
          </p:cNvSpPr>
          <p:nvPr/>
        </p:nvSpPr>
        <p:spPr>
          <a:xfrm xmlns:a="http://schemas.openxmlformats.org/drawingml/2006/main">
            <a:off x="10020300" y="2238375"/>
            <a:ext cx="1409700" cy="0"/>
          </a:xfrm>
          <a:prstGeom xmlns:a="http://schemas.openxmlformats.org/drawingml/2006/main" prst="line">
            <a:avLst/>
          </a:prstGeom>
          <a:noFill xmlns:a="http://schemas.openxmlformats.org/drawingml/2006/main"/>
          <a:ln xmlns:a="http://schemas.openxmlformats.org/drawingml/2006/main" w="9525">
            <a:solidFill>
              <a:srgbClr val="D9DED9"/>
            </a:solidFill>
            <a:prstDash val="solid"/>
          </a:ln>
        </p:spPr>
      </p:sp>
      <p:sp>
        <p:nvSpPr>
          <p:cNvPr id="68" name="">
            <a:extLst xmlns:a="http://schemas.openxmlformats.org/drawingml/2006/main">
              <a:ext uri="{FF2B5EF4-FFF2-40B4-BE49-F238E27FC236}">
                <a16:creationId xmlns:a16="http://schemas.microsoft.com/office/drawing/2014/main" id="{A7AD6D16-26D0-41AE-9FBB-C3CCEFACC1F0}"/>
              </a:ext>
            </a:extLst>
          </p:cNvPr>
          <p:cNvSpPr>
            <a:spLocks xmlns:a="http://schemas.openxmlformats.org/drawingml/2006/main" noGrp="1"/>
          </p:cNvSpPr>
          <p:nvPr/>
        </p:nvSpPr>
        <p:spPr>
          <a:xfrm xmlns:a="http://schemas.openxmlformats.org/drawingml/2006/main">
            <a:off x="10020300" y="2514600"/>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69" name="">
            <a:extLst xmlns:a="http://schemas.openxmlformats.org/drawingml/2006/main">
              <a:ext uri="{FF2B5EF4-FFF2-40B4-BE49-F238E27FC236}">
                <a16:creationId xmlns:a16="http://schemas.microsoft.com/office/drawing/2014/main" id="{F691B906-CB22-4B14-B7A8-2452A67B27FA}"/>
              </a:ext>
            </a:extLst>
          </p:cNvPr>
          <p:cNvSpPr>
            <a:spLocks xmlns:a="http://schemas.openxmlformats.org/drawingml/2006/main" noGrp="1"/>
          </p:cNvSpPr>
          <p:nvPr/>
        </p:nvSpPr>
        <p:spPr>
          <a:xfrm xmlns:a="http://schemas.openxmlformats.org/drawingml/2006/main">
            <a:off x="10229850" y="24288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4103"/>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RISK + CONFIDENCE</a:t>
            </a:r>
          </a:p>
        </p:txBody>
      </p:sp>
      <p:sp>
        <p:nvSpPr>
          <p:cNvPr id="70" name="">
            <a:extLst xmlns:a="http://schemas.openxmlformats.org/drawingml/2006/main">
              <a:ext uri="{FF2B5EF4-FFF2-40B4-BE49-F238E27FC236}">
                <a16:creationId xmlns:a16="http://schemas.microsoft.com/office/drawing/2014/main" id="{1D5D8612-D72B-4FD7-B1B3-6B9D0FDBDEB7}"/>
              </a:ext>
            </a:extLst>
          </p:cNvPr>
          <p:cNvSpPr>
            <a:spLocks xmlns:a="http://schemas.openxmlformats.org/drawingml/2006/main" noGrp="1"/>
          </p:cNvSpPr>
          <p:nvPr/>
        </p:nvSpPr>
        <p:spPr>
          <a:xfrm xmlns:a="http://schemas.openxmlformats.org/drawingml/2006/main">
            <a:off x="10229850" y="26670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Separate measures</a:t>
            </a:r>
          </a:p>
        </p:txBody>
      </p:sp>
      <p:sp>
        <p:nvSpPr>
          <p:cNvPr id="71" name="">
            <a:extLst xmlns:a="http://schemas.openxmlformats.org/drawingml/2006/main">
              <a:ext uri="{FF2B5EF4-FFF2-40B4-BE49-F238E27FC236}">
                <a16:creationId xmlns:a16="http://schemas.microsoft.com/office/drawing/2014/main" id="{3446B960-81F4-416F-87E5-111E6767FCE5}"/>
              </a:ext>
            </a:extLst>
          </p:cNvPr>
          <p:cNvSpPr>
            <a:spLocks xmlns:a="http://schemas.openxmlformats.org/drawingml/2006/main" noGrp="1"/>
          </p:cNvSpPr>
          <p:nvPr/>
        </p:nvSpPr>
        <p:spPr>
          <a:xfrm xmlns:a="http://schemas.openxmlformats.org/drawingml/2006/main">
            <a:off x="10020300" y="3124200"/>
            <a:ext cx="104775" cy="104775"/>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72" name="">
            <a:extLst xmlns:a="http://schemas.openxmlformats.org/drawingml/2006/main">
              <a:ext uri="{FF2B5EF4-FFF2-40B4-BE49-F238E27FC236}">
                <a16:creationId xmlns:a16="http://schemas.microsoft.com/office/drawing/2014/main" id="{4BDC8FDF-C2FF-4F54-B668-B9D778ED139D}"/>
              </a:ext>
            </a:extLst>
          </p:cNvPr>
          <p:cNvSpPr>
            <a:spLocks xmlns:a="http://schemas.openxmlformats.org/drawingml/2006/main" noGrp="1"/>
          </p:cNvSpPr>
          <p:nvPr/>
        </p:nvSpPr>
        <p:spPr>
          <a:xfrm xmlns:a="http://schemas.openxmlformats.org/drawingml/2006/main">
            <a:off x="10229850" y="30384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IOC + CAMPAIGN</a:t>
            </a:r>
          </a:p>
        </p:txBody>
      </p:sp>
      <p:sp>
        <p:nvSpPr>
          <p:cNvPr id="73" name="">
            <a:extLst xmlns:a="http://schemas.openxmlformats.org/drawingml/2006/main">
              <a:ext uri="{FF2B5EF4-FFF2-40B4-BE49-F238E27FC236}">
                <a16:creationId xmlns:a16="http://schemas.microsoft.com/office/drawing/2014/main" id="{B8768BCF-56F1-418D-A404-AA3BEEA02D73}"/>
              </a:ext>
            </a:extLst>
          </p:cNvPr>
          <p:cNvSpPr>
            <a:spLocks xmlns:a="http://schemas.openxmlformats.org/drawingml/2006/main" noGrp="1"/>
          </p:cNvSpPr>
          <p:nvPr/>
        </p:nvSpPr>
        <p:spPr>
          <a:xfrm xmlns:a="http://schemas.openxmlformats.org/drawingml/2006/main">
            <a:off x="10229850" y="32766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Linked indicators</a:t>
            </a:r>
          </a:p>
        </p:txBody>
      </p:sp>
      <p:sp>
        <p:nvSpPr>
          <p:cNvPr id="74" name="">
            <a:extLst xmlns:a="http://schemas.openxmlformats.org/drawingml/2006/main">
              <a:ext uri="{FF2B5EF4-FFF2-40B4-BE49-F238E27FC236}">
                <a16:creationId xmlns:a16="http://schemas.microsoft.com/office/drawing/2014/main" id="{2638432E-FB96-4639-8E11-EB98DD310015}"/>
              </a:ext>
            </a:extLst>
          </p:cNvPr>
          <p:cNvSpPr>
            <a:spLocks xmlns:a="http://schemas.openxmlformats.org/drawingml/2006/main" noGrp="1"/>
          </p:cNvSpPr>
          <p:nvPr/>
        </p:nvSpPr>
        <p:spPr>
          <a:xfrm xmlns:a="http://schemas.openxmlformats.org/drawingml/2006/main">
            <a:off x="10020300" y="3733800"/>
            <a:ext cx="104775" cy="104775"/>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75" name="">
            <a:extLst xmlns:a="http://schemas.openxmlformats.org/drawingml/2006/main">
              <a:ext uri="{FF2B5EF4-FFF2-40B4-BE49-F238E27FC236}">
                <a16:creationId xmlns:a16="http://schemas.microsoft.com/office/drawing/2014/main" id="{1579A72E-46DD-4B53-AD91-0B7B42F46AF8}"/>
              </a:ext>
            </a:extLst>
          </p:cNvPr>
          <p:cNvSpPr>
            <a:spLocks xmlns:a="http://schemas.openxmlformats.org/drawingml/2006/main" noGrp="1"/>
          </p:cNvSpPr>
          <p:nvPr/>
        </p:nvSpPr>
        <p:spPr>
          <a:xfrm xmlns:a="http://schemas.openxmlformats.org/drawingml/2006/main">
            <a:off x="10229850" y="36480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GRAPH + MAP</a:t>
            </a:r>
          </a:p>
        </p:txBody>
      </p:sp>
      <p:sp>
        <p:nvSpPr>
          <p:cNvPr id="76" name="">
            <a:extLst xmlns:a="http://schemas.openxmlformats.org/drawingml/2006/main">
              <a:ext uri="{FF2B5EF4-FFF2-40B4-BE49-F238E27FC236}">
                <a16:creationId xmlns:a16="http://schemas.microsoft.com/office/drawing/2014/main" id="{36F4EB30-FAD2-44A6-A841-B17387810783}"/>
              </a:ext>
            </a:extLst>
          </p:cNvPr>
          <p:cNvSpPr>
            <a:spLocks xmlns:a="http://schemas.openxmlformats.org/drawingml/2006/main" noGrp="1"/>
          </p:cNvSpPr>
          <p:nvPr/>
        </p:nvSpPr>
        <p:spPr>
          <a:xfrm xmlns:a="http://schemas.openxmlformats.org/drawingml/2006/main">
            <a:off x="10229850" y="38862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Observed infrastructure</a:t>
            </a:r>
          </a:p>
        </p:txBody>
      </p:sp>
      <p:sp>
        <p:nvSpPr>
          <p:cNvPr id="77" name="">
            <a:extLst xmlns:a="http://schemas.openxmlformats.org/drawingml/2006/main">
              <a:ext uri="{FF2B5EF4-FFF2-40B4-BE49-F238E27FC236}">
                <a16:creationId xmlns:a16="http://schemas.microsoft.com/office/drawing/2014/main" id="{6AB7BB29-76D7-4C54-AD71-AB299AC7C839}"/>
              </a:ext>
            </a:extLst>
          </p:cNvPr>
          <p:cNvSpPr>
            <a:spLocks xmlns:a="http://schemas.openxmlformats.org/drawingml/2006/main" noGrp="1"/>
          </p:cNvSpPr>
          <p:nvPr/>
        </p:nvSpPr>
        <p:spPr>
          <a:xfrm xmlns:a="http://schemas.openxmlformats.org/drawingml/2006/main">
            <a:off x="10020300" y="4343400"/>
            <a:ext cx="104775" cy="104775"/>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78" name="">
            <a:extLst xmlns:a="http://schemas.openxmlformats.org/drawingml/2006/main">
              <a:ext uri="{FF2B5EF4-FFF2-40B4-BE49-F238E27FC236}">
                <a16:creationId xmlns:a16="http://schemas.microsoft.com/office/drawing/2014/main" id="{31367240-52B6-4BC2-8A18-ABC07AA04C70}"/>
              </a:ext>
            </a:extLst>
          </p:cNvPr>
          <p:cNvSpPr>
            <a:spLocks xmlns:a="http://schemas.openxmlformats.org/drawingml/2006/main" noGrp="1"/>
          </p:cNvSpPr>
          <p:nvPr/>
        </p:nvSpPr>
        <p:spPr>
          <a:xfrm xmlns:a="http://schemas.openxmlformats.org/drawingml/2006/main">
            <a:off x="10229850" y="42576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2-PAGE REPORT</a:t>
            </a:r>
          </a:p>
        </p:txBody>
      </p:sp>
      <p:sp>
        <p:nvSpPr>
          <p:cNvPr id="79" name="">
            <a:extLst xmlns:a="http://schemas.openxmlformats.org/drawingml/2006/main">
              <a:ext uri="{FF2B5EF4-FFF2-40B4-BE49-F238E27FC236}">
                <a16:creationId xmlns:a16="http://schemas.microsoft.com/office/drawing/2014/main" id="{223509A4-84E4-4CFB-81B2-78C58865AD7E}"/>
              </a:ext>
            </a:extLst>
          </p:cNvPr>
          <p:cNvSpPr>
            <a:spLocks xmlns:a="http://schemas.openxmlformats.org/drawingml/2006/main" noGrp="1"/>
          </p:cNvSpPr>
          <p:nvPr/>
        </p:nvSpPr>
        <p:spPr>
          <a:xfrm xmlns:a="http://schemas.openxmlformats.org/drawingml/2006/main">
            <a:off x="10229850" y="44958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Evidence and limits</a:t>
            </a:r>
          </a:p>
        </p:txBody>
      </p:sp>
      <p:sp>
        <p:nvSpPr>
          <p:cNvPr id="80" name="">
            <a:extLst xmlns:a="http://schemas.openxmlformats.org/drawingml/2006/main">
              <a:ext uri="{FF2B5EF4-FFF2-40B4-BE49-F238E27FC236}">
                <a16:creationId xmlns:a16="http://schemas.microsoft.com/office/drawing/2014/main" id="{62A48F8C-63EF-49E5-8B1A-B64F9C35E46F}"/>
              </a:ext>
            </a:extLst>
          </p:cNvPr>
          <p:cNvSpPr>
            <a:spLocks xmlns:a="http://schemas.openxmlformats.org/drawingml/2006/main" noGrp="1"/>
          </p:cNvSpPr>
          <p:nvPr/>
        </p:nvSpPr>
        <p:spPr>
          <a:xfrm xmlns:a="http://schemas.openxmlformats.org/drawingml/2006/main">
            <a:off x="10020300" y="4953000"/>
            <a:ext cx="104775" cy="104775"/>
          </a:xfrm>
          <a:prstGeom xmlns:a="http://schemas.openxmlformats.org/drawingml/2006/main" prst="ellipse">
            <a:avLst/>
          </a:prstGeom>
          <a:solidFill xmlns:a="http://schemas.openxmlformats.org/drawingml/2006/main">
            <a:srgbClr val="41A36B"/>
          </a:solidFill>
          <a:ln xmlns:a="http://schemas.openxmlformats.org/drawingml/2006/main" w="0">
            <a:solidFill>
              <a:srgbClr val="41A36B"/>
            </a:solidFill>
            <a:prstDash val="solid"/>
          </a:ln>
        </p:spPr>
      </p:sp>
      <p:sp>
        <p:nvSpPr>
          <p:cNvPr id="81" name="">
            <a:extLst xmlns:a="http://schemas.openxmlformats.org/drawingml/2006/main">
              <a:ext uri="{FF2B5EF4-FFF2-40B4-BE49-F238E27FC236}">
                <a16:creationId xmlns:a16="http://schemas.microsoft.com/office/drawing/2014/main" id="{30287C6C-472C-41EF-85A0-BCF2307066BD}"/>
              </a:ext>
            </a:extLst>
          </p:cNvPr>
          <p:cNvSpPr>
            <a:spLocks xmlns:a="http://schemas.openxmlformats.org/drawingml/2006/main" noGrp="1"/>
          </p:cNvSpPr>
          <p:nvPr/>
        </p:nvSpPr>
        <p:spPr>
          <a:xfrm xmlns:a="http://schemas.openxmlformats.org/drawingml/2006/main">
            <a:off x="10229850" y="48672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CASE HISTORY</a:t>
            </a:r>
          </a:p>
        </p:txBody>
      </p:sp>
      <p:sp>
        <p:nvSpPr>
          <p:cNvPr id="82" name="">
            <a:extLst xmlns:a="http://schemas.openxmlformats.org/drawingml/2006/main">
              <a:ext uri="{FF2B5EF4-FFF2-40B4-BE49-F238E27FC236}">
                <a16:creationId xmlns:a16="http://schemas.microsoft.com/office/drawing/2014/main" id="{3A63C47D-2066-4403-A4EE-FB34C70BF282}"/>
              </a:ext>
            </a:extLst>
          </p:cNvPr>
          <p:cNvSpPr>
            <a:spLocks xmlns:a="http://schemas.openxmlformats.org/drawingml/2006/main" noGrp="1"/>
          </p:cNvSpPr>
          <p:nvPr/>
        </p:nvSpPr>
        <p:spPr>
          <a:xfrm xmlns:a="http://schemas.openxmlformats.org/drawingml/2006/main">
            <a:off x="10229850" y="51054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Private session record</a:t>
            </a:r>
          </a:p>
        </p:txBody>
      </p:sp>
      <p:cxnSp>
        <p:nvCxnSpPr>
          <p:cNvPr id="169" name=""/>
          <p:cNvCxnSpPr>
            <a:stCxn xmlns:a="http://schemas.openxmlformats.org/drawingml/2006/main" id="50" idx="6"/>
            <a:endCxn xmlns:a="http://schemas.openxmlformats.org/drawingml/2006/main" id="65" idx="1"/>
          </p:cNvCxnSpPr>
          <p:nvPr/>
        </p:nvCxnSpPr>
        <p:spPr>
          <a:xfrm xmlns:a="http://schemas.openxmlformats.org/drawingml/2006/main" flipV="1">
            <a:off x="9372600" y="3695700"/>
            <a:ext cx="438150" cy="55245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sp>
        <p:nvSpPr>
          <p:cNvPr id="84" name="">
            <a:extLst xmlns:a="http://schemas.openxmlformats.org/drawingml/2006/main">
              <a:ext uri="{FF2B5EF4-FFF2-40B4-BE49-F238E27FC236}">
                <a16:creationId xmlns:a16="http://schemas.microsoft.com/office/drawing/2014/main" id="{54AE3712-AA48-4EA8-B4DA-5451BCD96E64}"/>
              </a:ext>
            </a:extLst>
          </p:cNvPr>
          <p:cNvSpPr>
            <a:spLocks xmlns:a="http://schemas.openxmlformats.org/drawingml/2006/main" noGrp="1"/>
          </p:cNvSpPr>
          <p:nvPr/>
        </p:nvSpPr>
        <p:spPr>
          <a:xfrm xmlns:a="http://schemas.openxmlformats.org/drawingml/2006/main">
            <a:off x="571500" y="6200775"/>
            <a:ext cx="461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Missing evidence lowers coverage and never creates risk points</a:t>
            </a:r>
          </a:p>
        </p:txBody>
      </p:sp>
      <p:sp>
        <p:nvSpPr>
          <p:cNvPr id="85" name="">
            <a:extLst xmlns:a="http://schemas.openxmlformats.org/drawingml/2006/main">
              <a:ext uri="{FF2B5EF4-FFF2-40B4-BE49-F238E27FC236}">
                <a16:creationId xmlns:a16="http://schemas.microsoft.com/office/drawing/2014/main" id="{DE93110D-685B-48B1-AF7E-EB9F1737A38A}"/>
              </a:ext>
            </a:extLst>
          </p:cNvPr>
          <p:cNvSpPr>
            <a:spLocks xmlns:a="http://schemas.openxmlformats.org/drawingml/2006/main" noGrp="1"/>
          </p:cNvSpPr>
          <p:nvPr/>
        </p:nvSpPr>
        <p:spPr>
          <a:xfrm xmlns:a="http://schemas.openxmlformats.org/drawingml/2006/main">
            <a:off x="5467350" y="6200775"/>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0">
                <a:solidFill>
                  <a:srgbClr val="536273"/>
                </a:solidFill>
                <a:latin typeface="Arial"/>
                <a:ea typeface="Arial"/>
                <a:cs typeface="Arial"/>
              </a:defRPr>
            </a:pPr>
            <a:r>
              <a:rPr sz="1050" b="0">
                <a:solidFill>
                  <a:srgbClr val="536273"/>
                </a:solidFill>
                <a:latin typeface="Arial"/>
                <a:ea typeface="Arial"/>
                <a:cs typeface="Arial"/>
              </a:rPr>
              <a:t>Attachments never execute</a:t>
            </a:r>
          </a:p>
        </p:txBody>
      </p:sp>
      <p:sp>
        <p:nvSpPr>
          <p:cNvPr id="86" name="">
            <a:extLst xmlns:a="http://schemas.openxmlformats.org/drawingml/2006/main">
              <a:ext uri="{FF2B5EF4-FFF2-40B4-BE49-F238E27FC236}">
                <a16:creationId xmlns:a16="http://schemas.microsoft.com/office/drawing/2014/main" id="{03A8D395-ADDE-492E-ACBD-15BBAF4A2820}"/>
              </a:ext>
            </a:extLst>
          </p:cNvPr>
          <p:cNvSpPr>
            <a:spLocks xmlns:a="http://schemas.openxmlformats.org/drawingml/2006/main" noGrp="1"/>
          </p:cNvSpPr>
          <p:nvPr/>
        </p:nvSpPr>
        <p:spPr>
          <a:xfrm xmlns:a="http://schemas.openxmlformats.org/drawingml/2006/main">
            <a:off x="8477250" y="62007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536273"/>
                </a:solidFill>
                <a:latin typeface="Arial"/>
                <a:ea typeface="Arial"/>
                <a:cs typeface="Arial"/>
              </a:defRPr>
            </a:pPr>
            <a:r>
              <a:rPr sz="1050" b="0">
                <a:solidFill>
                  <a:srgbClr val="536273"/>
                </a:solidFill>
                <a:latin typeface="Arial"/>
                <a:ea typeface="Arial"/>
                <a:cs typeface="Arial"/>
              </a:rPr>
              <a:t>Location means observed infrastructure</a:t>
            </a:r>
          </a:p>
        </p:txBody>
      </p:sp>
    </p:spTree>
    <p:extLst>
      <p:ext uri="{BB962C8B-B14F-4D97-AF65-F5344CB8AC3E}">
        <p14:creationId xmlns:p14="http://schemas.microsoft.com/office/powerpoint/2010/main" val="20810876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2026-09-16T07:20:48.0490000Z</dcterms:created>
  <dcterms:modified xsi:type="dcterms:W3CDTF">2026-09-16T07:20:48.0490000Z</dcterms:modified>
</coreProperties>
</file>