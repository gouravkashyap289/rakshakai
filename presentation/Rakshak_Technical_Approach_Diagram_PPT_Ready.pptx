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ed7757a7b54aa5" /><Relationship Type="http://schemas.openxmlformats.org/officeDocument/2006/relationships/extended-properties" Target="/docProps/app.xml" Id="R5ec8bfbf1102494d" /><Relationship Type="http://schemas.openxmlformats.org/officeDocument/2006/relationships/officeDocument" Target="/ppt/presentation.xml" Id="Rb0635f5528ce41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6b0377026410a"/>
  </p:sldMasterIdLst>
  <p:notesMasterIdLst>
    <p:notesMasterId xmlns:r="http://schemas.openxmlformats.org/officeDocument/2006/relationships" r:id="Rd70387685a68457c"/>
  </p:notesMasterIdLst>
  <p:sldIdLst>
    <p:sldId xmlns:r="http://schemas.openxmlformats.org/officeDocument/2006/relationships" id="256" r:id="R7aa800dca5f64a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7cf5f74cf542b5" /><Relationship Type="http://schemas.openxmlformats.org/officeDocument/2006/relationships/slideMaster" Target="/ppt/slideMasters/slideMaster1.xml" Id="R9dd6b0377026410a" /><Relationship Type="http://schemas.openxmlformats.org/officeDocument/2006/relationships/notesMaster" Target="/ppt/notesMasters/notesMaster1.xml" Id="Rd70387685a68457c" /><Relationship Type="http://schemas.openxmlformats.org/officeDocument/2006/relationships/presProps" Target="/ppt/presProps.xml" Id="Re3f2f805bfec4650" /><Relationship Type="http://schemas.openxmlformats.org/officeDocument/2006/relationships/tableStyles" Target="/ppt/tableStyles.xml" Id="R0ebf4586bc9b4751" /><Relationship Type="http://schemas.openxmlformats.org/officeDocument/2006/relationships/slide" Target="/ppt/slides/slide1.xml" Id="R7aa800dca5f64a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6aaacae81e4b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f8a2256f244998" /><Relationship Type="http://schemas.openxmlformats.org/officeDocument/2006/relationships/notesMaster" Target="/ppt/notesMasters/notesMaster1.xml" Id="R9912919883ab4a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Rakshak prototype as of 16 September 2026. Sources: project MODEL_CARD.md, README.md, backend analysis pipeline, and the user-provided technical-approach reference image. The diagram intentionally excludes automatic blocking, quarantine, attribution, and automated retraining because the public website does not perform those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2ab7f3ffc45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9be87fc6284cd7" /><Relationship Type="http://schemas.openxmlformats.org/officeDocument/2006/relationships/slideLayout" Target="/ppt/slideLayouts/slideLayout1.xml" Id="R60f819e36a2b49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819e36a2b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19a4185c74455" /><Relationship Type="http://schemas.openxmlformats.org/officeDocument/2006/relationships/notesSlide" Target="/ppt/notesSlides/notesSlide1.xml" Id="R4e080e25694f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6ADF5B-6FB5-4A1A-8AE9-BAD80E66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>
              <a:alpha val="7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B757F-0F93-4067-A20A-E4AF03ED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>
              <a:alpha val="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5503E-68DD-4048-9331-770F322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66675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5C765-EEF8-40F8-861A-9A851247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RAKSHAK 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46902-261A-4A21-9094-9219D71B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905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From uploaded email to explainable forensic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03075-A166-40A1-BE3F-A116EB7C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LOCAL ANALYSIS WITH SOURCE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63BFC-EC4B-42E6-9BA4-B712EE0B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619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E78B6-3A0B-4EDB-9E96-9391F80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039E8-87C4-4A22-8FE6-06A62CB7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812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SECURE 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7A86F-239D-4C41-900E-075661E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Upload .eml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981AB-7FC9-424B-BD27-AC3CF35B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File type, MIME, size and filename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21331-D4E1-4D5C-B00E-365AEA43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2457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2F2B4-0681-41FA-9D83-C3A3452B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71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3DEBD-0DFE-4B71-BF10-DCEA9EB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2877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0D6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0D6E8"/>
                </a:solidFill>
                <a:latin typeface="Arial"/>
                <a:ea typeface="Arial"/>
                <a:cs typeface="Arial"/>
              </a:rPr>
              <a:t>SAFE EXTRACTION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D269D-A0AC-41A2-9A5D-AB72793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907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1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Parse without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E1938-7DC1-4EEB-B10B-3EC8369B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4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AAFB2-1D18-4E5E-B594-5629E42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Headers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2E267-18C4-4FC6-8D7E-3DA6DE66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Sender, route and auth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2A50F-3D82-46E2-ACA1-AFE3A4DC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AE132-7C49-4095-9B1D-DDCFA9C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3842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226A9-B5E8-41F4-9898-EF04231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Text and sanitized HTML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4236C-ACDF-4A23-ADEE-063294C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C6130-AC4B-4F79-A99C-25326B24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9560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Indicators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C7823-E58B-4EEF-AFAE-A7547D86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URLs, domains, public IPs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3B87C-6F9A-414C-8552-C127C0B6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3F30C-3E16-4E2A-9D60-C8CC397A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5277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Attachments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28BDB5-8721-45DC-9CF9-B0DDEFFA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5277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MIME, filename and bytes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71204A-0A8A-4B73-A859-60388FC6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23950"/>
            <a:ext cx="40005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5766E-2E27-48F6-992E-7A397D44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57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E7A7B-1D82-48EC-90C7-C27CB5D5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144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PARALLEL EVIDENCE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F4C07-E9A0-45B4-8AA6-8E23C0C6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12617"/>
          </a:solidFill>
          <a:ln xmlns:a="http://schemas.openxmlformats.org/drawingml/2006/main" w="9525">
            <a:solidFill>
              <a:srgbClr val="FF95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26E23-6FE1-47EC-BC93-0BA4A252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92BCB1-38A4-4F84-AE4F-E369D66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81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Rakshak AI content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A14245-3D66-4BB5-BF49-0BEDF9C4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19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TF-IDF and logistic regression with deterministic rules, threat category and evidence sentences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304239-C34C-4E9B-9567-E01B0285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66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23A"/>
          </a:solidFill>
          <a:ln xmlns:a="http://schemas.openxmlformats.org/drawingml/2006/main" w="9525">
            <a:solidFill>
              <a:srgbClr val="50D6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0F4F79-6E34-4A8B-872F-40AA466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66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866698-6E52-4625-B82E-1C04D3FE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43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Sender and infrastructure checks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53F02B-837F-47FE-83E9-A253BF55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SPF, DKIM, DMARC, sender mismatch, URLs, DNS, RDAP, IP, ASN, GeoLite2 and reputation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B8BBBB-8784-4F9D-8B3D-2F33E8FB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B3017"/>
          </a:solidFill>
          <a:ln xmlns:a="http://schemas.openxmlformats.org/drawingml/2006/main" w="9525">
            <a:solidFill>
              <a:srgbClr val="F7C55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406F0F-B77C-40AB-B81C-60E0E13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C55C"/>
          </a:solidFill>
          <a:ln xmlns:a="http://schemas.openxmlformats.org/drawingml/2006/main" w="0">
            <a:solidFill>
              <a:srgbClr val="F7C55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3C28B6-D582-41FA-BB68-116E5926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05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Attachment static analysis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DC594A-F079-464E-8372-4F8BFFC2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Filename, MIME type, extension, SHA-256, risky formats and double extensions. Files never execute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4789F3-5442-4979-8A4E-358B42CB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24000"/>
            <a:ext cx="2000250" cy="21336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A21"/>
          </a:solidFill>
          <a:ln xmlns:a="http://schemas.openxmlformats.org/drawingml/2006/main" w="9525">
            <a:solidFill>
              <a:srgbClr val="FF95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56CD8D-E5BB-4781-9FDA-40B6A914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666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6B208-2E10-4DFB-BDF4-9277FE1A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24025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EXPLAINABLE SCORING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69A2BC-B544-4165-B0F8-22A424F0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764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6199E9-7198-4A32-84FB-A417A936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76525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AI 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43697D-4C60-4C8F-9AEF-F3271D34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765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1F61EA-ED13-4850-88DF-5F012182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051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Sender + domain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BA1F2E-507C-4BD9-B78B-1B2C18D8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051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D6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605883-124B-4033-89C6-1AAF33F2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337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Actions + files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224CCC-77F8-42F7-96BD-6020B552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337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7C5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C55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7C35AE-5B04-41D4-8A11-CB8567FC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38137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D4A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8D4A1"/>
                </a:solidFill>
                <a:latin typeface="Arial"/>
                <a:ea typeface="Arial"/>
                <a:cs typeface="Arial"/>
              </a:rPr>
              <a:t>Confidence stays separate</a:t>
            </a:r>
          </a:p>
        </p:txBody>
      </p:sp>
      <p:cxnSp>
        <p:nvCxnSpPr>
          <p:cNvPr id="129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7645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5C"/>
            </a:solidFill>
            <a:prstDash val="solid"/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1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933950" y="2486025"/>
            <a:ext cx="4000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0D6E8"/>
            </a:solidFill>
            <a:prstDash val="solid"/>
            <a:tailEnd type="triangle" w="sm" len="sm"/>
          </a:ln>
        </p:spPr>
      </p:cxnSp>
      <p:cxnSp>
        <p:nvCxnSpPr>
          <p:cNvPr id="131" name=""/>
          <p:cNvCxnSpPr>
            <a:stCxn xmlns:a="http://schemas.openxmlformats.org/drawingml/2006/main" id="28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334500" y="2543175"/>
            <a:ext cx="4000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5C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D8AD73-DB85-4517-8926-24C20987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3900"/>
            <a:ext cx="92583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1217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1CF156-498F-4F4E-BB0E-34BFD9AD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29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4A1"/>
          </a:solidFill>
          <a:ln xmlns:a="http://schemas.openxmlformats.org/drawingml/2006/main" w="0">
            <a:solidFill>
              <a:srgbClr val="78D4A1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AAC797-7464-46BE-BD52-7D6BF2B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767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D4A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8D4A1"/>
                </a:solidFill>
                <a:latin typeface="Arial"/>
                <a:ea typeface="Arial"/>
                <a:cs typeface="Arial"/>
              </a:rPr>
              <a:t>PUBLIC RESULT AND FORENSIC RECORD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56A681-32BF-44B8-9E4C-A5732E06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9A4476-110B-4C4B-A705-C7BC57C5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05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Clear verdict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881628-C744-4DAF-AEB2-E2BF733D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Threat category, risk level and every contributing finding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CAF291-2B02-4C1F-A254-A356F9E8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8D800E-7546-48B3-B99D-D7881D91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05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Sender and route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854727-164E-4B2F-A79F-99F75A49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Authentication, domain age, server IP and infrastructure location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91DDAD-FB01-43BE-A2E2-D1E9CCDE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55C"/>
          </a:solidFill>
          <a:ln xmlns:a="http://schemas.openxmlformats.org/drawingml/2006/main" w="0">
            <a:solidFill>
              <a:srgbClr val="F7C55C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5EA2B5-ADBC-4A92-B311-9DDFAC1C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05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Forensic report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8BE95A-4B27-4316-A827-5EFE8D88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Two page PDF with metadata, IOCs, evidence, limits and actions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8515F0-8A51-460C-BC78-29B944C9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4A1"/>
          </a:solidFill>
          <a:ln xmlns:a="http://schemas.openxmlformats.org/drawingml/2006/main" w="0">
            <a:solidFill>
              <a:srgbClr val="78D4A1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78C5013-2F82-4A18-9FA3-C34EFFDF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05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Case intelligence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CF6AB3-1E6A-47B4-A8B4-DC7DB82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Investigation history and shared campaign indicators</a:t>
            </a:r>
          </a:p>
        </p:txBody>
      </p:sp>
      <p:cxnSp>
        <p:nvCxnSpPr>
          <p:cNvPr id="147" name=""/>
          <p:cNvCxnSpPr>
            <a:stCxn xmlns:a="http://schemas.openxmlformats.org/drawingml/2006/main" id="43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7105650" y="3657600"/>
            <a:ext cx="3629025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D4A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3673AD6-2A84-4526-8F6E-BBE419BB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23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D47661-F879-415B-A152-128FCA9D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SECURITY BOUNDARY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6245500-2491-4E39-A3AC-FAAA165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986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Unknown data remains unknown. Rakshak never executes attachments and never presents mail server geolocation as a person’s location.</a:t>
            </a:r>
          </a:p>
        </p:txBody>
      </p:sp>
    </p:spTree>
    <p:extLst>
      <p:ext uri="{BB962C8B-B14F-4D97-AF65-F5344CB8AC3E}">
        <p14:creationId xmlns:p14="http://schemas.microsoft.com/office/powerpoint/2010/main" val="1109782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2026-09-16T06:26:14.3830000Z</dcterms:created>
  <dcterms:modified xsi:type="dcterms:W3CDTF">2026-09-16T06:26:14.3830000Z</dcterms:modified>
</coreProperties>
</file>