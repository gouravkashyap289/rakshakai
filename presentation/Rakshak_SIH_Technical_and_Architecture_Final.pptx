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720feda91d4e3a" /><Relationship Type="http://schemas.openxmlformats.org/officeDocument/2006/relationships/extended-properties" Target="/docProps/app.xml" Id="Red5d583cc9c741a6" /><Relationship Type="http://schemas.openxmlformats.org/officeDocument/2006/relationships/officeDocument" Target="/ppt/presentation.xml" Id="Rf8b3a039baed4b99" /></Relationships>
</file>

<file path=ppt/presentation.xml><?xml version="1.0" encoding="utf-8"?>
<p:presentation xmlns:p="http://schemas.openxmlformats.org/presentationml/2006/main">
  <p:sldMasterIdLst>
    <p:sldMasterId xmlns:r="http://schemas.openxmlformats.org/officeDocument/2006/relationships" id="2147483648" r:id="Rca30bba0d47b45aa"/>
  </p:sldMasterIdLst>
  <p:notesMasterIdLst>
    <p:notesMasterId xmlns:r="http://schemas.openxmlformats.org/officeDocument/2006/relationships" r:id="Rd38f27544db24461"/>
  </p:notesMasterIdLst>
  <p:sldIdLst>
    <p:sldId xmlns:r="http://schemas.openxmlformats.org/officeDocument/2006/relationships" id="256" r:id="Rab4cbeebda5744ea"/>
    <p:sldId xmlns:r="http://schemas.openxmlformats.org/officeDocument/2006/relationships" id="257" r:id="Rff3b4316d7c14c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875f677a5941e6" /><Relationship Type="http://schemas.openxmlformats.org/officeDocument/2006/relationships/slideMaster" Target="/ppt/slideMasters/slideMaster1.xml" Id="Rca30bba0d47b45aa" /><Relationship Type="http://schemas.openxmlformats.org/officeDocument/2006/relationships/notesMaster" Target="/ppt/notesMasters/notesMaster1.xml" Id="Rd38f27544db24461" /><Relationship Type="http://schemas.openxmlformats.org/officeDocument/2006/relationships/presProps" Target="/ppt/presProps.xml" Id="R58c351d9bcf64df1" /><Relationship Type="http://schemas.openxmlformats.org/officeDocument/2006/relationships/tableStyles" Target="/ppt/tableStyles.xml" Id="Rd23f2b8597704d30" /><Relationship Type="http://schemas.openxmlformats.org/officeDocument/2006/relationships/slide" Target="/ppt/slides/slide1.xml" Id="Rab4cbeebda5744ea" /><Relationship Type="http://schemas.openxmlformats.org/officeDocument/2006/relationships/slide" Target="/ppt/slides/slide2.xml" Id="Rff3b4316d7c14c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467233260846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8df08715104393" /><Relationship Type="http://schemas.openxmlformats.org/officeDocument/2006/relationships/notesMaster" Target="/ppt/notesMasters/notesMaster1.xml" Id="Rdcbe28842f2f44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291c9f3c97401b" /><Relationship Type="http://schemas.openxmlformats.org/officeDocument/2006/relationships/notesMaster" Target="/ppt/notesMasters/notesMaster1.xml" Id="R7136a801784a4c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Rakshak architecture reflects the implemented prototype as of 16 September 2026. Design research: Microsoft Support recommends readable sans-serif fonts, high contrast, restrained backgrounds, minimal slide text, and cohesive process graphics. Sources: https://support.microsoft.com/en-us/powerpoint/tips-for-creating-and-delivering-an-effective-presentation and https://support.microsoft.com/en-gb/powerpoint/create-professional-slide-layouts-with-designer. Official SIH submission guidance references an idea presentation format: https://www.sih.gov.in/pdf/IdeasubmissionprocessSIH2020.pdf.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Rakshak system architecture reflects the implemented prototype as of 16 September 2026. The FastAPI layer enforces upload and session controls. Analysis modules combine local text classification and deterministic rules with email, domain, IP, attachment and configured threat-intelligence evidence. Geolocation describes observed infrastructure and cannot establish a person's physical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cd9167ca094a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79c15c0f854d19" /><Relationship Type="http://schemas.openxmlformats.org/officeDocument/2006/relationships/slideLayout" Target="/ppt/slideLayouts/slideLayout1.xml" Id="R23ea0e217ff4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ea0e217ff4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a7b75db3204bd1" /><Relationship Type="http://schemas.openxmlformats.org/officeDocument/2006/relationships/notesSlide" Target="/ppt/notesSlides/notesSlide1.xml" Id="Rd7c0df3b6e1f46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671521363948c8" /><Relationship Type="http://schemas.openxmlformats.org/officeDocument/2006/relationships/notesSlide" Target="/ppt/notesSlides/notesSlide2.xml" Id="Rf175fdf5afe64b11"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1C796281-E2FD-4999-AB91-2374A4DFB5C1}"/>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FCE8D9"/>
          </a:solidFill>
          <a:ln xmlns:a="http://schemas.openxmlformats.org/drawingml/2006/main" w="0">
            <a:solidFill>
              <a:srgbClr val="FCE8D9"/>
            </a:solidFill>
            <a:prstDash val="solid"/>
          </a:ln>
        </p:spPr>
      </p:sp>
      <p:sp>
        <p:nvSpPr>
          <p:cNvPr id="2" name="">
            <a:extLst xmlns:a="http://schemas.openxmlformats.org/drawingml/2006/main">
              <a:ext uri="{FF2B5EF4-FFF2-40B4-BE49-F238E27FC236}">
                <a16:creationId xmlns:a16="http://schemas.microsoft.com/office/drawing/2014/main" id="{05F539E6-4415-43A0-B072-1594C0CC2605}"/>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DDF3F0"/>
          </a:solidFill>
          <a:ln xmlns:a="http://schemas.openxmlformats.org/drawingml/2006/main" w="0">
            <a:solidFill>
              <a:srgbClr val="DDF3F0"/>
            </a:solidFill>
            <a:prstDash val="solid"/>
          </a:ln>
        </p:spPr>
      </p:sp>
      <p:sp>
        <p:nvSpPr>
          <p:cNvPr id="3" name="">
            <a:extLst xmlns:a="http://schemas.openxmlformats.org/drawingml/2006/main">
              <a:ext uri="{FF2B5EF4-FFF2-40B4-BE49-F238E27FC236}">
                <a16:creationId xmlns:a16="http://schemas.microsoft.com/office/drawing/2014/main" id="{3E714A5C-840E-4B08-9828-FFE7A37EE3F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7D3B"/>
          </a:solidFill>
          <a:ln xmlns:a="http://schemas.openxmlformats.org/drawingml/2006/main" w="0">
            <a:solidFill>
              <a:srgbClr val="F07D3B"/>
            </a:solidFill>
            <a:prstDash val="solid"/>
          </a:ln>
        </p:spPr>
      </p:sp>
      <p:sp>
        <p:nvSpPr>
          <p:cNvPr id="4" name="">
            <a:extLst xmlns:a="http://schemas.openxmlformats.org/drawingml/2006/main">
              <a:ext uri="{FF2B5EF4-FFF2-40B4-BE49-F238E27FC236}">
                <a16:creationId xmlns:a16="http://schemas.microsoft.com/office/drawing/2014/main" id="{C3C90000-8ADD-4C44-A552-C01E1CF51F0F}"/>
              </a:ext>
            </a:extLst>
          </p:cNvPr>
          <p:cNvSpPr>
            <a:spLocks xmlns:a="http://schemas.openxmlformats.org/drawingml/2006/main" noGrp="1"/>
          </p:cNvSpPr>
          <p:nvPr/>
        </p:nvSpPr>
        <p:spPr>
          <a:xfrm xmlns:a="http://schemas.openxmlformats.org/drawingml/2006/main">
            <a:off x="552450" y="409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450" b="1">
                <a:solidFill>
                  <a:srgbClr val="10253F"/>
                </a:solidFill>
                <a:latin typeface="Arial"/>
                <a:ea typeface="Arial"/>
                <a:cs typeface="Arial"/>
              </a:defRPr>
            </a:pPr>
            <a:r>
              <a:rPr sz="3450" b="1">
                <a:solidFill>
                  <a:srgbClr val="10253F"/>
                </a:solidFill>
                <a:latin typeface="Arial"/>
                <a:ea typeface="Arial"/>
                <a:cs typeface="Arial"/>
              </a:rPr>
              <a:t>TECHNICAL APPROACH</a:t>
            </a:r>
          </a:p>
        </p:txBody>
      </p:sp>
      <p:sp>
        <p:nvSpPr>
          <p:cNvPr id="5" name="">
            <a:extLst xmlns:a="http://schemas.openxmlformats.org/drawingml/2006/main">
              <a:ext uri="{FF2B5EF4-FFF2-40B4-BE49-F238E27FC236}">
                <a16:creationId xmlns:a16="http://schemas.microsoft.com/office/drawing/2014/main" id="{3CC032B4-25BF-476F-8840-99E82AA2BBD2}"/>
              </a:ext>
            </a:extLst>
          </p:cNvPr>
          <p:cNvSpPr>
            <a:spLocks xmlns:a="http://schemas.openxmlformats.org/drawingml/2006/main" noGrp="1"/>
          </p:cNvSpPr>
          <p:nvPr/>
        </p:nvSpPr>
        <p:spPr>
          <a:xfrm xmlns:a="http://schemas.openxmlformats.org/drawingml/2006/main">
            <a:off x="571500" y="971550"/>
            <a:ext cx="828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536273"/>
                </a:solidFill>
                <a:latin typeface="Arial"/>
                <a:ea typeface="Arial"/>
                <a:cs typeface="Arial"/>
              </a:defRPr>
            </a:pPr>
            <a:r>
              <a:rPr sz="1575" b="0">
                <a:solidFill>
                  <a:srgbClr val="536273"/>
                </a:solidFill>
                <a:latin typeface="Arial"/>
                <a:ea typeface="Arial"/>
                <a:cs typeface="Arial"/>
              </a:rPr>
              <a:t>RAKSHAK converts an original .eml file into an explainable forensic verdict</a:t>
            </a:r>
          </a:p>
        </p:txBody>
      </p:sp>
      <p:sp>
        <p:nvSpPr>
          <p:cNvPr id="6" name="">
            <a:extLst xmlns:a="http://schemas.openxmlformats.org/drawingml/2006/main">
              <a:ext uri="{FF2B5EF4-FFF2-40B4-BE49-F238E27FC236}">
                <a16:creationId xmlns:a16="http://schemas.microsoft.com/office/drawing/2014/main" id="{87B82318-7CEF-42F6-BDA5-019C63D1F653}"/>
              </a:ext>
            </a:extLst>
          </p:cNvPr>
          <p:cNvSpPr>
            <a:spLocks xmlns:a="http://schemas.openxmlformats.org/drawingml/2006/main" noGrp="1"/>
          </p:cNvSpPr>
          <p:nvPr/>
        </p:nvSpPr>
        <p:spPr>
          <a:xfrm xmlns:a="http://schemas.openxmlformats.org/drawingml/2006/main">
            <a:off x="9810750" y="514350"/>
            <a:ext cx="17907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0668127-8B63-46CA-AE7D-E91ACBD8FEC7}"/>
              </a:ext>
            </a:extLst>
          </p:cNvPr>
          <p:cNvSpPr>
            <a:spLocks xmlns:a="http://schemas.openxmlformats.org/drawingml/2006/main" noGrp="1"/>
          </p:cNvSpPr>
          <p:nvPr/>
        </p:nvSpPr>
        <p:spPr>
          <a:xfrm xmlns:a="http://schemas.openxmlformats.org/drawingml/2006/main">
            <a:off x="9982200" y="657225"/>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8" name="">
            <a:extLst xmlns:a="http://schemas.openxmlformats.org/drawingml/2006/main">
              <a:ext uri="{FF2B5EF4-FFF2-40B4-BE49-F238E27FC236}">
                <a16:creationId xmlns:a16="http://schemas.microsoft.com/office/drawing/2014/main" id="{B594957A-2D4E-4451-B06B-0123C632670B}"/>
              </a:ext>
            </a:extLst>
          </p:cNvPr>
          <p:cNvSpPr>
            <a:spLocks xmlns:a="http://schemas.openxmlformats.org/drawingml/2006/main" noGrp="1"/>
          </p:cNvSpPr>
          <p:nvPr/>
        </p:nvSpPr>
        <p:spPr>
          <a:xfrm xmlns:a="http://schemas.openxmlformats.org/drawingml/2006/main">
            <a:off x="10172700" y="552450"/>
            <a:ext cx="1257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0253F"/>
                </a:solidFill>
                <a:latin typeface="Arial"/>
                <a:ea typeface="Arial"/>
                <a:cs typeface="Arial"/>
              </a:defRPr>
            </a:pPr>
            <a:r>
              <a:rPr sz="975" b="1">
                <a:solidFill>
                  <a:srgbClr val="10253F"/>
                </a:solidFill>
                <a:latin typeface="Arial"/>
                <a:ea typeface="Arial"/>
                <a:cs typeface="Arial"/>
              </a:rPr>
              <a:t>SMART INDIA HACKATHON</a:t>
            </a:r>
          </a:p>
        </p:txBody>
      </p:sp>
      <p:sp>
        <p:nvSpPr>
          <p:cNvPr id="9" name="">
            <a:extLst xmlns:a="http://schemas.openxmlformats.org/drawingml/2006/main">
              <a:ext uri="{FF2B5EF4-FFF2-40B4-BE49-F238E27FC236}">
                <a16:creationId xmlns:a16="http://schemas.microsoft.com/office/drawing/2014/main" id="{366AD47B-EFE2-48AF-88F0-5CABF45F81A4}"/>
              </a:ext>
            </a:extLst>
          </p:cNvPr>
          <p:cNvSpPr>
            <a:spLocks xmlns:a="http://schemas.openxmlformats.org/drawingml/2006/main" noGrp="1"/>
          </p:cNvSpPr>
          <p:nvPr/>
        </p:nvSpPr>
        <p:spPr>
          <a:xfrm xmlns:a="http://schemas.openxmlformats.org/drawingml/2006/main">
            <a:off x="933450" y="3162300"/>
            <a:ext cx="10325100" cy="0"/>
          </a:xfrm>
          <a:prstGeom xmlns:a="http://schemas.openxmlformats.org/drawingml/2006/main" prst="line">
            <a:avLst/>
          </a:prstGeom>
          <a:noFill xmlns:a="http://schemas.openxmlformats.org/drawingml/2006/main"/>
          <a:ln xmlns:a="http://schemas.openxmlformats.org/drawingml/2006/main" w="28575">
            <a:solidFill>
              <a:srgbClr val="C7CEC9"/>
            </a:solidFill>
            <a:prstDash val="solid"/>
          </a:ln>
        </p:spPr>
      </p:sp>
      <p:sp>
        <p:nvSpPr>
          <p:cNvPr id="10" name="">
            <a:extLst xmlns:a="http://schemas.openxmlformats.org/drawingml/2006/main">
              <a:ext uri="{FF2B5EF4-FFF2-40B4-BE49-F238E27FC236}">
                <a16:creationId xmlns:a16="http://schemas.microsoft.com/office/drawing/2014/main" id="{6471E9F8-C0E8-4064-BA54-9866EE7AC502}"/>
              </a:ext>
            </a:extLst>
          </p:cNvPr>
          <p:cNvSpPr>
            <a:spLocks xmlns:a="http://schemas.openxmlformats.org/drawingml/2006/main" noGrp="1"/>
          </p:cNvSpPr>
          <p:nvPr/>
        </p:nvSpPr>
        <p:spPr>
          <a:xfrm xmlns:a="http://schemas.openxmlformats.org/drawingml/2006/main">
            <a:off x="74295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11" name="">
            <a:extLst xmlns:a="http://schemas.openxmlformats.org/drawingml/2006/main">
              <a:ext uri="{FF2B5EF4-FFF2-40B4-BE49-F238E27FC236}">
                <a16:creationId xmlns:a16="http://schemas.microsoft.com/office/drawing/2014/main" id="{A78994DC-A01F-434D-BD59-898BD800F20B}"/>
              </a:ext>
            </a:extLst>
          </p:cNvPr>
          <p:cNvSpPr>
            <a:spLocks xmlns:a="http://schemas.openxmlformats.org/drawingml/2006/main" noGrp="1"/>
          </p:cNvSpPr>
          <p:nvPr/>
        </p:nvSpPr>
        <p:spPr>
          <a:xfrm xmlns:a="http://schemas.openxmlformats.org/drawingml/2006/main">
            <a:off x="781050" y="1981200"/>
            <a:ext cx="400050" cy="4000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BCD5E250-BC9F-4959-9580-89570A499311}"/>
              </a:ext>
            </a:extLst>
          </p:cNvPr>
          <p:cNvSpPr>
            <a:spLocks xmlns:a="http://schemas.openxmlformats.org/drawingml/2006/main" noGrp="1"/>
          </p:cNvSpPr>
          <p:nvPr/>
        </p:nvSpPr>
        <p:spPr>
          <a:xfrm xmlns:a="http://schemas.openxmlformats.org/drawingml/2006/main">
            <a:off x="542925" y="2447925"/>
            <a:ext cx="1257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588"/>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EMAIL INTAKE</a:t>
            </a:r>
          </a:p>
        </p:txBody>
      </p:sp>
      <p:sp>
        <p:nvSpPr>
          <p:cNvPr id="13" name="">
            <a:extLst xmlns:a="http://schemas.openxmlformats.org/drawingml/2006/main">
              <a:ext uri="{FF2B5EF4-FFF2-40B4-BE49-F238E27FC236}">
                <a16:creationId xmlns:a16="http://schemas.microsoft.com/office/drawing/2014/main" id="{B409E650-E986-4DC7-8BA3-616216AFAB8A}"/>
              </a:ext>
            </a:extLst>
          </p:cNvPr>
          <p:cNvSpPr>
            <a:spLocks xmlns:a="http://schemas.openxmlformats.org/drawingml/2006/main" noGrp="1"/>
          </p:cNvSpPr>
          <p:nvPr/>
        </p:nvSpPr>
        <p:spPr>
          <a:xfrm xmlns:a="http://schemas.openxmlformats.org/drawingml/2006/main">
            <a:off x="428625" y="3571875"/>
            <a:ext cx="1381125"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A8FABEC-18CB-4F06-9B59-ED6C275CE2B9}"/>
              </a:ext>
            </a:extLst>
          </p:cNvPr>
          <p:cNvSpPr>
            <a:spLocks xmlns:a="http://schemas.openxmlformats.org/drawingml/2006/main" noGrp="1"/>
          </p:cNvSpPr>
          <p:nvPr/>
        </p:nvSpPr>
        <p:spPr>
          <a:xfrm xmlns:a="http://schemas.openxmlformats.org/drawingml/2006/main">
            <a:off x="590550" y="364807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7222"/>
          </a:bodyPr>
          <a:lstStyle xmlns:a="http://schemas.openxmlformats.org/drawingml/2006/main"/>
          <a:p xmlns:a="http://schemas.openxmlformats.org/drawingml/2006/main">
            <a:pPr algn="ctr">
              <a:buNone/>
              <a:defRPr sz="1800" b="1">
                <a:solidFill>
                  <a:srgbClr val="F07D3B"/>
                </a:solidFill>
                <a:latin typeface="Arial"/>
                <a:ea typeface="Arial"/>
                <a:cs typeface="Arial"/>
              </a:defRPr>
            </a:pPr>
            <a:r>
              <a:rPr sz="1800" b="1">
                <a:solidFill>
                  <a:srgbClr val="F07D3B"/>
                </a:solidFill>
                <a:latin typeface="Arial"/>
                <a:ea typeface="Arial"/>
                <a:cs typeface="Arial"/>
              </a:rPr>
              <a:t>.EML</a:t>
            </a:r>
          </a:p>
        </p:txBody>
      </p:sp>
      <p:sp>
        <p:nvSpPr>
          <p:cNvPr id="15" name="">
            <a:extLst xmlns:a="http://schemas.openxmlformats.org/drawingml/2006/main">
              <a:ext uri="{FF2B5EF4-FFF2-40B4-BE49-F238E27FC236}">
                <a16:creationId xmlns:a16="http://schemas.microsoft.com/office/drawing/2014/main" id="{52882A98-3509-4814-9A4B-C47164558652}"/>
              </a:ext>
            </a:extLst>
          </p:cNvPr>
          <p:cNvSpPr>
            <a:spLocks xmlns:a="http://schemas.openxmlformats.org/drawingml/2006/main" noGrp="1"/>
          </p:cNvSpPr>
          <p:nvPr/>
        </p:nvSpPr>
        <p:spPr>
          <a:xfrm xmlns:a="http://schemas.openxmlformats.org/drawingml/2006/main">
            <a:off x="571500" y="3924300"/>
            <a:ext cx="1095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863"/>
          </a:bodyPr>
          <a:lstStyle xmlns:a="http://schemas.openxmlformats.org/drawingml/2006/main"/>
          <a:p xmlns:a="http://schemas.openxmlformats.org/drawingml/2006/main">
            <a:pPr algn="ctr">
              <a:buNone/>
              <a:defRPr sz="1125" b="0">
                <a:solidFill>
                  <a:srgbClr val="536273"/>
                </a:solidFill>
                <a:latin typeface="Arial"/>
                <a:ea typeface="Arial"/>
                <a:cs typeface="Arial"/>
              </a:defRPr>
            </a:pPr>
            <a:r>
              <a:rPr sz="1125" b="0">
                <a:solidFill>
                  <a:srgbClr val="536273"/>
                </a:solidFill>
                <a:latin typeface="Arial"/>
                <a:ea typeface="Arial"/>
                <a:cs typeface="Arial"/>
              </a:rPr>
              <a:t>Size + MIME check</a:t>
            </a:r>
          </a:p>
        </p:txBody>
      </p:sp>
      <p:sp>
        <p:nvSpPr>
          <p:cNvPr id="16" name="">
            <a:extLst xmlns:a="http://schemas.openxmlformats.org/drawingml/2006/main">
              <a:ext uri="{FF2B5EF4-FFF2-40B4-BE49-F238E27FC236}">
                <a16:creationId xmlns:a16="http://schemas.microsoft.com/office/drawing/2014/main" id="{833EE6D0-3012-4718-A3C0-407E7126AB06}"/>
              </a:ext>
            </a:extLst>
          </p:cNvPr>
          <p:cNvSpPr>
            <a:spLocks xmlns:a="http://schemas.openxmlformats.org/drawingml/2006/main" noGrp="1"/>
          </p:cNvSpPr>
          <p:nvPr/>
        </p:nvSpPr>
        <p:spPr>
          <a:xfrm xmlns:a="http://schemas.openxmlformats.org/drawingml/2006/main">
            <a:off x="2619375"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159F9A"/>
            </a:solidFill>
            <a:prstDash val="solid"/>
          </a:ln>
        </p:spPr>
      </p:sp>
      <p:sp>
        <p:nvSpPr>
          <p:cNvPr id="17" name="">
            <a:extLst xmlns:a="http://schemas.openxmlformats.org/drawingml/2006/main">
              <a:ext uri="{FF2B5EF4-FFF2-40B4-BE49-F238E27FC236}">
                <a16:creationId xmlns:a16="http://schemas.microsoft.com/office/drawing/2014/main" id="{84A0FCA4-56CC-4A61-9D37-8EFF628078C1}"/>
              </a:ext>
            </a:extLst>
          </p:cNvPr>
          <p:cNvSpPr>
            <a:spLocks xmlns:a="http://schemas.openxmlformats.org/drawingml/2006/main" noGrp="1"/>
          </p:cNvSpPr>
          <p:nvPr/>
        </p:nvSpPr>
        <p:spPr>
          <a:xfrm xmlns:a="http://schemas.openxmlformats.org/drawingml/2006/main">
            <a:off x="2657475" y="1981200"/>
            <a:ext cx="400050" cy="400050"/>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0125EE3B-DAD3-4F08-8D8B-211063AAF7ED}"/>
              </a:ext>
            </a:extLst>
          </p:cNvPr>
          <p:cNvSpPr>
            <a:spLocks xmlns:a="http://schemas.openxmlformats.org/drawingml/2006/main" noGrp="1"/>
          </p:cNvSpPr>
          <p:nvPr/>
        </p:nvSpPr>
        <p:spPr>
          <a:xfrm xmlns:a="http://schemas.openxmlformats.org/drawingml/2006/main">
            <a:off x="2219325" y="2447925"/>
            <a:ext cx="1276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67569"/>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SAFE EXTRACTION</a:t>
            </a:r>
          </a:p>
        </p:txBody>
      </p:sp>
      <p:sp>
        <p:nvSpPr>
          <p:cNvPr id="19" name="">
            <a:extLst xmlns:a="http://schemas.openxmlformats.org/drawingml/2006/main">
              <a:ext uri="{FF2B5EF4-FFF2-40B4-BE49-F238E27FC236}">
                <a16:creationId xmlns:a16="http://schemas.microsoft.com/office/drawing/2014/main" id="{63915A16-D71C-4F96-9F75-23F8D48A500A}"/>
              </a:ext>
            </a:extLst>
          </p:cNvPr>
          <p:cNvSpPr>
            <a:spLocks xmlns:a="http://schemas.openxmlformats.org/drawingml/2006/main" noGrp="1"/>
          </p:cNvSpPr>
          <p:nvPr/>
        </p:nvSpPr>
        <p:spPr>
          <a:xfrm xmlns:a="http://schemas.openxmlformats.org/drawingml/2006/main">
            <a:off x="2238375" y="3590925"/>
            <a:ext cx="60960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0" name="">
            <a:extLst xmlns:a="http://schemas.openxmlformats.org/drawingml/2006/main">
              <a:ext uri="{FF2B5EF4-FFF2-40B4-BE49-F238E27FC236}">
                <a16:creationId xmlns:a16="http://schemas.microsoft.com/office/drawing/2014/main" id="{C06D8391-73EE-4CE0-AC0D-F55406C71E43}"/>
              </a:ext>
            </a:extLst>
          </p:cNvPr>
          <p:cNvSpPr>
            <a:spLocks xmlns:a="http://schemas.openxmlformats.org/drawingml/2006/main" noGrp="1"/>
          </p:cNvSpPr>
          <p:nvPr/>
        </p:nvSpPr>
        <p:spPr>
          <a:xfrm xmlns:a="http://schemas.openxmlformats.org/drawingml/2006/main">
            <a:off x="2238375" y="35909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HEADER</a:t>
            </a:r>
          </a:p>
        </p:txBody>
      </p:sp>
      <p:sp>
        <p:nvSpPr>
          <p:cNvPr id="21" name="">
            <a:extLst xmlns:a="http://schemas.openxmlformats.org/drawingml/2006/main">
              <a:ext uri="{FF2B5EF4-FFF2-40B4-BE49-F238E27FC236}">
                <a16:creationId xmlns:a16="http://schemas.microsoft.com/office/drawing/2014/main" id="{60E3634F-45CF-46FC-A8D4-3A5B9D7E260F}"/>
              </a:ext>
            </a:extLst>
          </p:cNvPr>
          <p:cNvSpPr>
            <a:spLocks xmlns:a="http://schemas.openxmlformats.org/drawingml/2006/main" noGrp="1"/>
          </p:cNvSpPr>
          <p:nvPr/>
        </p:nvSpPr>
        <p:spPr>
          <a:xfrm xmlns:a="http://schemas.openxmlformats.org/drawingml/2006/main">
            <a:off x="2924175" y="3590925"/>
            <a:ext cx="6096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59F9A"/>
            </a:solidFill>
            <a:prstDash val="solid"/>
          </a:ln>
        </p:spPr>
      </p:sp>
      <p:sp>
        <p:nvSpPr>
          <p:cNvPr id="22" name="">
            <a:extLst xmlns:a="http://schemas.openxmlformats.org/drawingml/2006/main">
              <a:ext uri="{FF2B5EF4-FFF2-40B4-BE49-F238E27FC236}">
                <a16:creationId xmlns:a16="http://schemas.microsoft.com/office/drawing/2014/main" id="{2716BBC3-6916-49A8-A6C2-3A42241441EC}"/>
              </a:ext>
            </a:extLst>
          </p:cNvPr>
          <p:cNvSpPr>
            <a:spLocks xmlns:a="http://schemas.openxmlformats.org/drawingml/2006/main" noGrp="1"/>
          </p:cNvSpPr>
          <p:nvPr/>
        </p:nvSpPr>
        <p:spPr>
          <a:xfrm xmlns:a="http://schemas.openxmlformats.org/drawingml/2006/main">
            <a:off x="2924175" y="35909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BODY</a:t>
            </a:r>
          </a:p>
        </p:txBody>
      </p:sp>
      <p:sp>
        <p:nvSpPr>
          <p:cNvPr id="23" name="">
            <a:extLst xmlns:a="http://schemas.openxmlformats.org/drawingml/2006/main">
              <a:ext uri="{FF2B5EF4-FFF2-40B4-BE49-F238E27FC236}">
                <a16:creationId xmlns:a16="http://schemas.microsoft.com/office/drawing/2014/main" id="{B6B2529F-F436-42AA-9707-A3B56A5FB4C7}"/>
              </a:ext>
            </a:extLst>
          </p:cNvPr>
          <p:cNvSpPr>
            <a:spLocks xmlns:a="http://schemas.openxmlformats.org/drawingml/2006/main" noGrp="1"/>
          </p:cNvSpPr>
          <p:nvPr/>
        </p:nvSpPr>
        <p:spPr>
          <a:xfrm xmlns:a="http://schemas.openxmlformats.org/drawingml/2006/main">
            <a:off x="2238375" y="3933825"/>
            <a:ext cx="60960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4" name="">
            <a:extLst xmlns:a="http://schemas.openxmlformats.org/drawingml/2006/main">
              <a:ext uri="{FF2B5EF4-FFF2-40B4-BE49-F238E27FC236}">
                <a16:creationId xmlns:a16="http://schemas.microsoft.com/office/drawing/2014/main" id="{FEBEC7DD-DC0B-4225-906B-ADF79F978C07}"/>
              </a:ext>
            </a:extLst>
          </p:cNvPr>
          <p:cNvSpPr>
            <a:spLocks xmlns:a="http://schemas.openxmlformats.org/drawingml/2006/main" noGrp="1"/>
          </p:cNvSpPr>
          <p:nvPr/>
        </p:nvSpPr>
        <p:spPr>
          <a:xfrm xmlns:a="http://schemas.openxmlformats.org/drawingml/2006/main">
            <a:off x="2238375" y="3933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LINKS</a:t>
            </a:r>
          </a:p>
        </p:txBody>
      </p:sp>
      <p:sp>
        <p:nvSpPr>
          <p:cNvPr id="25" name="">
            <a:extLst xmlns:a="http://schemas.openxmlformats.org/drawingml/2006/main">
              <a:ext uri="{FF2B5EF4-FFF2-40B4-BE49-F238E27FC236}">
                <a16:creationId xmlns:a16="http://schemas.microsoft.com/office/drawing/2014/main" id="{36614B07-EA5F-45CA-926B-3469BB1B553A}"/>
              </a:ext>
            </a:extLst>
          </p:cNvPr>
          <p:cNvSpPr>
            <a:spLocks xmlns:a="http://schemas.openxmlformats.org/drawingml/2006/main" noGrp="1"/>
          </p:cNvSpPr>
          <p:nvPr/>
        </p:nvSpPr>
        <p:spPr>
          <a:xfrm xmlns:a="http://schemas.openxmlformats.org/drawingml/2006/main">
            <a:off x="2924175" y="3933825"/>
            <a:ext cx="6096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59F9A"/>
            </a:solidFill>
            <a:prstDash val="solid"/>
          </a:ln>
        </p:spPr>
      </p:sp>
      <p:sp>
        <p:nvSpPr>
          <p:cNvPr id="26" name="">
            <a:extLst xmlns:a="http://schemas.openxmlformats.org/drawingml/2006/main">
              <a:ext uri="{FF2B5EF4-FFF2-40B4-BE49-F238E27FC236}">
                <a16:creationId xmlns:a16="http://schemas.microsoft.com/office/drawing/2014/main" id="{765C2ACC-B998-4C0B-87F0-F8F72E8FE324}"/>
              </a:ext>
            </a:extLst>
          </p:cNvPr>
          <p:cNvSpPr>
            <a:spLocks xmlns:a="http://schemas.openxmlformats.org/drawingml/2006/main" noGrp="1"/>
          </p:cNvSpPr>
          <p:nvPr/>
        </p:nvSpPr>
        <p:spPr>
          <a:xfrm xmlns:a="http://schemas.openxmlformats.org/drawingml/2006/main">
            <a:off x="2924175" y="3933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FILES</a:t>
            </a:r>
          </a:p>
        </p:txBody>
      </p:sp>
      <p:sp>
        <p:nvSpPr>
          <p:cNvPr id="27" name="">
            <a:extLst xmlns:a="http://schemas.openxmlformats.org/drawingml/2006/main">
              <a:ext uri="{FF2B5EF4-FFF2-40B4-BE49-F238E27FC236}">
                <a16:creationId xmlns:a16="http://schemas.microsoft.com/office/drawing/2014/main" id="{90CD5417-AB14-4EEC-85A1-3FE623BDAD0F}"/>
              </a:ext>
            </a:extLst>
          </p:cNvPr>
          <p:cNvSpPr>
            <a:spLocks xmlns:a="http://schemas.openxmlformats.org/drawingml/2006/main" noGrp="1"/>
          </p:cNvSpPr>
          <p:nvPr/>
        </p:nvSpPr>
        <p:spPr>
          <a:xfrm xmlns:a="http://schemas.openxmlformats.org/drawingml/2006/main">
            <a:off x="3905250" y="1657350"/>
            <a:ext cx="3790950" cy="3105150"/>
          </a:xfrm>
          <a:prstGeom xmlns:a="http://schemas.openxmlformats.org/drawingml/2006/main" prst="roundRect">
            <a:avLst>
              <a:gd name="adj" fmla="val 4908"/>
            </a:avLst>
          </a:prstGeom>
          <a:solidFill xmlns:a="http://schemas.openxmlformats.org/drawingml/2006/main">
            <a:srgbClr val="10253F"/>
          </a:solidFill>
          <a:ln xmlns:a="http://schemas.openxmlformats.org/drawingml/2006/main" w="0">
            <a:solidFill>
              <a:srgbClr val="10253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5BD75FD3-E17C-4262-9A70-CAC861144DB6}"/>
              </a:ext>
            </a:extLst>
          </p:cNvPr>
          <p:cNvSpPr>
            <a:spLocks xmlns:a="http://schemas.openxmlformats.org/drawingml/2006/main" noGrp="1"/>
          </p:cNvSpPr>
          <p:nvPr/>
        </p:nvSpPr>
        <p:spPr>
          <a:xfrm xmlns:a="http://schemas.openxmlformats.org/drawingml/2006/main">
            <a:off x="4095750" y="1847850"/>
            <a:ext cx="400050" cy="4000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29" name="">
            <a:extLst xmlns:a="http://schemas.openxmlformats.org/drawingml/2006/main">
              <a:ext uri="{FF2B5EF4-FFF2-40B4-BE49-F238E27FC236}">
                <a16:creationId xmlns:a16="http://schemas.microsoft.com/office/drawing/2014/main" id="{6C71F801-7E2B-4575-A173-C05255CA9F52}"/>
              </a:ext>
            </a:extLst>
          </p:cNvPr>
          <p:cNvSpPr>
            <a:spLocks xmlns:a="http://schemas.openxmlformats.org/drawingml/2006/main" noGrp="1"/>
          </p:cNvSpPr>
          <p:nvPr/>
        </p:nvSpPr>
        <p:spPr>
          <a:xfrm xmlns:a="http://schemas.openxmlformats.org/drawingml/2006/main">
            <a:off x="4629150" y="1847850"/>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EVIDENCE ENGINE</a:t>
            </a:r>
          </a:p>
        </p:txBody>
      </p:sp>
      <p:sp>
        <p:nvSpPr>
          <p:cNvPr id="30" name="">
            <a:extLst xmlns:a="http://schemas.openxmlformats.org/drawingml/2006/main">
              <a:ext uri="{FF2B5EF4-FFF2-40B4-BE49-F238E27FC236}">
                <a16:creationId xmlns:a16="http://schemas.microsoft.com/office/drawing/2014/main" id="{3FF88D96-5AD0-4EE2-A5B0-39FC182C7BF0}"/>
              </a:ext>
            </a:extLst>
          </p:cNvPr>
          <p:cNvSpPr>
            <a:spLocks xmlns:a="http://schemas.openxmlformats.org/drawingml/2006/main" noGrp="1"/>
          </p:cNvSpPr>
          <p:nvPr/>
        </p:nvSpPr>
        <p:spPr>
          <a:xfrm xmlns:a="http://schemas.openxmlformats.org/drawingml/2006/main">
            <a:off x="4114800" y="2276475"/>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a:solidFill>
                  <a:srgbClr val="BEC9D5"/>
                </a:solidFill>
                <a:latin typeface="Arial"/>
                <a:ea typeface="Arial"/>
                <a:cs typeface="Arial"/>
              </a:defRPr>
            </a:pPr>
            <a:r>
              <a:rPr sz="1275" b="0">
                <a:solidFill>
                  <a:srgbClr val="BEC9D5"/>
                </a:solidFill>
                <a:latin typeface="Arial"/>
                <a:ea typeface="Arial"/>
                <a:cs typeface="Arial"/>
              </a:rPr>
              <a:t>Three independent evidence streams</a:t>
            </a:r>
          </a:p>
        </p:txBody>
      </p:sp>
      <p:sp>
        <p:nvSpPr>
          <p:cNvPr id="31" name="">
            <a:extLst xmlns:a="http://schemas.openxmlformats.org/drawingml/2006/main">
              <a:ext uri="{FF2B5EF4-FFF2-40B4-BE49-F238E27FC236}">
                <a16:creationId xmlns:a16="http://schemas.microsoft.com/office/drawing/2014/main" id="{CFBF84AC-261C-4A85-B4BE-A16B56C99A18}"/>
              </a:ext>
            </a:extLst>
          </p:cNvPr>
          <p:cNvSpPr>
            <a:spLocks xmlns:a="http://schemas.openxmlformats.org/drawingml/2006/main" noGrp="1"/>
          </p:cNvSpPr>
          <p:nvPr/>
        </p:nvSpPr>
        <p:spPr>
          <a:xfrm xmlns:a="http://schemas.openxmlformats.org/drawingml/2006/main">
            <a:off x="4095750" y="2686050"/>
            <a:ext cx="3409950" cy="533400"/>
          </a:xfrm>
          <a:prstGeom xmlns:a="http://schemas.openxmlformats.org/drawingml/2006/main" prst="roundRect">
            <a:avLst>
              <a:gd name="adj" fmla="val 14286"/>
            </a:avLst>
          </a:prstGeom>
          <a:solidFill xmlns:a="http://schemas.openxmlformats.org/drawingml/2006/main">
            <a:srgbClr val="40291E"/>
          </a:solidFill>
          <a:ln xmlns:a="http://schemas.openxmlformats.org/drawingml/2006/main" w="9525">
            <a:solidFill>
              <a:srgbClr val="F07D3B"/>
            </a:solidFill>
            <a:prstDash val="solid"/>
          </a:ln>
        </p:spPr>
      </p:sp>
      <p:sp>
        <p:nvSpPr>
          <p:cNvPr id="32" name="">
            <a:extLst xmlns:a="http://schemas.openxmlformats.org/drawingml/2006/main">
              <a:ext uri="{FF2B5EF4-FFF2-40B4-BE49-F238E27FC236}">
                <a16:creationId xmlns:a16="http://schemas.microsoft.com/office/drawing/2014/main" id="{5696ADB9-E2B4-4DBF-94A9-3BEC25E06035}"/>
              </a:ext>
            </a:extLst>
          </p:cNvPr>
          <p:cNvSpPr>
            <a:spLocks xmlns:a="http://schemas.openxmlformats.org/drawingml/2006/main" noGrp="1"/>
          </p:cNvSpPr>
          <p:nvPr/>
        </p:nvSpPr>
        <p:spPr>
          <a:xfrm xmlns:a="http://schemas.openxmlformats.org/drawingml/2006/main">
            <a:off x="4229100" y="2809875"/>
            <a:ext cx="552450" cy="285750"/>
          </a:xfrm>
          <a:prstGeom xmlns:a="http://schemas.openxmlformats.org/drawingml/2006/main" prst="roundRect">
            <a:avLst>
              <a:gd name="adj" fmla="val 50000"/>
            </a:avLst>
          </a:prstGeom>
          <a:solidFill xmlns:a="http://schemas.openxmlformats.org/drawingml/2006/main">
            <a:srgbClr val="F07D3B"/>
          </a:solidFill>
          <a:ln xmlns:a="http://schemas.openxmlformats.org/drawingml/2006/main" w="0">
            <a:solidFill>
              <a:srgbClr val="F07D3B"/>
            </a:solidFill>
            <a:prstDash val="solid"/>
          </a:ln>
        </p:spPr>
      </p:sp>
      <p:sp>
        <p:nvSpPr>
          <p:cNvPr id="33" name="">
            <a:extLst xmlns:a="http://schemas.openxmlformats.org/drawingml/2006/main">
              <a:ext uri="{FF2B5EF4-FFF2-40B4-BE49-F238E27FC236}">
                <a16:creationId xmlns:a16="http://schemas.microsoft.com/office/drawing/2014/main" id="{8DA6EB9A-49C5-40F5-802A-BB6B0FD09496}"/>
              </a:ext>
            </a:extLst>
          </p:cNvPr>
          <p:cNvSpPr>
            <a:spLocks xmlns:a="http://schemas.openxmlformats.org/drawingml/2006/main" noGrp="1"/>
          </p:cNvSpPr>
          <p:nvPr/>
        </p:nvSpPr>
        <p:spPr>
          <a:xfrm xmlns:a="http://schemas.openxmlformats.org/drawingml/2006/main">
            <a:off x="4229100" y="28098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AI</a:t>
            </a:r>
          </a:p>
        </p:txBody>
      </p:sp>
      <p:sp>
        <p:nvSpPr>
          <p:cNvPr id="34" name="">
            <a:extLst xmlns:a="http://schemas.openxmlformats.org/drawingml/2006/main">
              <a:ext uri="{FF2B5EF4-FFF2-40B4-BE49-F238E27FC236}">
                <a16:creationId xmlns:a16="http://schemas.microsoft.com/office/drawing/2014/main" id="{962C73FA-1065-4532-AB36-ADC7EB87ED02}"/>
              </a:ext>
            </a:extLst>
          </p:cNvPr>
          <p:cNvSpPr>
            <a:spLocks xmlns:a="http://schemas.openxmlformats.org/drawingml/2006/main" noGrp="1"/>
          </p:cNvSpPr>
          <p:nvPr/>
        </p:nvSpPr>
        <p:spPr>
          <a:xfrm xmlns:a="http://schemas.openxmlformats.org/drawingml/2006/main">
            <a:off x="4953000" y="273367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Content intelligence</a:t>
            </a:r>
          </a:p>
        </p:txBody>
      </p:sp>
      <p:sp>
        <p:nvSpPr>
          <p:cNvPr id="35" name="">
            <a:extLst xmlns:a="http://schemas.openxmlformats.org/drawingml/2006/main">
              <a:ext uri="{FF2B5EF4-FFF2-40B4-BE49-F238E27FC236}">
                <a16:creationId xmlns:a16="http://schemas.microsoft.com/office/drawing/2014/main" id="{A3A8D3EC-7369-43E1-BB53-65C17E89823A}"/>
              </a:ext>
            </a:extLst>
          </p:cNvPr>
          <p:cNvSpPr>
            <a:spLocks xmlns:a="http://schemas.openxmlformats.org/drawingml/2006/main" noGrp="1"/>
          </p:cNvSpPr>
          <p:nvPr/>
        </p:nvSpPr>
        <p:spPr>
          <a:xfrm xmlns:a="http://schemas.openxmlformats.org/drawingml/2006/main">
            <a:off x="4953000" y="296227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TF-IDF model + deterministic rules</a:t>
            </a:r>
          </a:p>
        </p:txBody>
      </p:sp>
      <p:sp>
        <p:nvSpPr>
          <p:cNvPr id="36" name="">
            <a:extLst xmlns:a="http://schemas.openxmlformats.org/drawingml/2006/main">
              <a:ext uri="{FF2B5EF4-FFF2-40B4-BE49-F238E27FC236}">
                <a16:creationId xmlns:a16="http://schemas.microsoft.com/office/drawing/2014/main" id="{1495BEBA-5C06-45D5-8EE6-7E5766BE6F96}"/>
              </a:ext>
            </a:extLst>
          </p:cNvPr>
          <p:cNvSpPr>
            <a:spLocks xmlns:a="http://schemas.openxmlformats.org/drawingml/2006/main" noGrp="1"/>
          </p:cNvSpPr>
          <p:nvPr/>
        </p:nvSpPr>
        <p:spPr>
          <a:xfrm xmlns:a="http://schemas.openxmlformats.org/drawingml/2006/main">
            <a:off x="4095750" y="3314700"/>
            <a:ext cx="3409950" cy="533400"/>
          </a:xfrm>
          <a:prstGeom xmlns:a="http://schemas.openxmlformats.org/drawingml/2006/main" prst="roundRect">
            <a:avLst>
              <a:gd name="adj" fmla="val 14286"/>
            </a:avLst>
          </a:prstGeom>
          <a:solidFill xmlns:a="http://schemas.openxmlformats.org/drawingml/2006/main">
            <a:srgbClr val="16393D"/>
          </a:solidFill>
          <a:ln xmlns:a="http://schemas.openxmlformats.org/drawingml/2006/main" w="9525">
            <a:solidFill>
              <a:srgbClr val="46D6CF"/>
            </a:solidFill>
            <a:prstDash val="solid"/>
          </a:ln>
        </p:spPr>
      </p:sp>
      <p:sp>
        <p:nvSpPr>
          <p:cNvPr id="37" name="">
            <a:extLst xmlns:a="http://schemas.openxmlformats.org/drawingml/2006/main">
              <a:ext uri="{FF2B5EF4-FFF2-40B4-BE49-F238E27FC236}">
                <a16:creationId xmlns:a16="http://schemas.microsoft.com/office/drawing/2014/main" id="{2EF7065E-A7F3-4F55-BCEA-1E828C34B5A3}"/>
              </a:ext>
            </a:extLst>
          </p:cNvPr>
          <p:cNvSpPr>
            <a:spLocks xmlns:a="http://schemas.openxmlformats.org/drawingml/2006/main" noGrp="1"/>
          </p:cNvSpPr>
          <p:nvPr/>
        </p:nvSpPr>
        <p:spPr>
          <a:xfrm xmlns:a="http://schemas.openxmlformats.org/drawingml/2006/main">
            <a:off x="4229100" y="3438525"/>
            <a:ext cx="552450" cy="285750"/>
          </a:xfrm>
          <a:prstGeom xmlns:a="http://schemas.openxmlformats.org/drawingml/2006/main" prst="roundRect">
            <a:avLst>
              <a:gd name="adj" fmla="val 50000"/>
            </a:avLst>
          </a:prstGeom>
          <a:solidFill xmlns:a="http://schemas.openxmlformats.org/drawingml/2006/main">
            <a:srgbClr val="46D6CF"/>
          </a:solidFill>
          <a:ln xmlns:a="http://schemas.openxmlformats.org/drawingml/2006/main" w="0">
            <a:solidFill>
              <a:srgbClr val="46D6CF"/>
            </a:solidFill>
            <a:prstDash val="solid"/>
          </a:ln>
        </p:spPr>
      </p:sp>
      <p:sp>
        <p:nvSpPr>
          <p:cNvPr id="38" name="">
            <a:extLst xmlns:a="http://schemas.openxmlformats.org/drawingml/2006/main">
              <a:ext uri="{FF2B5EF4-FFF2-40B4-BE49-F238E27FC236}">
                <a16:creationId xmlns:a16="http://schemas.microsoft.com/office/drawing/2014/main" id="{B7BE12D6-E8BD-4D83-B2AD-96A3EDA95E32}"/>
              </a:ext>
            </a:extLst>
          </p:cNvPr>
          <p:cNvSpPr>
            <a:spLocks xmlns:a="http://schemas.openxmlformats.org/drawingml/2006/main" noGrp="1"/>
          </p:cNvSpPr>
          <p:nvPr/>
        </p:nvSpPr>
        <p:spPr>
          <a:xfrm xmlns:a="http://schemas.openxmlformats.org/drawingml/2006/main">
            <a:off x="4229100" y="343852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TRUST</a:t>
            </a:r>
          </a:p>
        </p:txBody>
      </p:sp>
      <p:sp>
        <p:nvSpPr>
          <p:cNvPr id="39" name="">
            <a:extLst xmlns:a="http://schemas.openxmlformats.org/drawingml/2006/main">
              <a:ext uri="{FF2B5EF4-FFF2-40B4-BE49-F238E27FC236}">
                <a16:creationId xmlns:a16="http://schemas.microsoft.com/office/drawing/2014/main" id="{3E9462DA-0CF3-4EE2-93F6-FBF1F778E791}"/>
              </a:ext>
            </a:extLst>
          </p:cNvPr>
          <p:cNvSpPr>
            <a:spLocks xmlns:a="http://schemas.openxmlformats.org/drawingml/2006/main" noGrp="1"/>
          </p:cNvSpPr>
          <p:nvPr/>
        </p:nvSpPr>
        <p:spPr>
          <a:xfrm xmlns:a="http://schemas.openxmlformats.org/drawingml/2006/main">
            <a:off x="4953000" y="336232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Identity + infrastructure</a:t>
            </a:r>
          </a:p>
        </p:txBody>
      </p:sp>
      <p:sp>
        <p:nvSpPr>
          <p:cNvPr id="40" name="">
            <a:extLst xmlns:a="http://schemas.openxmlformats.org/drawingml/2006/main">
              <a:ext uri="{FF2B5EF4-FFF2-40B4-BE49-F238E27FC236}">
                <a16:creationId xmlns:a16="http://schemas.microsoft.com/office/drawing/2014/main" id="{01408C6D-71DE-4187-BE85-99040F7FD6C1}"/>
              </a:ext>
            </a:extLst>
          </p:cNvPr>
          <p:cNvSpPr>
            <a:spLocks xmlns:a="http://schemas.openxmlformats.org/drawingml/2006/main" noGrp="1"/>
          </p:cNvSpPr>
          <p:nvPr/>
        </p:nvSpPr>
        <p:spPr>
          <a:xfrm xmlns:a="http://schemas.openxmlformats.org/drawingml/2006/main">
            <a:off x="4953000" y="35909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4582"/>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Auth, sender, domain, DNS, IP, Geo, reputation</a:t>
            </a:r>
          </a:p>
        </p:txBody>
      </p:sp>
      <p:sp>
        <p:nvSpPr>
          <p:cNvPr id="41" name="">
            <a:extLst xmlns:a="http://schemas.openxmlformats.org/drawingml/2006/main">
              <a:ext uri="{FF2B5EF4-FFF2-40B4-BE49-F238E27FC236}">
                <a16:creationId xmlns:a16="http://schemas.microsoft.com/office/drawing/2014/main" id="{E8432104-80FF-46D4-93F8-54201D8A5125}"/>
              </a:ext>
            </a:extLst>
          </p:cNvPr>
          <p:cNvSpPr>
            <a:spLocks xmlns:a="http://schemas.openxmlformats.org/drawingml/2006/main" noGrp="1"/>
          </p:cNvSpPr>
          <p:nvPr/>
        </p:nvSpPr>
        <p:spPr>
          <a:xfrm xmlns:a="http://schemas.openxmlformats.org/drawingml/2006/main">
            <a:off x="4095750" y="3943350"/>
            <a:ext cx="3409950" cy="533400"/>
          </a:xfrm>
          <a:prstGeom xmlns:a="http://schemas.openxmlformats.org/drawingml/2006/main" prst="roundRect">
            <a:avLst>
              <a:gd name="adj" fmla="val 14286"/>
            </a:avLst>
          </a:prstGeom>
          <a:solidFill xmlns:a="http://schemas.openxmlformats.org/drawingml/2006/main">
            <a:srgbClr val="3B351F"/>
          </a:solidFill>
          <a:ln xmlns:a="http://schemas.openxmlformats.org/drawingml/2006/main" w="9525">
            <a:solidFill>
              <a:srgbClr val="F2C454"/>
            </a:solidFill>
            <a:prstDash val="solid"/>
          </a:ln>
        </p:spPr>
      </p:sp>
      <p:sp>
        <p:nvSpPr>
          <p:cNvPr id="42" name="">
            <a:extLst xmlns:a="http://schemas.openxmlformats.org/drawingml/2006/main">
              <a:ext uri="{FF2B5EF4-FFF2-40B4-BE49-F238E27FC236}">
                <a16:creationId xmlns:a16="http://schemas.microsoft.com/office/drawing/2014/main" id="{ED51BF32-E6C0-4828-B107-D0D44CD8A2B1}"/>
              </a:ext>
            </a:extLst>
          </p:cNvPr>
          <p:cNvSpPr>
            <a:spLocks xmlns:a="http://schemas.openxmlformats.org/drawingml/2006/main" noGrp="1"/>
          </p:cNvSpPr>
          <p:nvPr/>
        </p:nvSpPr>
        <p:spPr>
          <a:xfrm xmlns:a="http://schemas.openxmlformats.org/drawingml/2006/main">
            <a:off x="4229100" y="4067175"/>
            <a:ext cx="552450" cy="285750"/>
          </a:xfrm>
          <a:prstGeom xmlns:a="http://schemas.openxmlformats.org/drawingml/2006/main" prst="roundRect">
            <a:avLst>
              <a:gd name="adj" fmla="val 50000"/>
            </a:avLst>
          </a:prstGeom>
          <a:solidFill xmlns:a="http://schemas.openxmlformats.org/drawingml/2006/main">
            <a:srgbClr val="F2C454"/>
          </a:solidFill>
          <a:ln xmlns:a="http://schemas.openxmlformats.org/drawingml/2006/main" w="0">
            <a:solidFill>
              <a:srgbClr val="F2C454"/>
            </a:solidFill>
            <a:prstDash val="solid"/>
          </a:ln>
        </p:spPr>
      </p:sp>
      <p:sp>
        <p:nvSpPr>
          <p:cNvPr id="43" name="">
            <a:extLst xmlns:a="http://schemas.openxmlformats.org/drawingml/2006/main">
              <a:ext uri="{FF2B5EF4-FFF2-40B4-BE49-F238E27FC236}">
                <a16:creationId xmlns:a16="http://schemas.microsoft.com/office/drawing/2014/main" id="{644A952A-5036-4935-B3D5-23C06C87BFF2}"/>
              </a:ext>
            </a:extLst>
          </p:cNvPr>
          <p:cNvSpPr>
            <a:spLocks xmlns:a="http://schemas.openxmlformats.org/drawingml/2006/main" noGrp="1"/>
          </p:cNvSpPr>
          <p:nvPr/>
        </p:nvSpPr>
        <p:spPr>
          <a:xfrm xmlns:a="http://schemas.openxmlformats.org/drawingml/2006/main">
            <a:off x="4229100" y="40671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HASH</a:t>
            </a:r>
          </a:p>
        </p:txBody>
      </p:sp>
      <p:sp>
        <p:nvSpPr>
          <p:cNvPr id="44" name="">
            <a:extLst xmlns:a="http://schemas.openxmlformats.org/drawingml/2006/main">
              <a:ext uri="{FF2B5EF4-FFF2-40B4-BE49-F238E27FC236}">
                <a16:creationId xmlns:a16="http://schemas.microsoft.com/office/drawing/2014/main" id="{CA05E5B9-4F5D-443F-976E-891384614817}"/>
              </a:ext>
            </a:extLst>
          </p:cNvPr>
          <p:cNvSpPr>
            <a:spLocks xmlns:a="http://schemas.openxmlformats.org/drawingml/2006/main" noGrp="1"/>
          </p:cNvSpPr>
          <p:nvPr/>
        </p:nvSpPr>
        <p:spPr>
          <a:xfrm xmlns:a="http://schemas.openxmlformats.org/drawingml/2006/main">
            <a:off x="4953000" y="399097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Attachment forensics</a:t>
            </a:r>
          </a:p>
        </p:txBody>
      </p:sp>
      <p:sp>
        <p:nvSpPr>
          <p:cNvPr id="45" name="">
            <a:extLst xmlns:a="http://schemas.openxmlformats.org/drawingml/2006/main">
              <a:ext uri="{FF2B5EF4-FFF2-40B4-BE49-F238E27FC236}">
                <a16:creationId xmlns:a16="http://schemas.microsoft.com/office/drawing/2014/main" id="{BB0FE40F-6E31-4521-9F78-5AA935311F68}"/>
              </a:ext>
            </a:extLst>
          </p:cNvPr>
          <p:cNvSpPr>
            <a:spLocks xmlns:a="http://schemas.openxmlformats.org/drawingml/2006/main" noGrp="1"/>
          </p:cNvSpPr>
          <p:nvPr/>
        </p:nvSpPr>
        <p:spPr>
          <a:xfrm xmlns:a="http://schemas.openxmlformats.org/drawingml/2006/main">
            <a:off x="4953000" y="421957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Type, extension, SHA-256 + reputation</a:t>
            </a:r>
          </a:p>
        </p:txBody>
      </p:sp>
      <p:sp>
        <p:nvSpPr>
          <p:cNvPr id="46" name="">
            <a:extLst xmlns:a="http://schemas.openxmlformats.org/drawingml/2006/main">
              <a:ext uri="{FF2B5EF4-FFF2-40B4-BE49-F238E27FC236}">
                <a16:creationId xmlns:a16="http://schemas.microsoft.com/office/drawing/2014/main" id="{DDC29842-2933-4592-9294-7D97395F8CF8}"/>
              </a:ext>
            </a:extLst>
          </p:cNvPr>
          <p:cNvSpPr>
            <a:spLocks xmlns:a="http://schemas.openxmlformats.org/drawingml/2006/main" noGrp="1"/>
          </p:cNvSpPr>
          <p:nvPr/>
        </p:nvSpPr>
        <p:spPr>
          <a:xfrm xmlns:a="http://schemas.openxmlformats.org/drawingml/2006/main">
            <a:off x="842010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47" name="">
            <a:extLst xmlns:a="http://schemas.openxmlformats.org/drawingml/2006/main">
              <a:ext uri="{FF2B5EF4-FFF2-40B4-BE49-F238E27FC236}">
                <a16:creationId xmlns:a16="http://schemas.microsoft.com/office/drawing/2014/main" id="{FC1141C3-C61A-41E2-80E7-AD0B4D433477}"/>
              </a:ext>
            </a:extLst>
          </p:cNvPr>
          <p:cNvSpPr>
            <a:spLocks xmlns:a="http://schemas.openxmlformats.org/drawingml/2006/main" noGrp="1"/>
          </p:cNvSpPr>
          <p:nvPr/>
        </p:nvSpPr>
        <p:spPr>
          <a:xfrm xmlns:a="http://schemas.openxmlformats.org/drawingml/2006/main">
            <a:off x="8458200" y="1981200"/>
            <a:ext cx="400050" cy="400050"/>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48" name="">
            <a:extLst xmlns:a="http://schemas.openxmlformats.org/drawingml/2006/main">
              <a:ext uri="{FF2B5EF4-FFF2-40B4-BE49-F238E27FC236}">
                <a16:creationId xmlns:a16="http://schemas.microsoft.com/office/drawing/2014/main" id="{54A7345E-00C2-4B95-BDB5-4C827BFA2BBD}"/>
              </a:ext>
            </a:extLst>
          </p:cNvPr>
          <p:cNvSpPr>
            <a:spLocks xmlns:a="http://schemas.openxmlformats.org/drawingml/2006/main" noGrp="1"/>
          </p:cNvSpPr>
          <p:nvPr/>
        </p:nvSpPr>
        <p:spPr>
          <a:xfrm xmlns:a="http://schemas.openxmlformats.org/drawingml/2006/main">
            <a:off x="8105775" y="2447925"/>
            <a:ext cx="1181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745"/>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RISK FUSION</a:t>
            </a:r>
          </a:p>
        </p:txBody>
      </p:sp>
      <p:sp>
        <p:nvSpPr>
          <p:cNvPr id="49" name="">
            <a:extLst xmlns:a="http://schemas.openxmlformats.org/drawingml/2006/main">
              <a:ext uri="{FF2B5EF4-FFF2-40B4-BE49-F238E27FC236}">
                <a16:creationId xmlns:a16="http://schemas.microsoft.com/office/drawing/2014/main" id="{98BC2D86-9A3B-46D2-A89C-B36F9EF4CB24}"/>
              </a:ext>
            </a:extLst>
          </p:cNvPr>
          <p:cNvSpPr>
            <a:spLocks xmlns:a="http://schemas.openxmlformats.org/drawingml/2006/main" noGrp="1"/>
          </p:cNvSpPr>
          <p:nvPr/>
        </p:nvSpPr>
        <p:spPr>
          <a:xfrm xmlns:a="http://schemas.openxmlformats.org/drawingml/2006/main">
            <a:off x="8058150" y="3571875"/>
            <a:ext cx="1200150" cy="1200150"/>
          </a:xfrm>
          <a:prstGeom xmlns:a="http://schemas.openxmlformats.org/drawingml/2006/main" prst="ellipse">
            <a:avLst/>
          </a:prstGeom>
          <a:solidFill xmlns:a="http://schemas.openxmlformats.org/drawingml/2006/main">
            <a:srgbClr val="FFFFFF"/>
          </a:solidFill>
          <a:ln xmlns:a="http://schemas.openxmlformats.org/drawingml/2006/main" w="47625">
            <a:solidFill>
              <a:srgbClr val="2C67B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
            <a:extLst xmlns:a="http://schemas.openxmlformats.org/drawingml/2006/main">
              <a:ext uri="{FF2B5EF4-FFF2-40B4-BE49-F238E27FC236}">
                <a16:creationId xmlns:a16="http://schemas.microsoft.com/office/drawing/2014/main" id="{02FC8134-3EB7-43C4-AC6B-067BFC8EB3F9}"/>
              </a:ext>
            </a:extLst>
          </p:cNvPr>
          <p:cNvSpPr>
            <a:spLocks xmlns:a="http://schemas.openxmlformats.org/drawingml/2006/main" noGrp="1"/>
          </p:cNvSpPr>
          <p:nvPr/>
        </p:nvSpPr>
        <p:spPr>
          <a:xfrm xmlns:a="http://schemas.openxmlformats.org/drawingml/2006/main">
            <a:off x="8191500" y="3752850"/>
            <a:ext cx="933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250" b="1">
                <a:solidFill>
                  <a:srgbClr val="10253F"/>
                </a:solidFill>
                <a:latin typeface="Arial"/>
                <a:ea typeface="Arial"/>
                <a:cs typeface="Arial"/>
              </a:defRPr>
            </a:pPr>
            <a:r>
              <a:rPr sz="2250" b="1">
                <a:solidFill>
                  <a:srgbClr val="10253F"/>
                </a:solidFill>
                <a:latin typeface="Arial"/>
                <a:ea typeface="Arial"/>
                <a:cs typeface="Arial"/>
              </a:rPr>
              <a:t>0–100</a:t>
            </a:r>
          </a:p>
        </p:txBody>
      </p:sp>
      <p:sp>
        <p:nvSpPr>
          <p:cNvPr id="51" name="">
            <a:extLst xmlns:a="http://schemas.openxmlformats.org/drawingml/2006/main">
              <a:ext uri="{FF2B5EF4-FFF2-40B4-BE49-F238E27FC236}">
                <a16:creationId xmlns:a16="http://schemas.microsoft.com/office/drawing/2014/main" id="{15149475-AE28-4223-AB61-D00837B35A9D}"/>
              </a:ext>
            </a:extLst>
          </p:cNvPr>
          <p:cNvSpPr>
            <a:spLocks xmlns:a="http://schemas.openxmlformats.org/drawingml/2006/main" noGrp="1"/>
          </p:cNvSpPr>
          <p:nvPr/>
        </p:nvSpPr>
        <p:spPr>
          <a:xfrm xmlns:a="http://schemas.openxmlformats.org/drawingml/2006/main">
            <a:off x="8239125" y="418147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2C67B1"/>
                </a:solidFill>
                <a:latin typeface="Arial"/>
                <a:ea typeface="Arial"/>
                <a:cs typeface="Arial"/>
              </a:defRPr>
            </a:pPr>
            <a:r>
              <a:rPr sz="900" b="1">
                <a:solidFill>
                  <a:srgbClr val="2C67B1"/>
                </a:solidFill>
                <a:latin typeface="Arial"/>
                <a:ea typeface="Arial"/>
                <a:cs typeface="Arial"/>
              </a:rPr>
              <a:t>EXPLAINABLE</a:t>
            </a:r>
          </a:p>
        </p:txBody>
      </p:sp>
      <p:sp>
        <p:nvSpPr>
          <p:cNvPr id="52" name="">
            <a:extLst xmlns:a="http://schemas.openxmlformats.org/drawingml/2006/main">
              <a:ext uri="{FF2B5EF4-FFF2-40B4-BE49-F238E27FC236}">
                <a16:creationId xmlns:a16="http://schemas.microsoft.com/office/drawing/2014/main" id="{97701D04-6FE1-48CB-A5F4-79CC83EC00B4}"/>
              </a:ext>
            </a:extLst>
          </p:cNvPr>
          <p:cNvSpPr>
            <a:spLocks xmlns:a="http://schemas.openxmlformats.org/drawingml/2006/main" noGrp="1"/>
          </p:cNvSpPr>
          <p:nvPr/>
        </p:nvSpPr>
        <p:spPr>
          <a:xfrm xmlns:a="http://schemas.openxmlformats.org/drawingml/2006/main">
            <a:off x="7820025" y="49244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F07D3B"/>
                </a:solidFill>
                <a:latin typeface="Arial"/>
                <a:ea typeface="Arial"/>
                <a:cs typeface="Arial"/>
              </a:defRPr>
            </a:pPr>
            <a:r>
              <a:rPr sz="975" b="1">
                <a:solidFill>
                  <a:srgbClr val="F07D3B"/>
                </a:solidFill>
                <a:latin typeface="Arial"/>
                <a:ea typeface="Arial"/>
                <a:cs typeface="Arial"/>
              </a:rPr>
              <a:t>AI 40</a:t>
            </a:r>
          </a:p>
        </p:txBody>
      </p:sp>
      <p:sp>
        <p:nvSpPr>
          <p:cNvPr id="53" name="">
            <a:extLst xmlns:a="http://schemas.openxmlformats.org/drawingml/2006/main">
              <a:ext uri="{FF2B5EF4-FFF2-40B4-BE49-F238E27FC236}">
                <a16:creationId xmlns:a16="http://schemas.microsoft.com/office/drawing/2014/main" id="{F0FEF81C-E2BA-4659-8B2B-07972C232D1A}"/>
              </a:ext>
            </a:extLst>
          </p:cNvPr>
          <p:cNvSpPr>
            <a:spLocks xmlns:a="http://schemas.openxmlformats.org/drawingml/2006/main" noGrp="1"/>
          </p:cNvSpPr>
          <p:nvPr/>
        </p:nvSpPr>
        <p:spPr>
          <a:xfrm xmlns:a="http://schemas.openxmlformats.org/drawingml/2006/main">
            <a:off x="8353425" y="492442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TRUST 35</a:t>
            </a:r>
          </a:p>
        </p:txBody>
      </p:sp>
      <p:sp>
        <p:nvSpPr>
          <p:cNvPr id="54" name="">
            <a:extLst xmlns:a="http://schemas.openxmlformats.org/drawingml/2006/main">
              <a:ext uri="{FF2B5EF4-FFF2-40B4-BE49-F238E27FC236}">
                <a16:creationId xmlns:a16="http://schemas.microsoft.com/office/drawing/2014/main" id="{E0066E91-CB02-4F41-B1F8-1AD4837B3111}"/>
              </a:ext>
            </a:extLst>
          </p:cNvPr>
          <p:cNvSpPr>
            <a:spLocks xmlns:a="http://schemas.openxmlformats.org/drawingml/2006/main" noGrp="1"/>
          </p:cNvSpPr>
          <p:nvPr/>
        </p:nvSpPr>
        <p:spPr>
          <a:xfrm xmlns:a="http://schemas.openxmlformats.org/drawingml/2006/main">
            <a:off x="9001125" y="4924425"/>
            <a:ext cx="657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E5A528"/>
                </a:solidFill>
                <a:latin typeface="Arial"/>
                <a:ea typeface="Arial"/>
                <a:cs typeface="Arial"/>
              </a:defRPr>
            </a:pPr>
            <a:r>
              <a:rPr sz="975" b="1">
                <a:solidFill>
                  <a:srgbClr val="E5A528"/>
                </a:solidFill>
                <a:latin typeface="Arial"/>
                <a:ea typeface="Arial"/>
                <a:cs typeface="Arial"/>
              </a:rPr>
              <a:t>ACTION 25</a:t>
            </a:r>
          </a:p>
        </p:txBody>
      </p:sp>
      <p:sp>
        <p:nvSpPr>
          <p:cNvPr id="55" name="">
            <a:extLst xmlns:a="http://schemas.openxmlformats.org/drawingml/2006/main">
              <a:ext uri="{FF2B5EF4-FFF2-40B4-BE49-F238E27FC236}">
                <a16:creationId xmlns:a16="http://schemas.microsoft.com/office/drawing/2014/main" id="{5CA645EF-8BBF-4E90-BEAB-395226554190}"/>
              </a:ext>
            </a:extLst>
          </p:cNvPr>
          <p:cNvSpPr>
            <a:spLocks xmlns:a="http://schemas.openxmlformats.org/drawingml/2006/main" noGrp="1"/>
          </p:cNvSpPr>
          <p:nvPr/>
        </p:nvSpPr>
        <p:spPr>
          <a:xfrm xmlns:a="http://schemas.openxmlformats.org/drawingml/2006/main">
            <a:off x="7781925" y="51911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050" b="0">
                <a:solidFill>
                  <a:srgbClr val="41A36B"/>
                </a:solidFill>
                <a:latin typeface="Arial"/>
                <a:ea typeface="Arial"/>
                <a:cs typeface="Arial"/>
              </a:defRPr>
            </a:pPr>
            <a:r>
              <a:rPr sz="1050" b="0">
                <a:solidFill>
                  <a:srgbClr val="41A36B"/>
                </a:solidFill>
                <a:latin typeface="Arial"/>
                <a:ea typeface="Arial"/>
                <a:cs typeface="Arial"/>
              </a:rPr>
              <a:t>Separate evidence coverage</a:t>
            </a:r>
          </a:p>
        </p:txBody>
      </p:sp>
      <p:sp>
        <p:nvSpPr>
          <p:cNvPr id="56" name="">
            <a:extLst xmlns:a="http://schemas.openxmlformats.org/drawingml/2006/main">
              <a:ext uri="{FF2B5EF4-FFF2-40B4-BE49-F238E27FC236}">
                <a16:creationId xmlns:a16="http://schemas.microsoft.com/office/drawing/2014/main" id="{B5BC00AD-1332-4F00-B653-0EB98B6A683B}"/>
              </a:ext>
            </a:extLst>
          </p:cNvPr>
          <p:cNvSpPr>
            <a:spLocks xmlns:a="http://schemas.openxmlformats.org/drawingml/2006/main" noGrp="1"/>
          </p:cNvSpPr>
          <p:nvPr/>
        </p:nvSpPr>
        <p:spPr>
          <a:xfrm xmlns:a="http://schemas.openxmlformats.org/drawingml/2006/main">
            <a:off x="1059180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41A36B"/>
            </a:solidFill>
            <a:prstDash val="solid"/>
          </a:ln>
        </p:spPr>
      </p:sp>
      <p:sp>
        <p:nvSpPr>
          <p:cNvPr id="57" name="">
            <a:extLst xmlns:a="http://schemas.openxmlformats.org/drawingml/2006/main">
              <a:ext uri="{FF2B5EF4-FFF2-40B4-BE49-F238E27FC236}">
                <a16:creationId xmlns:a16="http://schemas.microsoft.com/office/drawing/2014/main" id="{9AB2CDEA-D252-4FAA-B32F-6A1A2D0CB0E7}"/>
              </a:ext>
            </a:extLst>
          </p:cNvPr>
          <p:cNvSpPr>
            <a:spLocks xmlns:a="http://schemas.openxmlformats.org/drawingml/2006/main" noGrp="1"/>
          </p:cNvSpPr>
          <p:nvPr/>
        </p:nvSpPr>
        <p:spPr>
          <a:xfrm xmlns:a="http://schemas.openxmlformats.org/drawingml/2006/main">
            <a:off x="10629900" y="1981200"/>
            <a:ext cx="400050" cy="400050"/>
          </a:xfrm>
          <a:prstGeom xmlns:a="http://schemas.openxmlformats.org/drawingml/2006/main" prst="ellipse">
            <a:avLst/>
          </a:prstGeom>
          <a:solidFill xmlns:a="http://schemas.openxmlformats.org/drawingml/2006/main">
            <a:srgbClr val="41A36B"/>
          </a:solidFill>
          <a:ln xmlns:a="http://schemas.openxmlformats.org/drawingml/2006/main" w="0">
            <a:solidFill>
              <a:srgbClr val="41A36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58" name="">
            <a:extLst xmlns:a="http://schemas.openxmlformats.org/drawingml/2006/main">
              <a:ext uri="{FF2B5EF4-FFF2-40B4-BE49-F238E27FC236}">
                <a16:creationId xmlns:a16="http://schemas.microsoft.com/office/drawing/2014/main" id="{36DBDA38-5B30-4324-B6D6-052C03318EFE}"/>
              </a:ext>
            </a:extLst>
          </p:cNvPr>
          <p:cNvSpPr>
            <a:spLocks xmlns:a="http://schemas.openxmlformats.org/drawingml/2006/main" noGrp="1"/>
          </p:cNvSpPr>
          <p:nvPr/>
        </p:nvSpPr>
        <p:spPr>
          <a:xfrm xmlns:a="http://schemas.openxmlformats.org/drawingml/2006/main">
            <a:off x="10210800" y="2447925"/>
            <a:ext cx="1295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2874"/>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USER RESULT</a:t>
            </a:r>
          </a:p>
        </p:txBody>
      </p:sp>
      <p:sp>
        <p:nvSpPr>
          <p:cNvPr id="59" name="">
            <a:extLst xmlns:a="http://schemas.openxmlformats.org/drawingml/2006/main">
              <a:ext uri="{FF2B5EF4-FFF2-40B4-BE49-F238E27FC236}">
                <a16:creationId xmlns:a16="http://schemas.microsoft.com/office/drawing/2014/main" id="{AB72865B-38FA-445C-84AF-FC6102CEAD05}"/>
              </a:ext>
            </a:extLst>
          </p:cNvPr>
          <p:cNvSpPr>
            <a:spLocks xmlns:a="http://schemas.openxmlformats.org/drawingml/2006/main" noGrp="1"/>
          </p:cNvSpPr>
          <p:nvPr/>
        </p:nvSpPr>
        <p:spPr>
          <a:xfrm xmlns:a="http://schemas.openxmlformats.org/drawingml/2006/main">
            <a:off x="10325100" y="3667125"/>
            <a:ext cx="85725" cy="8572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60" name="">
            <a:extLst xmlns:a="http://schemas.openxmlformats.org/drawingml/2006/main">
              <a:ext uri="{FF2B5EF4-FFF2-40B4-BE49-F238E27FC236}">
                <a16:creationId xmlns:a16="http://schemas.microsoft.com/office/drawing/2014/main" id="{1C09C0E5-3FD1-4E09-A77A-CDC34F53F9B5}"/>
              </a:ext>
            </a:extLst>
          </p:cNvPr>
          <p:cNvSpPr>
            <a:spLocks xmlns:a="http://schemas.openxmlformats.org/drawingml/2006/main" noGrp="1"/>
          </p:cNvSpPr>
          <p:nvPr/>
        </p:nvSpPr>
        <p:spPr>
          <a:xfrm xmlns:a="http://schemas.openxmlformats.org/drawingml/2006/main">
            <a:off x="10496550" y="3562350"/>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VERDICT</a:t>
            </a:r>
          </a:p>
        </p:txBody>
      </p:sp>
      <p:sp>
        <p:nvSpPr>
          <p:cNvPr id="61" name="">
            <a:extLst xmlns:a="http://schemas.openxmlformats.org/drawingml/2006/main">
              <a:ext uri="{FF2B5EF4-FFF2-40B4-BE49-F238E27FC236}">
                <a16:creationId xmlns:a16="http://schemas.microsoft.com/office/drawing/2014/main" id="{D19A73AE-A1A9-4834-B7B2-DF6B35A3391E}"/>
              </a:ext>
            </a:extLst>
          </p:cNvPr>
          <p:cNvSpPr>
            <a:spLocks xmlns:a="http://schemas.openxmlformats.org/drawingml/2006/main" noGrp="1"/>
          </p:cNvSpPr>
          <p:nvPr/>
        </p:nvSpPr>
        <p:spPr>
          <a:xfrm xmlns:a="http://schemas.openxmlformats.org/drawingml/2006/main">
            <a:off x="10325100" y="4038600"/>
            <a:ext cx="85725" cy="85725"/>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62" name="">
            <a:extLst xmlns:a="http://schemas.openxmlformats.org/drawingml/2006/main">
              <a:ext uri="{FF2B5EF4-FFF2-40B4-BE49-F238E27FC236}">
                <a16:creationId xmlns:a16="http://schemas.microsoft.com/office/drawing/2014/main" id="{2EED5C79-AC11-4F65-8959-E394C0B90D34}"/>
              </a:ext>
            </a:extLst>
          </p:cNvPr>
          <p:cNvSpPr>
            <a:spLocks xmlns:a="http://schemas.openxmlformats.org/drawingml/2006/main" noGrp="1"/>
          </p:cNvSpPr>
          <p:nvPr/>
        </p:nvSpPr>
        <p:spPr>
          <a:xfrm xmlns:a="http://schemas.openxmlformats.org/drawingml/2006/main">
            <a:off x="10496550" y="3933825"/>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EVIDENCE</a:t>
            </a:r>
          </a:p>
        </p:txBody>
      </p:sp>
      <p:sp>
        <p:nvSpPr>
          <p:cNvPr id="63" name="">
            <a:extLst xmlns:a="http://schemas.openxmlformats.org/drawingml/2006/main">
              <a:ext uri="{FF2B5EF4-FFF2-40B4-BE49-F238E27FC236}">
                <a16:creationId xmlns:a16="http://schemas.microsoft.com/office/drawing/2014/main" id="{D03A9FF8-149B-45A8-84DA-BED77822BBB8}"/>
              </a:ext>
            </a:extLst>
          </p:cNvPr>
          <p:cNvSpPr>
            <a:spLocks xmlns:a="http://schemas.openxmlformats.org/drawingml/2006/main" noGrp="1"/>
          </p:cNvSpPr>
          <p:nvPr/>
        </p:nvSpPr>
        <p:spPr>
          <a:xfrm xmlns:a="http://schemas.openxmlformats.org/drawingml/2006/main">
            <a:off x="10325100" y="4410075"/>
            <a:ext cx="85725" cy="85725"/>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64" name="">
            <a:extLst xmlns:a="http://schemas.openxmlformats.org/drawingml/2006/main">
              <a:ext uri="{FF2B5EF4-FFF2-40B4-BE49-F238E27FC236}">
                <a16:creationId xmlns:a16="http://schemas.microsoft.com/office/drawing/2014/main" id="{06B40D41-414F-4BEF-A457-9EAB66FBE2E3}"/>
              </a:ext>
            </a:extLst>
          </p:cNvPr>
          <p:cNvSpPr>
            <a:spLocks xmlns:a="http://schemas.openxmlformats.org/drawingml/2006/main" noGrp="1"/>
          </p:cNvSpPr>
          <p:nvPr/>
        </p:nvSpPr>
        <p:spPr>
          <a:xfrm xmlns:a="http://schemas.openxmlformats.org/drawingml/2006/main">
            <a:off x="10496550" y="4305300"/>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2-PAGE PDF</a:t>
            </a:r>
          </a:p>
        </p:txBody>
      </p:sp>
      <p:sp>
        <p:nvSpPr>
          <p:cNvPr id="65" name="">
            <a:extLst xmlns:a="http://schemas.openxmlformats.org/drawingml/2006/main">
              <a:ext uri="{FF2B5EF4-FFF2-40B4-BE49-F238E27FC236}">
                <a16:creationId xmlns:a16="http://schemas.microsoft.com/office/drawing/2014/main" id="{3E96BBA1-C52C-463B-A30F-356B57FFE45F}"/>
              </a:ext>
            </a:extLst>
          </p:cNvPr>
          <p:cNvSpPr>
            <a:spLocks xmlns:a="http://schemas.openxmlformats.org/drawingml/2006/main" noGrp="1"/>
          </p:cNvSpPr>
          <p:nvPr/>
        </p:nvSpPr>
        <p:spPr>
          <a:xfrm xmlns:a="http://schemas.openxmlformats.org/drawingml/2006/main">
            <a:off x="10325100" y="4781550"/>
            <a:ext cx="85725" cy="85725"/>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66" name="">
            <a:extLst xmlns:a="http://schemas.openxmlformats.org/drawingml/2006/main">
              <a:ext uri="{FF2B5EF4-FFF2-40B4-BE49-F238E27FC236}">
                <a16:creationId xmlns:a16="http://schemas.microsoft.com/office/drawing/2014/main" id="{3ED62AC4-0048-4D59-ABA5-DC4DB56D559F}"/>
              </a:ext>
            </a:extLst>
          </p:cNvPr>
          <p:cNvSpPr>
            <a:spLocks xmlns:a="http://schemas.openxmlformats.org/drawingml/2006/main" noGrp="1"/>
          </p:cNvSpPr>
          <p:nvPr/>
        </p:nvSpPr>
        <p:spPr>
          <a:xfrm xmlns:a="http://schemas.openxmlformats.org/drawingml/2006/main">
            <a:off x="10496550" y="4676775"/>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CASE LINKS</a:t>
            </a:r>
          </a:p>
        </p:txBody>
      </p:sp>
      <p:cxnSp>
        <p:nvCxnSpPr>
          <p:cNvPr id="221" name=""/>
          <p:cNvCxnSpPr>
            <a:stCxn xmlns:a="http://schemas.openxmlformats.org/drawingml/2006/main" id="10" idx="6"/>
            <a:endCxn xmlns:a="http://schemas.openxmlformats.org/drawingml/2006/main" id="16" idx="2"/>
          </p:cNvCxnSpPr>
          <p:nvPr/>
        </p:nvCxnSpPr>
        <p:spPr>
          <a:xfrm xmlns:a="http://schemas.openxmlformats.org/drawingml/2006/main">
            <a:off x="1219200" y="3162300"/>
            <a:ext cx="1400175" cy="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222" name=""/>
          <p:cNvCxnSpPr>
            <a:stCxn xmlns:a="http://schemas.openxmlformats.org/drawingml/2006/main" id="16" idx="6"/>
            <a:endCxn xmlns:a="http://schemas.openxmlformats.org/drawingml/2006/main" id="27" idx="1"/>
          </p:cNvCxnSpPr>
          <p:nvPr/>
        </p:nvCxnSpPr>
        <p:spPr>
          <a:xfrm xmlns:a="http://schemas.openxmlformats.org/drawingml/2006/main">
            <a:off x="3095625" y="3162300"/>
            <a:ext cx="809625" cy="47625"/>
          </a:xfrm>
          <a:prstGeom xmlns:a="http://schemas.openxmlformats.org/drawingml/2006/main" prst="straightConnector1">
            <a:avLst/>
          </a:prstGeom>
          <a:ln xmlns:a="http://schemas.openxmlformats.org/drawingml/2006/main" w="28575">
            <a:solidFill>
              <a:srgbClr val="159F9A"/>
            </a:solidFill>
            <a:prstDash val="solid"/>
            <a:tailEnd type="triangle" w="med" len="med"/>
          </a:ln>
        </p:spPr>
      </p:cxnSp>
      <p:cxnSp>
        <p:nvCxnSpPr>
          <p:cNvPr id="223" name=""/>
          <p:cNvCxnSpPr>
            <a:stCxn xmlns:a="http://schemas.openxmlformats.org/drawingml/2006/main" id="27" idx="3"/>
            <a:endCxn xmlns:a="http://schemas.openxmlformats.org/drawingml/2006/main" id="46" idx="2"/>
          </p:cNvCxnSpPr>
          <p:nvPr/>
        </p:nvCxnSpPr>
        <p:spPr>
          <a:xfrm xmlns:a="http://schemas.openxmlformats.org/drawingml/2006/main" flipV="1">
            <a:off x="7696200" y="3162300"/>
            <a:ext cx="723900" cy="47625"/>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224" name=""/>
          <p:cNvCxnSpPr>
            <a:stCxn xmlns:a="http://schemas.openxmlformats.org/drawingml/2006/main" id="46" idx="6"/>
            <a:endCxn xmlns:a="http://schemas.openxmlformats.org/drawingml/2006/main" id="56" idx="2"/>
          </p:cNvCxnSpPr>
          <p:nvPr/>
        </p:nvCxnSpPr>
        <p:spPr>
          <a:xfrm xmlns:a="http://schemas.openxmlformats.org/drawingml/2006/main">
            <a:off x="8896350" y="3162300"/>
            <a:ext cx="1695450" cy="0"/>
          </a:xfrm>
          <a:prstGeom xmlns:a="http://schemas.openxmlformats.org/drawingml/2006/main" prst="straightConnector1">
            <a:avLst/>
          </a:prstGeom>
          <a:ln xmlns:a="http://schemas.openxmlformats.org/drawingml/2006/main" w="28575">
            <a:solidFill>
              <a:srgbClr val="41A36B"/>
            </a:solidFill>
            <a:prstDash val="solid"/>
            <a:tailEnd type="triangle" w="med" len="med"/>
          </a:ln>
        </p:spPr>
      </p:cxnSp>
      <p:sp>
        <p:nvSpPr>
          <p:cNvPr id="71" name="">
            <a:extLst xmlns:a="http://schemas.openxmlformats.org/drawingml/2006/main">
              <a:ext uri="{FF2B5EF4-FFF2-40B4-BE49-F238E27FC236}">
                <a16:creationId xmlns:a16="http://schemas.microsoft.com/office/drawing/2014/main" id="{F057D41D-57AF-4197-8D8D-BC20A77335D5}"/>
              </a:ext>
            </a:extLst>
          </p:cNvPr>
          <p:cNvSpPr>
            <a:spLocks xmlns:a="http://schemas.openxmlformats.org/drawingml/2006/main" noGrp="1"/>
          </p:cNvSpPr>
          <p:nvPr/>
        </p:nvSpPr>
        <p:spPr>
          <a:xfrm xmlns:a="http://schemas.openxmlformats.org/drawingml/2006/main">
            <a:off x="552450" y="5905500"/>
            <a:ext cx="110871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2" name="">
            <a:extLst xmlns:a="http://schemas.openxmlformats.org/drawingml/2006/main">
              <a:ext uri="{FF2B5EF4-FFF2-40B4-BE49-F238E27FC236}">
                <a16:creationId xmlns:a16="http://schemas.microsoft.com/office/drawing/2014/main" id="{C823783F-4358-41C4-83BF-D43D5945C871}"/>
              </a:ext>
            </a:extLst>
          </p:cNvPr>
          <p:cNvSpPr>
            <a:spLocks xmlns:a="http://schemas.openxmlformats.org/drawingml/2006/main" noGrp="1"/>
          </p:cNvSpPr>
          <p:nvPr/>
        </p:nvSpPr>
        <p:spPr>
          <a:xfrm xmlns:a="http://schemas.openxmlformats.org/drawingml/2006/main">
            <a:off x="752475" y="5981700"/>
            <a:ext cx="1352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1">
                <a:solidFill>
                  <a:srgbClr val="F07D3B"/>
                </a:solidFill>
                <a:latin typeface="Arial"/>
                <a:ea typeface="Arial"/>
                <a:cs typeface="Arial"/>
              </a:defRPr>
            </a:pPr>
            <a:r>
              <a:rPr sz="1050" b="1">
                <a:solidFill>
                  <a:srgbClr val="F07D3B"/>
                </a:solidFill>
                <a:latin typeface="Arial"/>
                <a:ea typeface="Arial"/>
                <a:cs typeface="Arial"/>
              </a:rPr>
              <a:t>IMPLEMENTATION</a:t>
            </a:r>
          </a:p>
        </p:txBody>
      </p:sp>
      <p:sp>
        <p:nvSpPr>
          <p:cNvPr id="73" name="">
            <a:extLst xmlns:a="http://schemas.openxmlformats.org/drawingml/2006/main">
              <a:ext uri="{FF2B5EF4-FFF2-40B4-BE49-F238E27FC236}">
                <a16:creationId xmlns:a16="http://schemas.microsoft.com/office/drawing/2014/main" id="{A5ED2229-FCCD-4B53-92B1-830A011A737D}"/>
              </a:ext>
            </a:extLst>
          </p:cNvPr>
          <p:cNvSpPr>
            <a:spLocks xmlns:a="http://schemas.openxmlformats.org/drawingml/2006/main" noGrp="1"/>
          </p:cNvSpPr>
          <p:nvPr/>
        </p:nvSpPr>
        <p:spPr>
          <a:xfrm xmlns:a="http://schemas.openxmlformats.org/drawingml/2006/main">
            <a:off x="2200275" y="59817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React + TypeScript</a:t>
            </a:r>
          </a:p>
        </p:txBody>
      </p:sp>
      <p:sp>
        <p:nvSpPr>
          <p:cNvPr id="74" name="">
            <a:extLst xmlns:a="http://schemas.openxmlformats.org/drawingml/2006/main">
              <a:ext uri="{FF2B5EF4-FFF2-40B4-BE49-F238E27FC236}">
                <a16:creationId xmlns:a16="http://schemas.microsoft.com/office/drawing/2014/main" id="{EDB75787-9F47-4EB5-A567-2EEB0B78FB80}"/>
              </a:ext>
            </a:extLst>
          </p:cNvPr>
          <p:cNvSpPr>
            <a:spLocks xmlns:a="http://schemas.openxmlformats.org/drawingml/2006/main" noGrp="1"/>
          </p:cNvSpPr>
          <p:nvPr/>
        </p:nvSpPr>
        <p:spPr>
          <a:xfrm xmlns:a="http://schemas.openxmlformats.org/drawingml/2006/main">
            <a:off x="3857625"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5" name="">
            <a:extLst xmlns:a="http://schemas.openxmlformats.org/drawingml/2006/main">
              <a:ext uri="{FF2B5EF4-FFF2-40B4-BE49-F238E27FC236}">
                <a16:creationId xmlns:a16="http://schemas.microsoft.com/office/drawing/2014/main" id="{FC834C7C-18EC-4988-83D6-A9F4861A5B6F}"/>
              </a:ext>
            </a:extLst>
          </p:cNvPr>
          <p:cNvSpPr>
            <a:spLocks xmlns:a="http://schemas.openxmlformats.org/drawingml/2006/main" noGrp="1"/>
          </p:cNvSpPr>
          <p:nvPr/>
        </p:nvSpPr>
        <p:spPr>
          <a:xfrm xmlns:a="http://schemas.openxmlformats.org/drawingml/2006/main">
            <a:off x="4048125" y="5981700"/>
            <a:ext cx="97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FastAPI</a:t>
            </a:r>
          </a:p>
        </p:txBody>
      </p:sp>
      <p:sp>
        <p:nvSpPr>
          <p:cNvPr id="76" name="">
            <a:extLst xmlns:a="http://schemas.openxmlformats.org/drawingml/2006/main">
              <a:ext uri="{FF2B5EF4-FFF2-40B4-BE49-F238E27FC236}">
                <a16:creationId xmlns:a16="http://schemas.microsoft.com/office/drawing/2014/main" id="{89E7DFD8-0919-4304-92E6-6C1E29C21F1F}"/>
              </a:ext>
            </a:extLst>
          </p:cNvPr>
          <p:cNvSpPr>
            <a:spLocks xmlns:a="http://schemas.openxmlformats.org/drawingml/2006/main" noGrp="1"/>
          </p:cNvSpPr>
          <p:nvPr/>
        </p:nvSpPr>
        <p:spPr>
          <a:xfrm xmlns:a="http://schemas.openxmlformats.org/drawingml/2006/main">
            <a:off x="512445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7" name="">
            <a:extLst xmlns:a="http://schemas.openxmlformats.org/drawingml/2006/main">
              <a:ext uri="{FF2B5EF4-FFF2-40B4-BE49-F238E27FC236}">
                <a16:creationId xmlns:a16="http://schemas.microsoft.com/office/drawing/2014/main" id="{BBDBB4FC-3AE2-473F-B355-022E7AE33FA0}"/>
              </a:ext>
            </a:extLst>
          </p:cNvPr>
          <p:cNvSpPr>
            <a:spLocks xmlns:a="http://schemas.openxmlformats.org/drawingml/2006/main" noGrp="1"/>
          </p:cNvSpPr>
          <p:nvPr/>
        </p:nvSpPr>
        <p:spPr>
          <a:xfrm xmlns:a="http://schemas.openxmlformats.org/drawingml/2006/main">
            <a:off x="5314950" y="59817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scikit-learn</a:t>
            </a:r>
          </a:p>
        </p:txBody>
      </p:sp>
      <p:sp>
        <p:nvSpPr>
          <p:cNvPr id="78" name="">
            <a:extLst xmlns:a="http://schemas.openxmlformats.org/drawingml/2006/main">
              <a:ext uri="{FF2B5EF4-FFF2-40B4-BE49-F238E27FC236}">
                <a16:creationId xmlns:a16="http://schemas.microsoft.com/office/drawing/2014/main" id="{85E8B798-25DC-4D69-9756-4548D115DF1A}"/>
              </a:ext>
            </a:extLst>
          </p:cNvPr>
          <p:cNvSpPr>
            <a:spLocks xmlns:a="http://schemas.openxmlformats.org/drawingml/2006/main" noGrp="1"/>
          </p:cNvSpPr>
          <p:nvPr/>
        </p:nvSpPr>
        <p:spPr>
          <a:xfrm xmlns:a="http://schemas.openxmlformats.org/drawingml/2006/main">
            <a:off x="674370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9" name="">
            <a:extLst xmlns:a="http://schemas.openxmlformats.org/drawingml/2006/main">
              <a:ext uri="{FF2B5EF4-FFF2-40B4-BE49-F238E27FC236}">
                <a16:creationId xmlns:a16="http://schemas.microsoft.com/office/drawing/2014/main" id="{246F8B42-BEA1-4D62-B9BB-688071D7766E}"/>
              </a:ext>
            </a:extLst>
          </p:cNvPr>
          <p:cNvSpPr>
            <a:spLocks xmlns:a="http://schemas.openxmlformats.org/drawingml/2006/main" noGrp="1"/>
          </p:cNvSpPr>
          <p:nvPr/>
        </p:nvSpPr>
        <p:spPr>
          <a:xfrm xmlns:a="http://schemas.openxmlformats.org/drawingml/2006/main">
            <a:off x="6943725" y="598170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SQLite / PostgreSQL</a:t>
            </a:r>
          </a:p>
        </p:txBody>
      </p:sp>
      <p:sp>
        <p:nvSpPr>
          <p:cNvPr id="80" name="">
            <a:extLst xmlns:a="http://schemas.openxmlformats.org/drawingml/2006/main">
              <a:ext uri="{FF2B5EF4-FFF2-40B4-BE49-F238E27FC236}">
                <a16:creationId xmlns:a16="http://schemas.microsoft.com/office/drawing/2014/main" id="{F5C37CF6-7E4E-4483-A9B4-B7DA887B9FF7}"/>
              </a:ext>
            </a:extLst>
          </p:cNvPr>
          <p:cNvSpPr>
            <a:spLocks xmlns:a="http://schemas.openxmlformats.org/drawingml/2006/main" noGrp="1"/>
          </p:cNvSpPr>
          <p:nvPr/>
        </p:nvSpPr>
        <p:spPr>
          <a:xfrm xmlns:a="http://schemas.openxmlformats.org/drawingml/2006/main">
            <a:off x="878205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81" name="">
            <a:extLst xmlns:a="http://schemas.openxmlformats.org/drawingml/2006/main">
              <a:ext uri="{FF2B5EF4-FFF2-40B4-BE49-F238E27FC236}">
                <a16:creationId xmlns:a16="http://schemas.microsoft.com/office/drawing/2014/main" id="{5C0086CB-1A12-43FF-A325-B3FA0885310C}"/>
              </a:ext>
            </a:extLst>
          </p:cNvPr>
          <p:cNvSpPr>
            <a:spLocks xmlns:a="http://schemas.openxmlformats.org/drawingml/2006/main" noGrp="1"/>
          </p:cNvSpPr>
          <p:nvPr/>
        </p:nvSpPr>
        <p:spPr>
          <a:xfrm xmlns:a="http://schemas.openxmlformats.org/drawingml/2006/main">
            <a:off x="8991600" y="59817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GeoLite2 + Threat Intel</a:t>
            </a:r>
          </a:p>
        </p:txBody>
      </p:sp>
      <p:sp>
        <p:nvSpPr>
          <p:cNvPr id="82" name="">
            <a:extLst xmlns:a="http://schemas.openxmlformats.org/drawingml/2006/main">
              <a:ext uri="{FF2B5EF4-FFF2-40B4-BE49-F238E27FC236}">
                <a16:creationId xmlns:a16="http://schemas.microsoft.com/office/drawing/2014/main" id="{40451188-8C33-4F18-B813-E3C96D8498F7}"/>
              </a:ext>
            </a:extLst>
          </p:cNvPr>
          <p:cNvSpPr>
            <a:spLocks xmlns:a="http://schemas.openxmlformats.org/drawingml/2006/main" noGrp="1"/>
          </p:cNvSpPr>
          <p:nvPr/>
        </p:nvSpPr>
        <p:spPr>
          <a:xfrm xmlns:a="http://schemas.openxmlformats.org/drawingml/2006/main">
            <a:off x="571500" y="6534150"/>
            <a:ext cx="2266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00" b="0">
                <a:solidFill>
                  <a:srgbClr val="536273"/>
                </a:solidFill>
                <a:latin typeface="Arial"/>
                <a:ea typeface="Arial"/>
                <a:cs typeface="Arial"/>
              </a:defRPr>
            </a:pPr>
            <a:r>
              <a:rPr sz="900" b="0">
                <a:solidFill>
                  <a:srgbClr val="536273"/>
                </a:solidFill>
                <a:latin typeface="Arial"/>
                <a:ea typeface="Arial"/>
                <a:cs typeface="Arial"/>
              </a:rPr>
              <a:t>Attachments never execute</a:t>
            </a:r>
          </a:p>
        </p:txBody>
      </p:sp>
      <p:sp>
        <p:nvSpPr>
          <p:cNvPr id="83" name="">
            <a:extLst xmlns:a="http://schemas.openxmlformats.org/drawingml/2006/main">
              <a:ext uri="{FF2B5EF4-FFF2-40B4-BE49-F238E27FC236}">
                <a16:creationId xmlns:a16="http://schemas.microsoft.com/office/drawing/2014/main" id="{A2306E11-03E1-4736-AC6C-27B9ADBC89BB}"/>
              </a:ext>
            </a:extLst>
          </p:cNvPr>
          <p:cNvSpPr>
            <a:spLocks xmlns:a="http://schemas.openxmlformats.org/drawingml/2006/main" noGrp="1"/>
          </p:cNvSpPr>
          <p:nvPr/>
        </p:nvSpPr>
        <p:spPr>
          <a:xfrm xmlns:a="http://schemas.openxmlformats.org/drawingml/2006/main">
            <a:off x="4962525" y="65341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0">
                <a:solidFill>
                  <a:srgbClr val="536273"/>
                </a:solidFill>
                <a:latin typeface="Arial"/>
                <a:ea typeface="Arial"/>
                <a:cs typeface="Arial"/>
              </a:defRPr>
            </a:pPr>
            <a:r>
              <a:rPr sz="900" b="0">
                <a:solidFill>
                  <a:srgbClr val="536273"/>
                </a:solidFill>
                <a:latin typeface="Arial"/>
                <a:ea typeface="Arial"/>
                <a:cs typeface="Arial"/>
              </a:rPr>
              <a:t>Unknown evidence stays unknown</a:t>
            </a:r>
          </a:p>
        </p:txBody>
      </p:sp>
      <p:sp>
        <p:nvSpPr>
          <p:cNvPr id="84" name="">
            <a:extLst xmlns:a="http://schemas.openxmlformats.org/drawingml/2006/main">
              <a:ext uri="{FF2B5EF4-FFF2-40B4-BE49-F238E27FC236}">
                <a16:creationId xmlns:a16="http://schemas.microsoft.com/office/drawing/2014/main" id="{69F63BA4-0530-4DD9-B927-72C7F257B5D8}"/>
              </a:ext>
            </a:extLst>
          </p:cNvPr>
          <p:cNvSpPr>
            <a:spLocks xmlns:a="http://schemas.openxmlformats.org/drawingml/2006/main" noGrp="1"/>
          </p:cNvSpPr>
          <p:nvPr/>
        </p:nvSpPr>
        <p:spPr>
          <a:xfrm xmlns:a="http://schemas.openxmlformats.org/drawingml/2006/main">
            <a:off x="8763000" y="65341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900" b="0">
                <a:solidFill>
                  <a:srgbClr val="536273"/>
                </a:solidFill>
                <a:latin typeface="Arial"/>
                <a:ea typeface="Arial"/>
                <a:cs typeface="Arial"/>
              </a:defRPr>
            </a:pPr>
            <a:r>
              <a:rPr sz="900" b="0">
                <a:solidFill>
                  <a:srgbClr val="536273"/>
                </a:solidFill>
                <a:latin typeface="Arial"/>
                <a:ea typeface="Arial"/>
                <a:cs typeface="Arial"/>
              </a:rPr>
              <a:t>Geolocation describes observed infrastructure</a:t>
            </a:r>
          </a:p>
        </p:txBody>
      </p:sp>
    </p:spTree>
    <p:extLst>
      <p:ext uri="{BB962C8B-B14F-4D97-AF65-F5344CB8AC3E}">
        <p14:creationId xmlns:p14="http://schemas.microsoft.com/office/powerpoint/2010/main" val="147987062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0" name="">
            <a:extLst xmlns:a="http://schemas.openxmlformats.org/drawingml/2006/main">
              <a:ext uri="{FF2B5EF4-FFF2-40B4-BE49-F238E27FC236}">
                <a16:creationId xmlns:a16="http://schemas.microsoft.com/office/drawing/2014/main" id="{9BB21C94-96CD-41C4-B4B9-2BE25BFEE1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7D3B"/>
          </a:solidFill>
          <a:ln xmlns:a="http://schemas.openxmlformats.org/drawingml/2006/main" w="0">
            <a:solidFill>
              <a:srgbClr val="F07D3B"/>
            </a:solidFill>
            <a:prstDash val="solid"/>
          </a:ln>
        </p:spPr>
      </p:sp>
      <p:sp>
        <p:nvSpPr>
          <p:cNvPr id="2" name="">
            <a:extLst xmlns:a="http://schemas.openxmlformats.org/drawingml/2006/main">
              <a:ext uri="{FF2B5EF4-FFF2-40B4-BE49-F238E27FC236}">
                <a16:creationId xmlns:a16="http://schemas.microsoft.com/office/drawing/2014/main" id="{472FAF2D-C6CC-4703-8F0A-75FFB930A995}"/>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DDF3F0"/>
          </a:solidFill>
          <a:ln xmlns:a="http://schemas.openxmlformats.org/drawingml/2006/main" w="0">
            <a:solidFill>
              <a:srgbClr val="DDF3F0"/>
            </a:solidFill>
            <a:prstDash val="solid"/>
          </a:ln>
        </p:spPr>
      </p:sp>
      <p:sp>
        <p:nvSpPr>
          <p:cNvPr id="3" name="">
            <a:extLst xmlns:a="http://schemas.openxmlformats.org/drawingml/2006/main">
              <a:ext uri="{FF2B5EF4-FFF2-40B4-BE49-F238E27FC236}">
                <a16:creationId xmlns:a16="http://schemas.microsoft.com/office/drawing/2014/main" id="{AFA0A04B-E3F8-4389-9CC5-6496C4EFD5B4}"/>
              </a:ext>
            </a:extLst>
          </p:cNvPr>
          <p:cNvSpPr>
            <a:spLocks xmlns:a="http://schemas.openxmlformats.org/drawingml/2006/main" noGrp="1"/>
          </p:cNvSpPr>
          <p:nvPr/>
        </p:nvSpPr>
        <p:spPr>
          <a:xfrm xmlns:a="http://schemas.openxmlformats.org/drawingml/2006/main">
            <a:off x="0" y="4953000"/>
            <a:ext cx="1905000" cy="1905000"/>
          </a:xfrm>
          <a:prstGeom xmlns:a="http://schemas.openxmlformats.org/drawingml/2006/main" prst="ellipse">
            <a:avLst/>
          </a:prstGeom>
          <a:solidFill xmlns:a="http://schemas.openxmlformats.org/drawingml/2006/main">
            <a:srgbClr val="FCE8D9"/>
          </a:solidFill>
          <a:ln xmlns:a="http://schemas.openxmlformats.org/drawingml/2006/main" w="0">
            <a:solidFill>
              <a:srgbClr val="FCE8D9"/>
            </a:solidFill>
            <a:prstDash val="solid"/>
          </a:ln>
        </p:spPr>
      </p:sp>
      <p:sp>
        <p:nvSpPr>
          <p:cNvPr id="4" name="">
            <a:extLst xmlns:a="http://schemas.openxmlformats.org/drawingml/2006/main">
              <a:ext uri="{FF2B5EF4-FFF2-40B4-BE49-F238E27FC236}">
                <a16:creationId xmlns:a16="http://schemas.microsoft.com/office/drawing/2014/main" id="{01F7E11A-DB0F-450C-AFE5-625C6264D410}"/>
              </a:ext>
            </a:extLst>
          </p:cNvPr>
          <p:cNvSpPr>
            <a:spLocks xmlns:a="http://schemas.openxmlformats.org/drawingml/2006/main" noGrp="1"/>
          </p:cNvSpPr>
          <p:nvPr/>
        </p:nvSpPr>
        <p:spPr>
          <a:xfrm xmlns:a="http://schemas.openxmlformats.org/drawingml/2006/main">
            <a:off x="552450" y="409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10253F"/>
                </a:solidFill>
                <a:latin typeface="Arial"/>
                <a:ea typeface="Arial"/>
                <a:cs typeface="Arial"/>
              </a:defRPr>
            </a:pPr>
            <a:r>
              <a:rPr sz="3450" b="1">
                <a:solidFill>
                  <a:srgbClr val="10253F"/>
                </a:solidFill>
                <a:latin typeface="Arial"/>
                <a:ea typeface="Arial"/>
                <a:cs typeface="Arial"/>
              </a:rPr>
              <a:t>SYSTEM ARCHITECTURE</a:t>
            </a:r>
          </a:p>
        </p:txBody>
      </p:sp>
      <p:sp>
        <p:nvSpPr>
          <p:cNvPr id="5" name="">
            <a:extLst xmlns:a="http://schemas.openxmlformats.org/drawingml/2006/main">
              <a:ext uri="{FF2B5EF4-FFF2-40B4-BE49-F238E27FC236}">
                <a16:creationId xmlns:a16="http://schemas.microsoft.com/office/drawing/2014/main" id="{29114BF8-4580-4CC0-B6BE-0951752FD1F0}"/>
              </a:ext>
            </a:extLst>
          </p:cNvPr>
          <p:cNvSpPr>
            <a:spLocks xmlns:a="http://schemas.openxmlformats.org/drawingml/2006/main" noGrp="1"/>
          </p:cNvSpPr>
          <p:nvPr/>
        </p:nvSpPr>
        <p:spPr>
          <a:xfrm xmlns:a="http://schemas.openxmlformats.org/drawingml/2006/main">
            <a:off x="571500" y="9715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536273"/>
                </a:solidFill>
                <a:latin typeface="Arial"/>
                <a:ea typeface="Arial"/>
                <a:cs typeface="Arial"/>
              </a:defRPr>
            </a:pPr>
            <a:r>
              <a:rPr sz="1575" b="0">
                <a:solidFill>
                  <a:srgbClr val="536273"/>
                </a:solidFill>
                <a:latin typeface="Arial"/>
                <a:ea typeface="Arial"/>
                <a:cs typeface="Arial"/>
              </a:rPr>
              <a:t>A secure, modular pipeline connects the public interface to forensic evidence</a:t>
            </a:r>
          </a:p>
        </p:txBody>
      </p:sp>
      <p:sp>
        <p:nvSpPr>
          <p:cNvPr id="6" name="">
            <a:extLst xmlns:a="http://schemas.openxmlformats.org/drawingml/2006/main">
              <a:ext uri="{FF2B5EF4-FFF2-40B4-BE49-F238E27FC236}">
                <a16:creationId xmlns:a16="http://schemas.microsoft.com/office/drawing/2014/main" id="{93228A84-88BA-4959-9943-767D7AE8620F}"/>
              </a:ext>
            </a:extLst>
          </p:cNvPr>
          <p:cNvSpPr>
            <a:spLocks xmlns:a="http://schemas.openxmlformats.org/drawingml/2006/main" noGrp="1"/>
          </p:cNvSpPr>
          <p:nvPr/>
        </p:nvSpPr>
        <p:spPr>
          <a:xfrm xmlns:a="http://schemas.openxmlformats.org/drawingml/2006/main">
            <a:off x="9810750" y="514350"/>
            <a:ext cx="17907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B5D47FA-D81A-4CAB-8549-2671C36D903A}"/>
              </a:ext>
            </a:extLst>
          </p:cNvPr>
          <p:cNvSpPr>
            <a:spLocks xmlns:a="http://schemas.openxmlformats.org/drawingml/2006/main" noGrp="1"/>
          </p:cNvSpPr>
          <p:nvPr/>
        </p:nvSpPr>
        <p:spPr>
          <a:xfrm xmlns:a="http://schemas.openxmlformats.org/drawingml/2006/main">
            <a:off x="9982200" y="657225"/>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8" name="">
            <a:extLst xmlns:a="http://schemas.openxmlformats.org/drawingml/2006/main">
              <a:ext uri="{FF2B5EF4-FFF2-40B4-BE49-F238E27FC236}">
                <a16:creationId xmlns:a16="http://schemas.microsoft.com/office/drawing/2014/main" id="{D6A903ED-C980-41E2-A55C-892450304679}"/>
              </a:ext>
            </a:extLst>
          </p:cNvPr>
          <p:cNvSpPr>
            <a:spLocks xmlns:a="http://schemas.openxmlformats.org/drawingml/2006/main" noGrp="1"/>
          </p:cNvSpPr>
          <p:nvPr/>
        </p:nvSpPr>
        <p:spPr>
          <a:xfrm xmlns:a="http://schemas.openxmlformats.org/drawingml/2006/main">
            <a:off x="10191750" y="5524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defRPr sz="1050" b="1">
                <a:solidFill>
                  <a:srgbClr val="10253F"/>
                </a:solidFill>
                <a:latin typeface="Arial"/>
                <a:ea typeface="Arial"/>
                <a:cs typeface="Arial"/>
              </a:defRPr>
            </a:pPr>
            <a:r>
              <a:rPr sz="1050" b="1">
                <a:solidFill>
                  <a:srgbClr val="10253F"/>
                </a:solidFill>
                <a:latin typeface="Arial"/>
                <a:ea typeface="Arial"/>
                <a:cs typeface="Arial"/>
              </a:rPr>
              <a:t>RAKSHAK PLATFORM</a:t>
            </a:r>
          </a:p>
        </p:txBody>
      </p:sp>
      <p:sp>
        <p:nvSpPr>
          <p:cNvPr id="9" name="">
            <a:extLst xmlns:a="http://schemas.openxmlformats.org/drawingml/2006/main">
              <a:ext uri="{FF2B5EF4-FFF2-40B4-BE49-F238E27FC236}">
                <a16:creationId xmlns:a16="http://schemas.microsoft.com/office/drawing/2014/main" id="{BCC40145-3CF1-4201-A7C4-4061BF1D7413}"/>
              </a:ext>
            </a:extLst>
          </p:cNvPr>
          <p:cNvSpPr>
            <a:spLocks xmlns:a="http://schemas.openxmlformats.org/drawingml/2006/main" noGrp="1"/>
          </p:cNvSpPr>
          <p:nvPr/>
        </p:nvSpPr>
        <p:spPr>
          <a:xfrm xmlns:a="http://schemas.openxmlformats.org/drawingml/2006/main">
            <a:off x="571500" y="1762125"/>
            <a:ext cx="95250" cy="952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10" name="">
            <a:extLst xmlns:a="http://schemas.openxmlformats.org/drawingml/2006/main">
              <a:ext uri="{FF2B5EF4-FFF2-40B4-BE49-F238E27FC236}">
                <a16:creationId xmlns:a16="http://schemas.microsoft.com/office/drawing/2014/main" id="{0FCC236C-968C-4DD3-A699-F149C203942C}"/>
              </a:ext>
            </a:extLst>
          </p:cNvPr>
          <p:cNvSpPr>
            <a:spLocks xmlns:a="http://schemas.openxmlformats.org/drawingml/2006/main" noGrp="1"/>
          </p:cNvSpPr>
          <p:nvPr/>
        </p:nvSpPr>
        <p:spPr>
          <a:xfrm xmlns:a="http://schemas.openxmlformats.org/drawingml/2006/main">
            <a:off x="762000" y="16764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07D3B"/>
                </a:solidFill>
                <a:latin typeface="Arial"/>
                <a:ea typeface="Arial"/>
                <a:cs typeface="Arial"/>
              </a:defRPr>
            </a:pPr>
            <a:r>
              <a:rPr sz="1050" b="1">
                <a:solidFill>
                  <a:srgbClr val="F07D3B"/>
                </a:solidFill>
                <a:latin typeface="Arial"/>
                <a:ea typeface="Arial"/>
                <a:cs typeface="Arial"/>
              </a:rPr>
              <a:t>EXPERIENCE</a:t>
            </a:r>
          </a:p>
        </p:txBody>
      </p:sp>
      <p:sp>
        <p:nvSpPr>
          <p:cNvPr id="11" name="">
            <a:extLst xmlns:a="http://schemas.openxmlformats.org/drawingml/2006/main">
              <a:ext uri="{FF2B5EF4-FFF2-40B4-BE49-F238E27FC236}">
                <a16:creationId xmlns:a16="http://schemas.microsoft.com/office/drawing/2014/main" id="{AF14D665-30FE-4880-9299-E538A5ECB31B}"/>
              </a:ext>
            </a:extLst>
          </p:cNvPr>
          <p:cNvSpPr>
            <a:spLocks xmlns:a="http://schemas.openxmlformats.org/drawingml/2006/main" noGrp="1"/>
          </p:cNvSpPr>
          <p:nvPr/>
        </p:nvSpPr>
        <p:spPr>
          <a:xfrm xmlns:a="http://schemas.openxmlformats.org/drawingml/2006/main">
            <a:off x="571500" y="2676525"/>
            <a:ext cx="95250" cy="95250"/>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12" name="">
            <a:extLst xmlns:a="http://schemas.openxmlformats.org/drawingml/2006/main">
              <a:ext uri="{FF2B5EF4-FFF2-40B4-BE49-F238E27FC236}">
                <a16:creationId xmlns:a16="http://schemas.microsoft.com/office/drawing/2014/main" id="{D6C73D77-D0B3-44C0-A68F-BA80DC258B7E}"/>
              </a:ext>
            </a:extLst>
          </p:cNvPr>
          <p:cNvSpPr>
            <a:spLocks xmlns:a="http://schemas.openxmlformats.org/drawingml/2006/main" noGrp="1"/>
          </p:cNvSpPr>
          <p:nvPr/>
        </p:nvSpPr>
        <p:spPr>
          <a:xfrm xmlns:a="http://schemas.openxmlformats.org/drawingml/2006/main">
            <a:off x="762000" y="25908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C67B1"/>
                </a:solidFill>
                <a:latin typeface="Arial"/>
                <a:ea typeface="Arial"/>
                <a:cs typeface="Arial"/>
              </a:defRPr>
            </a:pPr>
            <a:r>
              <a:rPr sz="1050" b="1">
                <a:solidFill>
                  <a:srgbClr val="2C67B1"/>
                </a:solidFill>
                <a:latin typeface="Arial"/>
                <a:ea typeface="Arial"/>
                <a:cs typeface="Arial"/>
              </a:rPr>
              <a:t>SECURITY</a:t>
            </a:r>
          </a:p>
        </p:txBody>
      </p:sp>
      <p:sp>
        <p:nvSpPr>
          <p:cNvPr id="13" name="">
            <a:extLst xmlns:a="http://schemas.openxmlformats.org/drawingml/2006/main">
              <a:ext uri="{FF2B5EF4-FFF2-40B4-BE49-F238E27FC236}">
                <a16:creationId xmlns:a16="http://schemas.microsoft.com/office/drawing/2014/main" id="{89786D8B-77A3-4DA9-8BD6-5FB31E60E847}"/>
              </a:ext>
            </a:extLst>
          </p:cNvPr>
          <p:cNvSpPr>
            <a:spLocks xmlns:a="http://schemas.openxmlformats.org/drawingml/2006/main" noGrp="1"/>
          </p:cNvSpPr>
          <p:nvPr/>
        </p:nvSpPr>
        <p:spPr>
          <a:xfrm xmlns:a="http://schemas.openxmlformats.org/drawingml/2006/main">
            <a:off x="571500" y="3590925"/>
            <a:ext cx="95250" cy="95250"/>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14" name="">
            <a:extLst xmlns:a="http://schemas.openxmlformats.org/drawingml/2006/main">
              <a:ext uri="{FF2B5EF4-FFF2-40B4-BE49-F238E27FC236}">
                <a16:creationId xmlns:a16="http://schemas.microsoft.com/office/drawing/2014/main" id="{E1C540AB-199A-4841-B63C-E91CB2D9F69F}"/>
              </a:ext>
            </a:extLst>
          </p:cNvPr>
          <p:cNvSpPr>
            <a:spLocks xmlns:a="http://schemas.openxmlformats.org/drawingml/2006/main" noGrp="1"/>
          </p:cNvSpPr>
          <p:nvPr/>
        </p:nvSpPr>
        <p:spPr>
          <a:xfrm xmlns:a="http://schemas.openxmlformats.org/drawingml/2006/main">
            <a:off x="762000" y="35052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59F9A"/>
                </a:solidFill>
                <a:latin typeface="Arial"/>
                <a:ea typeface="Arial"/>
                <a:cs typeface="Arial"/>
              </a:defRPr>
            </a:pPr>
            <a:r>
              <a:rPr sz="1050" b="1">
                <a:solidFill>
                  <a:srgbClr val="159F9A"/>
                </a:solidFill>
                <a:latin typeface="Arial"/>
                <a:ea typeface="Arial"/>
                <a:cs typeface="Arial"/>
              </a:rPr>
              <a:t>ANALYSIS</a:t>
            </a:r>
          </a:p>
        </p:txBody>
      </p:sp>
      <p:sp>
        <p:nvSpPr>
          <p:cNvPr id="15" name="">
            <a:extLst xmlns:a="http://schemas.openxmlformats.org/drawingml/2006/main">
              <a:ext uri="{FF2B5EF4-FFF2-40B4-BE49-F238E27FC236}">
                <a16:creationId xmlns:a16="http://schemas.microsoft.com/office/drawing/2014/main" id="{523880F6-EBEC-4F7D-8526-F7170C73D5E1}"/>
              </a:ext>
            </a:extLst>
          </p:cNvPr>
          <p:cNvSpPr>
            <a:spLocks xmlns:a="http://schemas.openxmlformats.org/drawingml/2006/main" noGrp="1"/>
          </p:cNvSpPr>
          <p:nvPr/>
        </p:nvSpPr>
        <p:spPr>
          <a:xfrm xmlns:a="http://schemas.openxmlformats.org/drawingml/2006/main">
            <a:off x="571500" y="5286375"/>
            <a:ext cx="95250" cy="95250"/>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16" name="">
            <a:extLst xmlns:a="http://schemas.openxmlformats.org/drawingml/2006/main">
              <a:ext uri="{FF2B5EF4-FFF2-40B4-BE49-F238E27FC236}">
                <a16:creationId xmlns:a16="http://schemas.microsoft.com/office/drawing/2014/main" id="{4E3156F2-22F2-405F-B8C8-ACAFDCFDDE52}"/>
              </a:ext>
            </a:extLst>
          </p:cNvPr>
          <p:cNvSpPr>
            <a:spLocks xmlns:a="http://schemas.openxmlformats.org/drawingml/2006/main" noGrp="1"/>
          </p:cNvSpPr>
          <p:nvPr/>
        </p:nvSpPr>
        <p:spPr>
          <a:xfrm xmlns:a="http://schemas.openxmlformats.org/drawingml/2006/main">
            <a:off x="762000" y="520065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E5A528"/>
                </a:solidFill>
                <a:latin typeface="Arial"/>
                <a:ea typeface="Arial"/>
                <a:cs typeface="Arial"/>
              </a:defRPr>
            </a:pPr>
            <a:r>
              <a:rPr sz="1050" b="1">
                <a:solidFill>
                  <a:srgbClr val="E5A528"/>
                </a:solidFill>
                <a:latin typeface="Arial"/>
                <a:ea typeface="Arial"/>
                <a:cs typeface="Arial"/>
              </a:rPr>
              <a:t>DATA + INTEL</a:t>
            </a:r>
          </a:p>
        </p:txBody>
      </p:sp>
      <p:sp>
        <p:nvSpPr>
          <p:cNvPr id="17" name="">
            <a:extLst xmlns:a="http://schemas.openxmlformats.org/drawingml/2006/main">
              <a:ext uri="{FF2B5EF4-FFF2-40B4-BE49-F238E27FC236}">
                <a16:creationId xmlns:a16="http://schemas.microsoft.com/office/drawing/2014/main" id="{F229F1B6-F3D1-4C92-B564-81CC1414C052}"/>
              </a:ext>
            </a:extLst>
          </p:cNvPr>
          <p:cNvSpPr>
            <a:spLocks xmlns:a="http://schemas.openxmlformats.org/drawingml/2006/main" noGrp="1"/>
          </p:cNvSpPr>
          <p:nvPr/>
        </p:nvSpPr>
        <p:spPr>
          <a:xfrm xmlns:a="http://schemas.openxmlformats.org/drawingml/2006/main">
            <a:off x="1952625" y="1504950"/>
            <a:ext cx="75247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7A5CE08E-85BF-4C27-946E-99EC261075F5}"/>
              </a:ext>
            </a:extLst>
          </p:cNvPr>
          <p:cNvSpPr>
            <a:spLocks xmlns:a="http://schemas.openxmlformats.org/drawingml/2006/main" noGrp="1"/>
          </p:cNvSpPr>
          <p:nvPr/>
        </p:nvSpPr>
        <p:spPr>
          <a:xfrm xmlns:a="http://schemas.openxmlformats.org/drawingml/2006/main">
            <a:off x="2133600" y="1676400"/>
            <a:ext cx="1524000" cy="400050"/>
          </a:xfrm>
          <a:prstGeom xmlns:a="http://schemas.openxmlformats.org/drawingml/2006/main" prst="roundRect">
            <a:avLst>
              <a:gd name="adj" fmla="val 50000"/>
            </a:avLst>
          </a:prstGeom>
          <a:solidFill xmlns:a="http://schemas.openxmlformats.org/drawingml/2006/main">
            <a:srgbClr val="FCE8D9"/>
          </a:solidFill>
          <a:ln xmlns:a="http://schemas.openxmlformats.org/drawingml/2006/main" w="9525">
            <a:solidFill>
              <a:srgbClr val="F07D3B"/>
            </a:solidFill>
            <a:prstDash val="solid"/>
          </a:ln>
        </p:spPr>
      </p:sp>
      <p:sp>
        <p:nvSpPr>
          <p:cNvPr id="19" name="">
            <a:extLst xmlns:a="http://schemas.openxmlformats.org/drawingml/2006/main">
              <a:ext uri="{FF2B5EF4-FFF2-40B4-BE49-F238E27FC236}">
                <a16:creationId xmlns:a16="http://schemas.microsoft.com/office/drawing/2014/main" id="{4AD84545-DCFF-443C-87AF-25539A106917}"/>
              </a:ext>
            </a:extLst>
          </p:cNvPr>
          <p:cNvSpPr>
            <a:spLocks xmlns:a="http://schemas.openxmlformats.org/drawingml/2006/main" noGrp="1"/>
          </p:cNvSpPr>
          <p:nvPr/>
        </p:nvSpPr>
        <p:spPr>
          <a:xfrm xmlns:a="http://schemas.openxmlformats.org/drawingml/2006/main">
            <a:off x="2133600" y="16764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07D3B"/>
                </a:solidFill>
                <a:latin typeface="Arial"/>
                <a:ea typeface="Arial"/>
                <a:cs typeface="Arial"/>
              </a:defRPr>
            </a:pPr>
            <a:r>
              <a:rPr sz="1350" b="1">
                <a:solidFill>
                  <a:srgbClr val="F07D3B"/>
                </a:solidFill>
                <a:latin typeface="Arial"/>
                <a:ea typeface="Arial"/>
                <a:cs typeface="Arial"/>
              </a:rPr>
              <a:t>PUBLIC USER</a:t>
            </a:r>
          </a:p>
        </p:txBody>
      </p:sp>
      <p:sp>
        <p:nvSpPr>
          <p:cNvPr id="20" name="">
            <a:extLst xmlns:a="http://schemas.openxmlformats.org/drawingml/2006/main">
              <a:ext uri="{FF2B5EF4-FFF2-40B4-BE49-F238E27FC236}">
                <a16:creationId xmlns:a16="http://schemas.microsoft.com/office/drawing/2014/main" id="{FA333699-D5C0-4EFD-AEF4-4EDA6F2CEE82}"/>
              </a:ext>
            </a:extLst>
          </p:cNvPr>
          <p:cNvSpPr>
            <a:spLocks xmlns:a="http://schemas.openxmlformats.org/drawingml/2006/main" noGrp="1"/>
          </p:cNvSpPr>
          <p:nvPr/>
        </p:nvSpPr>
        <p:spPr>
          <a:xfrm xmlns:a="http://schemas.openxmlformats.org/drawingml/2006/main">
            <a:off x="4019550" y="161925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3864"/>
          </a:bodyPr>
          <a:lstStyle xmlns:a="http://schemas.openxmlformats.org/drawingml/2006/main"/>
          <a:p xmlns:a="http://schemas.openxmlformats.org/drawingml/2006/main">
            <a:pPr algn="l">
              <a:defRPr sz="1575" b="1">
                <a:solidFill>
                  <a:srgbClr val="10253F"/>
                </a:solidFill>
                <a:latin typeface="Arial"/>
                <a:ea typeface="Arial"/>
                <a:cs typeface="Arial"/>
              </a:defRPr>
            </a:pPr>
            <a:r>
              <a:rPr sz="1575" b="1">
                <a:solidFill>
                  <a:srgbClr val="10253F"/>
                </a:solidFill>
                <a:latin typeface="Arial"/>
                <a:ea typeface="Arial"/>
                <a:cs typeface="Arial"/>
              </a:rPr>
              <a:t>REACT + TYPESCRIPT WEB APP</a:t>
            </a:r>
          </a:p>
        </p:txBody>
      </p:sp>
      <p:sp>
        <p:nvSpPr>
          <p:cNvPr id="21" name="">
            <a:extLst xmlns:a="http://schemas.openxmlformats.org/drawingml/2006/main">
              <a:ext uri="{FF2B5EF4-FFF2-40B4-BE49-F238E27FC236}">
                <a16:creationId xmlns:a16="http://schemas.microsoft.com/office/drawing/2014/main" id="{B52AA6F6-690C-4BAA-A0A2-BFDCB3FD2C3C}"/>
              </a:ext>
            </a:extLst>
          </p:cNvPr>
          <p:cNvSpPr>
            <a:spLocks xmlns:a="http://schemas.openxmlformats.org/drawingml/2006/main" noGrp="1"/>
          </p:cNvSpPr>
          <p:nvPr/>
        </p:nvSpPr>
        <p:spPr>
          <a:xfrm xmlns:a="http://schemas.openxmlformats.org/drawingml/2006/main">
            <a:off x="4019550" y="191452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536273"/>
                </a:solidFill>
                <a:latin typeface="Arial"/>
                <a:ea typeface="Arial"/>
                <a:cs typeface="Arial"/>
              </a:defRPr>
            </a:pPr>
            <a:r>
              <a:rPr sz="1125" b="0">
                <a:solidFill>
                  <a:srgbClr val="536273"/>
                </a:solidFill>
                <a:latin typeface="Arial"/>
                <a:ea typeface="Arial"/>
                <a:cs typeface="Arial"/>
              </a:rPr>
              <a:t>Safe .eml upload</a:t>
            </a:r>
          </a:p>
        </p:txBody>
      </p:sp>
      <p:sp>
        <p:nvSpPr>
          <p:cNvPr id="22" name="">
            <a:extLst xmlns:a="http://schemas.openxmlformats.org/drawingml/2006/main">
              <a:ext uri="{FF2B5EF4-FFF2-40B4-BE49-F238E27FC236}">
                <a16:creationId xmlns:a16="http://schemas.microsoft.com/office/drawing/2014/main" id="{0C3C08E8-85A3-4BDC-95D2-ABD9FE158BED}"/>
              </a:ext>
            </a:extLst>
          </p:cNvPr>
          <p:cNvSpPr>
            <a:spLocks xmlns:a="http://schemas.openxmlformats.org/drawingml/2006/main" noGrp="1"/>
          </p:cNvSpPr>
          <p:nvPr/>
        </p:nvSpPr>
        <p:spPr>
          <a:xfrm xmlns:a="http://schemas.openxmlformats.org/drawingml/2006/main">
            <a:off x="6867525" y="1724025"/>
            <a:ext cx="116205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3" name="">
            <a:extLst xmlns:a="http://schemas.openxmlformats.org/drawingml/2006/main">
              <a:ext uri="{FF2B5EF4-FFF2-40B4-BE49-F238E27FC236}">
                <a16:creationId xmlns:a16="http://schemas.microsoft.com/office/drawing/2014/main" id="{B8A6AE3F-46F9-4DEA-BC3D-7C3C818E35B1}"/>
              </a:ext>
            </a:extLst>
          </p:cNvPr>
          <p:cNvSpPr>
            <a:spLocks xmlns:a="http://schemas.openxmlformats.org/drawingml/2006/main" noGrp="1"/>
          </p:cNvSpPr>
          <p:nvPr/>
        </p:nvSpPr>
        <p:spPr>
          <a:xfrm xmlns:a="http://schemas.openxmlformats.org/drawingml/2006/main">
            <a:off x="6867525" y="17240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59F9A"/>
                </a:solidFill>
                <a:latin typeface="Arial"/>
                <a:ea typeface="Arial"/>
                <a:cs typeface="Arial"/>
              </a:defRPr>
            </a:pPr>
            <a:r>
              <a:rPr sz="900" b="1">
                <a:solidFill>
                  <a:srgbClr val="159F9A"/>
                </a:solidFill>
                <a:latin typeface="Arial"/>
                <a:ea typeface="Arial"/>
                <a:cs typeface="Arial"/>
              </a:rPr>
              <a:t>VIEW EVIDENCE</a:t>
            </a:r>
          </a:p>
        </p:txBody>
      </p:sp>
      <p:sp>
        <p:nvSpPr>
          <p:cNvPr id="24" name="">
            <a:extLst xmlns:a="http://schemas.openxmlformats.org/drawingml/2006/main">
              <a:ext uri="{FF2B5EF4-FFF2-40B4-BE49-F238E27FC236}">
                <a16:creationId xmlns:a16="http://schemas.microsoft.com/office/drawing/2014/main" id="{6869E644-1DC0-4E15-889A-B9C1B8BB2C99}"/>
              </a:ext>
            </a:extLst>
          </p:cNvPr>
          <p:cNvSpPr>
            <a:spLocks xmlns:a="http://schemas.openxmlformats.org/drawingml/2006/main" noGrp="1"/>
          </p:cNvSpPr>
          <p:nvPr/>
        </p:nvSpPr>
        <p:spPr>
          <a:xfrm xmlns:a="http://schemas.openxmlformats.org/drawingml/2006/main">
            <a:off x="8143875" y="1724025"/>
            <a:ext cx="1133475" cy="266700"/>
          </a:xfrm>
          <a:prstGeom xmlns:a="http://schemas.openxmlformats.org/drawingml/2006/main" prst="roundRect">
            <a:avLst>
              <a:gd name="adj" fmla="val 50000"/>
            </a:avLst>
          </a:prstGeom>
          <a:solidFill xmlns:a="http://schemas.openxmlformats.org/drawingml/2006/main">
            <a:srgbClr val="E3ECF8"/>
          </a:solidFill>
          <a:ln xmlns:a="http://schemas.openxmlformats.org/drawingml/2006/main" w="9525">
            <a:solidFill>
              <a:srgbClr val="2C67B1"/>
            </a:solidFill>
            <a:prstDash val="solid"/>
          </a:ln>
        </p:spPr>
      </p:sp>
      <p:sp>
        <p:nvSpPr>
          <p:cNvPr id="25" name="">
            <a:extLst xmlns:a="http://schemas.openxmlformats.org/drawingml/2006/main">
              <a:ext uri="{FF2B5EF4-FFF2-40B4-BE49-F238E27FC236}">
                <a16:creationId xmlns:a16="http://schemas.microsoft.com/office/drawing/2014/main" id="{3DA6FF95-5D17-4BC5-A147-143056AC478F}"/>
              </a:ext>
            </a:extLst>
          </p:cNvPr>
          <p:cNvSpPr>
            <a:spLocks xmlns:a="http://schemas.openxmlformats.org/drawingml/2006/main" noGrp="1"/>
          </p:cNvSpPr>
          <p:nvPr/>
        </p:nvSpPr>
        <p:spPr>
          <a:xfrm xmlns:a="http://schemas.openxmlformats.org/drawingml/2006/main">
            <a:off x="8143875" y="1724025"/>
            <a:ext cx="1133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2C67B1"/>
                </a:solidFill>
                <a:latin typeface="Arial"/>
                <a:ea typeface="Arial"/>
                <a:cs typeface="Arial"/>
              </a:defRPr>
            </a:pPr>
            <a:r>
              <a:rPr sz="900" b="1">
                <a:solidFill>
                  <a:srgbClr val="2C67B1"/>
                </a:solidFill>
                <a:latin typeface="Arial"/>
                <a:ea typeface="Arial"/>
                <a:cs typeface="Arial"/>
              </a:rPr>
              <a:t>DOWNLOAD PDF</a:t>
            </a:r>
          </a:p>
        </p:txBody>
      </p:sp>
      <p:sp>
        <p:nvSpPr>
          <p:cNvPr id="26" name="">
            <a:extLst xmlns:a="http://schemas.openxmlformats.org/drawingml/2006/main">
              <a:ext uri="{FF2B5EF4-FFF2-40B4-BE49-F238E27FC236}">
                <a16:creationId xmlns:a16="http://schemas.microsoft.com/office/drawing/2014/main" id="{E4F50995-F340-4CD6-8320-F846A32C1D4A}"/>
              </a:ext>
            </a:extLst>
          </p:cNvPr>
          <p:cNvSpPr>
            <a:spLocks xmlns:a="http://schemas.openxmlformats.org/drawingml/2006/main" noGrp="1"/>
          </p:cNvSpPr>
          <p:nvPr/>
        </p:nvSpPr>
        <p:spPr>
          <a:xfrm xmlns:a="http://schemas.openxmlformats.org/drawingml/2006/main">
            <a:off x="1952625" y="2419350"/>
            <a:ext cx="7524750" cy="742950"/>
          </a:xfrm>
          <a:prstGeom xmlns:a="http://schemas.openxmlformats.org/drawingml/2006/main" prst="roundRect">
            <a:avLst>
              <a:gd name="adj" fmla="val 15385"/>
            </a:avLst>
          </a:prstGeom>
          <a:solidFill xmlns:a="http://schemas.openxmlformats.org/drawingml/2006/main">
            <a:srgbClr val="E3ECF8"/>
          </a:solidFill>
          <a:ln xmlns:a="http://schemas.openxmlformats.org/drawingml/2006/main" w="9525">
            <a:solidFill>
              <a:srgbClr val="2C67B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5EA5AF2-BD9F-4AFF-AA2D-D31F52671386}"/>
              </a:ext>
            </a:extLst>
          </p:cNvPr>
          <p:cNvSpPr>
            <a:spLocks xmlns:a="http://schemas.openxmlformats.org/drawingml/2006/main" noGrp="1"/>
          </p:cNvSpPr>
          <p:nvPr/>
        </p:nvSpPr>
        <p:spPr>
          <a:xfrm xmlns:a="http://schemas.openxmlformats.org/drawingml/2006/main">
            <a:off x="2133600" y="2590800"/>
            <a:ext cx="1809750" cy="400050"/>
          </a:xfrm>
          <a:prstGeom xmlns:a="http://schemas.openxmlformats.org/drawingml/2006/main" prst="roundRect">
            <a:avLst>
              <a:gd name="adj" fmla="val 50000"/>
            </a:avLst>
          </a:prstGeom>
          <a:solidFill xmlns:a="http://schemas.openxmlformats.org/drawingml/2006/main">
            <a:srgbClr val="2C67B1"/>
          </a:solidFill>
          <a:ln xmlns:a="http://schemas.openxmlformats.org/drawingml/2006/main" w="0">
            <a:solidFill>
              <a:srgbClr val="2C67B1"/>
            </a:solidFill>
            <a:prstDash val="solid"/>
          </a:ln>
        </p:spPr>
      </p:sp>
      <p:sp>
        <p:nvSpPr>
          <p:cNvPr id="28" name="">
            <a:extLst xmlns:a="http://schemas.openxmlformats.org/drawingml/2006/main">
              <a:ext uri="{FF2B5EF4-FFF2-40B4-BE49-F238E27FC236}">
                <a16:creationId xmlns:a16="http://schemas.microsoft.com/office/drawing/2014/main" id="{9498E5B3-5D29-44A2-8401-6A71D8B8FCA8}"/>
              </a:ext>
            </a:extLst>
          </p:cNvPr>
          <p:cNvSpPr>
            <a:spLocks xmlns:a="http://schemas.openxmlformats.org/drawingml/2006/main" noGrp="1"/>
          </p:cNvSpPr>
          <p:nvPr/>
        </p:nvSpPr>
        <p:spPr>
          <a:xfrm xmlns:a="http://schemas.openxmlformats.org/drawingml/2006/main">
            <a:off x="2133600" y="25908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FASTAPI GATEWAY</a:t>
            </a:r>
          </a:p>
        </p:txBody>
      </p:sp>
      <p:sp>
        <p:nvSpPr>
          <p:cNvPr id="29" name="">
            <a:extLst xmlns:a="http://schemas.openxmlformats.org/drawingml/2006/main">
              <a:ext uri="{FF2B5EF4-FFF2-40B4-BE49-F238E27FC236}">
                <a16:creationId xmlns:a16="http://schemas.microsoft.com/office/drawing/2014/main" id="{73308F1D-2EB1-4992-AA92-4BED55DF4C45}"/>
              </a:ext>
            </a:extLst>
          </p:cNvPr>
          <p:cNvSpPr>
            <a:spLocks xmlns:a="http://schemas.openxmlformats.org/drawingml/2006/main" noGrp="1"/>
          </p:cNvSpPr>
          <p:nvPr/>
        </p:nvSpPr>
        <p:spPr>
          <a:xfrm xmlns:a="http://schemas.openxmlformats.org/drawingml/2006/main">
            <a:off x="4238625"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Upload validation</a:t>
            </a:r>
          </a:p>
        </p:txBody>
      </p:sp>
      <p:sp>
        <p:nvSpPr>
          <p:cNvPr id="30" name="">
            <a:extLst xmlns:a="http://schemas.openxmlformats.org/drawingml/2006/main">
              <a:ext uri="{FF2B5EF4-FFF2-40B4-BE49-F238E27FC236}">
                <a16:creationId xmlns:a16="http://schemas.microsoft.com/office/drawing/2014/main" id="{DB5DE116-E361-473F-B0DE-252268A8D3B3}"/>
              </a:ext>
            </a:extLst>
          </p:cNvPr>
          <p:cNvSpPr>
            <a:spLocks xmlns:a="http://schemas.openxmlformats.org/drawingml/2006/main" noGrp="1"/>
          </p:cNvSpPr>
          <p:nvPr/>
        </p:nvSpPr>
        <p:spPr>
          <a:xfrm xmlns:a="http://schemas.openxmlformats.org/drawingml/2006/main">
            <a:off x="4238625" y="277177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Size, MIME, filename</a:t>
            </a:r>
          </a:p>
        </p:txBody>
      </p:sp>
      <p:sp>
        <p:nvSpPr>
          <p:cNvPr id="31" name="">
            <a:extLst xmlns:a="http://schemas.openxmlformats.org/drawingml/2006/main">
              <a:ext uri="{FF2B5EF4-FFF2-40B4-BE49-F238E27FC236}">
                <a16:creationId xmlns:a16="http://schemas.microsoft.com/office/drawing/2014/main" id="{44CD556A-1CE2-45F6-BD73-C62B8A86E573}"/>
              </a:ext>
            </a:extLst>
          </p:cNvPr>
          <p:cNvSpPr>
            <a:spLocks xmlns:a="http://schemas.openxmlformats.org/drawingml/2006/main" noGrp="1"/>
          </p:cNvSpPr>
          <p:nvPr/>
        </p:nvSpPr>
        <p:spPr>
          <a:xfrm xmlns:a="http://schemas.openxmlformats.org/drawingml/2006/main">
            <a:off x="5962650"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Session isolation</a:t>
            </a:r>
          </a:p>
        </p:txBody>
      </p:sp>
      <p:sp>
        <p:nvSpPr>
          <p:cNvPr id="32" name="">
            <a:extLst xmlns:a="http://schemas.openxmlformats.org/drawingml/2006/main">
              <a:ext uri="{FF2B5EF4-FFF2-40B4-BE49-F238E27FC236}">
                <a16:creationId xmlns:a16="http://schemas.microsoft.com/office/drawing/2014/main" id="{4A778050-4D66-41FF-A42C-0568D1A9D77C}"/>
              </a:ext>
            </a:extLst>
          </p:cNvPr>
          <p:cNvSpPr>
            <a:spLocks xmlns:a="http://schemas.openxmlformats.org/drawingml/2006/main" noGrp="1"/>
          </p:cNvSpPr>
          <p:nvPr/>
        </p:nvSpPr>
        <p:spPr>
          <a:xfrm xmlns:a="http://schemas.openxmlformats.org/drawingml/2006/main">
            <a:off x="5962650" y="27717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Private case access</a:t>
            </a:r>
          </a:p>
        </p:txBody>
      </p:sp>
      <p:sp>
        <p:nvSpPr>
          <p:cNvPr id="33" name="">
            <a:extLst xmlns:a="http://schemas.openxmlformats.org/drawingml/2006/main">
              <a:ext uri="{FF2B5EF4-FFF2-40B4-BE49-F238E27FC236}">
                <a16:creationId xmlns:a16="http://schemas.microsoft.com/office/drawing/2014/main" id="{14F6F9EB-454F-4F99-896E-08C1A5A8FD84}"/>
              </a:ext>
            </a:extLst>
          </p:cNvPr>
          <p:cNvSpPr>
            <a:spLocks xmlns:a="http://schemas.openxmlformats.org/drawingml/2006/main" noGrp="1"/>
          </p:cNvSpPr>
          <p:nvPr/>
        </p:nvSpPr>
        <p:spPr>
          <a:xfrm xmlns:a="http://schemas.openxmlformats.org/drawingml/2006/main">
            <a:off x="7677150"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Runtime controls</a:t>
            </a:r>
          </a:p>
        </p:txBody>
      </p:sp>
      <p:sp>
        <p:nvSpPr>
          <p:cNvPr id="34" name="">
            <a:extLst xmlns:a="http://schemas.openxmlformats.org/drawingml/2006/main">
              <a:ext uri="{FF2B5EF4-FFF2-40B4-BE49-F238E27FC236}">
                <a16:creationId xmlns:a16="http://schemas.microsoft.com/office/drawing/2014/main" id="{82BAFCE9-8563-4D47-A163-83CB03A54060}"/>
              </a:ext>
            </a:extLst>
          </p:cNvPr>
          <p:cNvSpPr>
            <a:spLocks xmlns:a="http://schemas.openxmlformats.org/drawingml/2006/main" noGrp="1"/>
          </p:cNvSpPr>
          <p:nvPr/>
        </p:nvSpPr>
        <p:spPr>
          <a:xfrm xmlns:a="http://schemas.openxmlformats.org/drawingml/2006/main">
            <a:off x="7677150" y="2771775"/>
            <a:ext cx="160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6282"/>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Limits, timeouts, rate control</a:t>
            </a:r>
          </a:p>
        </p:txBody>
      </p:sp>
      <p:sp>
        <p:nvSpPr>
          <p:cNvPr id="35" name="">
            <a:extLst xmlns:a="http://schemas.openxmlformats.org/drawingml/2006/main">
              <a:ext uri="{FF2B5EF4-FFF2-40B4-BE49-F238E27FC236}">
                <a16:creationId xmlns:a16="http://schemas.microsoft.com/office/drawing/2014/main" id="{0EC3B24C-02FB-4550-82C3-233985BD09C3}"/>
              </a:ext>
            </a:extLst>
          </p:cNvPr>
          <p:cNvSpPr>
            <a:spLocks xmlns:a="http://schemas.openxmlformats.org/drawingml/2006/main" noGrp="1"/>
          </p:cNvSpPr>
          <p:nvPr/>
        </p:nvSpPr>
        <p:spPr>
          <a:xfrm xmlns:a="http://schemas.openxmlformats.org/drawingml/2006/main">
            <a:off x="1952625" y="3333750"/>
            <a:ext cx="7524750" cy="1562100"/>
          </a:xfrm>
          <a:prstGeom xmlns:a="http://schemas.openxmlformats.org/drawingml/2006/main" prst="roundRect">
            <a:avLst>
              <a:gd name="adj" fmla="val 7317"/>
            </a:avLst>
          </a:prstGeom>
          <a:solidFill xmlns:a="http://schemas.openxmlformats.org/drawingml/2006/main">
            <a:srgbClr val="102B4B"/>
          </a:solidFill>
          <a:ln xmlns:a="http://schemas.openxmlformats.org/drawingml/2006/main" w="0">
            <a:solidFill>
              <a:srgbClr val="102B4B"/>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2AC95954-D454-4DDF-B91C-C5305499739E}"/>
              </a:ext>
            </a:extLst>
          </p:cNvPr>
          <p:cNvSpPr>
            <a:spLocks xmlns:a="http://schemas.openxmlformats.org/drawingml/2006/main" noGrp="1"/>
          </p:cNvSpPr>
          <p:nvPr/>
        </p:nvSpPr>
        <p:spPr>
          <a:xfrm xmlns:a="http://schemas.openxmlformats.org/drawingml/2006/main">
            <a:off x="2133600" y="34766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ANALYSIS ORCHESTRATOR</a:t>
            </a:r>
          </a:p>
        </p:txBody>
      </p:sp>
      <p:sp>
        <p:nvSpPr>
          <p:cNvPr id="37" name="">
            <a:extLst xmlns:a="http://schemas.openxmlformats.org/drawingml/2006/main">
              <a:ext uri="{FF2B5EF4-FFF2-40B4-BE49-F238E27FC236}">
                <a16:creationId xmlns:a16="http://schemas.microsoft.com/office/drawing/2014/main" id="{AA449254-A574-45CA-9869-E8C3AFB5C68E}"/>
              </a:ext>
            </a:extLst>
          </p:cNvPr>
          <p:cNvSpPr>
            <a:spLocks xmlns:a="http://schemas.openxmlformats.org/drawingml/2006/main" noGrp="1"/>
          </p:cNvSpPr>
          <p:nvPr/>
        </p:nvSpPr>
        <p:spPr>
          <a:xfrm xmlns:a="http://schemas.openxmlformats.org/drawingml/2006/main">
            <a:off x="4810125" y="3476625"/>
            <a:ext cx="4352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125" b="0">
                <a:solidFill>
                  <a:srgbClr val="C8D3DF"/>
                </a:solidFill>
                <a:latin typeface="Arial"/>
                <a:ea typeface="Arial"/>
                <a:cs typeface="Arial"/>
              </a:defRPr>
            </a:pPr>
            <a:r>
              <a:rPr sz="1125" b="0">
                <a:solidFill>
                  <a:srgbClr val="C8D3DF"/>
                </a:solidFill>
                <a:latin typeface="Arial"/>
                <a:ea typeface="Arial"/>
                <a:cs typeface="Arial"/>
              </a:rPr>
              <a:t>Independent modules return evidence to one bounded scoring policy</a:t>
            </a:r>
          </a:p>
        </p:txBody>
      </p:sp>
      <p:sp>
        <p:nvSpPr>
          <p:cNvPr id="38" name="">
            <a:extLst xmlns:a="http://schemas.openxmlformats.org/drawingml/2006/main">
              <a:ext uri="{FF2B5EF4-FFF2-40B4-BE49-F238E27FC236}">
                <a16:creationId xmlns:a16="http://schemas.microsoft.com/office/drawing/2014/main" id="{44271A42-CF1F-433F-B0C3-232952DC9990}"/>
              </a:ext>
            </a:extLst>
          </p:cNvPr>
          <p:cNvSpPr>
            <a:spLocks xmlns:a="http://schemas.openxmlformats.org/drawingml/2006/main" noGrp="1"/>
          </p:cNvSpPr>
          <p:nvPr/>
        </p:nvSpPr>
        <p:spPr>
          <a:xfrm xmlns:a="http://schemas.openxmlformats.org/drawingml/2006/main">
            <a:off x="2133600" y="3905250"/>
            <a:ext cx="1809750" cy="781050"/>
          </a:xfrm>
          <a:prstGeom xmlns:a="http://schemas.openxmlformats.org/drawingml/2006/main" prst="roundRect">
            <a:avLst>
              <a:gd name="adj" fmla="val 9756"/>
            </a:avLst>
          </a:prstGeom>
          <a:solidFill xmlns:a="http://schemas.openxmlformats.org/drawingml/2006/main">
            <a:srgbClr val="40291E"/>
          </a:solidFill>
          <a:ln xmlns:a="http://schemas.openxmlformats.org/drawingml/2006/main" w="9525">
            <a:solidFill>
              <a:srgbClr val="F07D3B"/>
            </a:solidFill>
            <a:prstDash val="solid"/>
          </a:ln>
        </p:spPr>
      </p:sp>
      <p:sp>
        <p:nvSpPr>
          <p:cNvPr id="39" name="">
            <a:extLst xmlns:a="http://schemas.openxmlformats.org/drawingml/2006/main">
              <a:ext uri="{FF2B5EF4-FFF2-40B4-BE49-F238E27FC236}">
                <a16:creationId xmlns:a16="http://schemas.microsoft.com/office/drawing/2014/main" id="{5F00098F-F4E8-47C8-9D27-F0F366264E1B}"/>
              </a:ext>
            </a:extLst>
          </p:cNvPr>
          <p:cNvSpPr>
            <a:spLocks xmlns:a="http://schemas.openxmlformats.org/drawingml/2006/main" noGrp="1"/>
          </p:cNvSpPr>
          <p:nvPr/>
        </p:nvSpPr>
        <p:spPr>
          <a:xfrm xmlns:a="http://schemas.openxmlformats.org/drawingml/2006/main">
            <a:off x="2266950" y="4010025"/>
            <a:ext cx="971550" cy="266700"/>
          </a:xfrm>
          <a:prstGeom xmlns:a="http://schemas.openxmlformats.org/drawingml/2006/main" prst="roundRect">
            <a:avLst>
              <a:gd name="adj" fmla="val 50000"/>
            </a:avLst>
          </a:prstGeom>
          <a:solidFill xmlns:a="http://schemas.openxmlformats.org/drawingml/2006/main">
            <a:srgbClr val="F07D3B"/>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79045F2A-58ED-4EFE-9D62-905999006F74}"/>
              </a:ext>
            </a:extLst>
          </p:cNvPr>
          <p:cNvSpPr>
            <a:spLocks xmlns:a="http://schemas.openxmlformats.org/drawingml/2006/main" noGrp="1"/>
          </p:cNvSpPr>
          <p:nvPr/>
        </p:nvSpPr>
        <p:spPr>
          <a:xfrm xmlns:a="http://schemas.openxmlformats.org/drawingml/2006/main">
            <a:off x="2266950" y="40100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RAKSHAK AI</a:t>
            </a:r>
          </a:p>
        </p:txBody>
      </p:sp>
      <p:sp>
        <p:nvSpPr>
          <p:cNvPr id="41" name="">
            <a:extLst xmlns:a="http://schemas.openxmlformats.org/drawingml/2006/main">
              <a:ext uri="{FF2B5EF4-FFF2-40B4-BE49-F238E27FC236}">
                <a16:creationId xmlns:a16="http://schemas.microsoft.com/office/drawing/2014/main" id="{AEAC6683-167E-4483-90B9-9E89B552AC77}"/>
              </a:ext>
            </a:extLst>
          </p:cNvPr>
          <p:cNvSpPr>
            <a:spLocks xmlns:a="http://schemas.openxmlformats.org/drawingml/2006/main" noGrp="1"/>
          </p:cNvSpPr>
          <p:nvPr/>
        </p:nvSpPr>
        <p:spPr>
          <a:xfrm xmlns:a="http://schemas.openxmlformats.org/drawingml/2006/main">
            <a:off x="2266950" y="4324350"/>
            <a:ext cx="1495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Text model + rules</a:t>
            </a:r>
          </a:p>
        </p:txBody>
      </p:sp>
      <p:sp>
        <p:nvSpPr>
          <p:cNvPr id="42" name="">
            <a:extLst xmlns:a="http://schemas.openxmlformats.org/drawingml/2006/main">
              <a:ext uri="{FF2B5EF4-FFF2-40B4-BE49-F238E27FC236}">
                <a16:creationId xmlns:a16="http://schemas.microsoft.com/office/drawing/2014/main" id="{A3213C4A-CDBF-47C4-B292-A0C6964B34BB}"/>
              </a:ext>
            </a:extLst>
          </p:cNvPr>
          <p:cNvSpPr>
            <a:spLocks xmlns:a="http://schemas.openxmlformats.org/drawingml/2006/main" noGrp="1"/>
          </p:cNvSpPr>
          <p:nvPr/>
        </p:nvSpPr>
        <p:spPr>
          <a:xfrm xmlns:a="http://schemas.openxmlformats.org/drawingml/2006/main">
            <a:off x="4095750" y="3905250"/>
            <a:ext cx="2095500" cy="781050"/>
          </a:xfrm>
          <a:prstGeom xmlns:a="http://schemas.openxmlformats.org/drawingml/2006/main" prst="roundRect">
            <a:avLst>
              <a:gd name="adj" fmla="val 9756"/>
            </a:avLst>
          </a:prstGeom>
          <a:solidFill xmlns:a="http://schemas.openxmlformats.org/drawingml/2006/main">
            <a:srgbClr val="16393D"/>
          </a:solidFill>
          <a:ln xmlns:a="http://schemas.openxmlformats.org/drawingml/2006/main" w="9525">
            <a:solidFill>
              <a:srgbClr val="46D6CF"/>
            </a:solidFill>
            <a:prstDash val="solid"/>
          </a:ln>
        </p:spPr>
      </p:sp>
      <p:sp>
        <p:nvSpPr>
          <p:cNvPr id="43" name="">
            <a:extLst xmlns:a="http://schemas.openxmlformats.org/drawingml/2006/main">
              <a:ext uri="{FF2B5EF4-FFF2-40B4-BE49-F238E27FC236}">
                <a16:creationId xmlns:a16="http://schemas.microsoft.com/office/drawing/2014/main" id="{F5F3A1BE-A3AF-485B-A308-5E2460D079B1}"/>
              </a:ext>
            </a:extLst>
          </p:cNvPr>
          <p:cNvSpPr>
            <a:spLocks xmlns:a="http://schemas.openxmlformats.org/drawingml/2006/main" noGrp="1"/>
          </p:cNvSpPr>
          <p:nvPr/>
        </p:nvSpPr>
        <p:spPr>
          <a:xfrm xmlns:a="http://schemas.openxmlformats.org/drawingml/2006/main">
            <a:off x="4229100" y="4010025"/>
            <a:ext cx="971550" cy="266700"/>
          </a:xfrm>
          <a:prstGeom xmlns:a="http://schemas.openxmlformats.org/drawingml/2006/main" prst="roundRect">
            <a:avLst>
              <a:gd name="adj" fmla="val 50000"/>
            </a:avLst>
          </a:prstGeom>
          <a:solidFill xmlns:a="http://schemas.openxmlformats.org/drawingml/2006/main">
            <a:srgbClr val="46D6CF"/>
          </a:solidFill>
          <a:ln xmlns:a="http://schemas.openxmlformats.org/drawingml/2006/main" w="9525">
            <a:solidFill>
              <a:srgbClr val="10253F"/>
            </a:solidFill>
            <a:prstDash val="solid"/>
          </a:ln>
        </p:spPr>
      </p:sp>
      <p:sp>
        <p:nvSpPr>
          <p:cNvPr id="44" name="">
            <a:extLst xmlns:a="http://schemas.openxmlformats.org/drawingml/2006/main">
              <a:ext uri="{FF2B5EF4-FFF2-40B4-BE49-F238E27FC236}">
                <a16:creationId xmlns:a16="http://schemas.microsoft.com/office/drawing/2014/main" id="{6F5B427A-07B2-48D8-8ED1-26B74424B749}"/>
              </a:ext>
            </a:extLst>
          </p:cNvPr>
          <p:cNvSpPr>
            <a:spLocks xmlns:a="http://schemas.openxmlformats.org/drawingml/2006/main" noGrp="1"/>
          </p:cNvSpPr>
          <p:nvPr/>
        </p:nvSpPr>
        <p:spPr>
          <a:xfrm xmlns:a="http://schemas.openxmlformats.org/drawingml/2006/main">
            <a:off x="4229100" y="40100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0253F"/>
                </a:solidFill>
                <a:latin typeface="Arial"/>
                <a:ea typeface="Arial"/>
                <a:cs typeface="Arial"/>
              </a:defRPr>
            </a:pPr>
            <a:r>
              <a:rPr sz="900" b="1">
                <a:solidFill>
                  <a:srgbClr val="10253F"/>
                </a:solidFill>
                <a:latin typeface="Arial"/>
                <a:ea typeface="Arial"/>
                <a:cs typeface="Arial"/>
              </a:rPr>
              <a:t>EMAIL TRUST</a:t>
            </a:r>
          </a:p>
        </p:txBody>
      </p:sp>
      <p:sp>
        <p:nvSpPr>
          <p:cNvPr id="45" name="">
            <a:extLst xmlns:a="http://schemas.openxmlformats.org/drawingml/2006/main">
              <a:ext uri="{FF2B5EF4-FFF2-40B4-BE49-F238E27FC236}">
                <a16:creationId xmlns:a16="http://schemas.microsoft.com/office/drawing/2014/main" id="{DD492E2D-4F15-4BEF-B368-58DE478A66F6}"/>
              </a:ext>
            </a:extLst>
          </p:cNvPr>
          <p:cNvSpPr>
            <a:spLocks xmlns:a="http://schemas.openxmlformats.org/drawingml/2006/main" noGrp="1"/>
          </p:cNvSpPr>
          <p:nvPr/>
        </p:nvSpPr>
        <p:spPr>
          <a:xfrm xmlns:a="http://schemas.openxmlformats.org/drawingml/2006/main">
            <a:off x="4229100" y="4324350"/>
            <a:ext cx="1752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Parser, auth, sender</a:t>
            </a:r>
          </a:p>
        </p:txBody>
      </p:sp>
      <p:sp>
        <p:nvSpPr>
          <p:cNvPr id="46" name="">
            <a:extLst xmlns:a="http://schemas.openxmlformats.org/drawingml/2006/main">
              <a:ext uri="{FF2B5EF4-FFF2-40B4-BE49-F238E27FC236}">
                <a16:creationId xmlns:a16="http://schemas.microsoft.com/office/drawing/2014/main" id="{E6156A55-55AB-451E-A0E0-965D6D57B5E1}"/>
              </a:ext>
            </a:extLst>
          </p:cNvPr>
          <p:cNvSpPr>
            <a:spLocks xmlns:a="http://schemas.openxmlformats.org/drawingml/2006/main" noGrp="1"/>
          </p:cNvSpPr>
          <p:nvPr/>
        </p:nvSpPr>
        <p:spPr>
          <a:xfrm xmlns:a="http://schemas.openxmlformats.org/drawingml/2006/main">
            <a:off x="6343650" y="3905250"/>
            <a:ext cx="2095500" cy="781050"/>
          </a:xfrm>
          <a:prstGeom xmlns:a="http://schemas.openxmlformats.org/drawingml/2006/main" prst="roundRect">
            <a:avLst>
              <a:gd name="adj" fmla="val 9756"/>
            </a:avLst>
          </a:prstGeom>
          <a:solidFill xmlns:a="http://schemas.openxmlformats.org/drawingml/2006/main">
            <a:srgbClr val="3B351F"/>
          </a:solidFill>
          <a:ln xmlns:a="http://schemas.openxmlformats.org/drawingml/2006/main" w="9525">
            <a:solidFill>
              <a:srgbClr val="F2C454"/>
            </a:solidFill>
            <a:prstDash val="solid"/>
          </a:ln>
        </p:spPr>
      </p:sp>
      <p:sp>
        <p:nvSpPr>
          <p:cNvPr id="47" name="">
            <a:extLst xmlns:a="http://schemas.openxmlformats.org/drawingml/2006/main">
              <a:ext uri="{FF2B5EF4-FFF2-40B4-BE49-F238E27FC236}">
                <a16:creationId xmlns:a16="http://schemas.microsoft.com/office/drawing/2014/main" id="{5E50A762-AF5D-454B-9BB3-2D253148BFE2}"/>
              </a:ext>
            </a:extLst>
          </p:cNvPr>
          <p:cNvSpPr>
            <a:spLocks xmlns:a="http://schemas.openxmlformats.org/drawingml/2006/main" noGrp="1"/>
          </p:cNvSpPr>
          <p:nvPr/>
        </p:nvSpPr>
        <p:spPr>
          <a:xfrm xmlns:a="http://schemas.openxmlformats.org/drawingml/2006/main">
            <a:off x="6477000" y="4010025"/>
            <a:ext cx="914400" cy="266700"/>
          </a:xfrm>
          <a:prstGeom xmlns:a="http://schemas.openxmlformats.org/drawingml/2006/main" prst="roundRect">
            <a:avLst>
              <a:gd name="adj" fmla="val 50000"/>
            </a:avLst>
          </a:prstGeom>
          <a:solidFill xmlns:a="http://schemas.openxmlformats.org/drawingml/2006/main">
            <a:srgbClr val="F2C454"/>
          </a:solidFill>
          <a:ln xmlns:a="http://schemas.openxmlformats.org/drawingml/2006/main" w="9525">
            <a:solidFill>
              <a:srgbClr val="10253F"/>
            </a:solidFill>
            <a:prstDash val="solid"/>
          </a:ln>
        </p:spPr>
      </p:sp>
      <p:sp>
        <p:nvSpPr>
          <p:cNvPr id="48" name="">
            <a:extLst xmlns:a="http://schemas.openxmlformats.org/drawingml/2006/main">
              <a:ext uri="{FF2B5EF4-FFF2-40B4-BE49-F238E27FC236}">
                <a16:creationId xmlns:a16="http://schemas.microsoft.com/office/drawing/2014/main" id="{1B5A2609-92DD-463C-B20B-391A1BFFE951}"/>
              </a:ext>
            </a:extLst>
          </p:cNvPr>
          <p:cNvSpPr>
            <a:spLocks xmlns:a="http://schemas.openxmlformats.org/drawingml/2006/main" noGrp="1"/>
          </p:cNvSpPr>
          <p:nvPr/>
        </p:nvSpPr>
        <p:spPr>
          <a:xfrm xmlns:a="http://schemas.openxmlformats.org/drawingml/2006/main">
            <a:off x="6477000" y="4010025"/>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0253F"/>
                </a:solidFill>
                <a:latin typeface="Arial"/>
                <a:ea typeface="Arial"/>
                <a:cs typeface="Arial"/>
              </a:defRPr>
            </a:pPr>
            <a:r>
              <a:rPr sz="900" b="1">
                <a:solidFill>
                  <a:srgbClr val="10253F"/>
                </a:solidFill>
                <a:latin typeface="Arial"/>
                <a:ea typeface="Arial"/>
                <a:cs typeface="Arial"/>
              </a:rPr>
              <a:t>FORENSICS</a:t>
            </a:r>
          </a:p>
        </p:txBody>
      </p:sp>
      <p:sp>
        <p:nvSpPr>
          <p:cNvPr id="49" name="">
            <a:extLst xmlns:a="http://schemas.openxmlformats.org/drawingml/2006/main">
              <a:ext uri="{FF2B5EF4-FFF2-40B4-BE49-F238E27FC236}">
                <a16:creationId xmlns:a16="http://schemas.microsoft.com/office/drawing/2014/main" id="{AE9D8C80-457D-4C36-8D4C-9A3B7685E48D}"/>
              </a:ext>
            </a:extLst>
          </p:cNvPr>
          <p:cNvSpPr>
            <a:spLocks xmlns:a="http://schemas.openxmlformats.org/drawingml/2006/main" noGrp="1"/>
          </p:cNvSpPr>
          <p:nvPr/>
        </p:nvSpPr>
        <p:spPr>
          <a:xfrm xmlns:a="http://schemas.openxmlformats.org/drawingml/2006/main">
            <a:off x="6477000" y="4324350"/>
            <a:ext cx="1752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Domain, IP, Geo, files</a:t>
            </a:r>
          </a:p>
        </p:txBody>
      </p:sp>
      <p:sp>
        <p:nvSpPr>
          <p:cNvPr id="50" name="">
            <a:extLst xmlns:a="http://schemas.openxmlformats.org/drawingml/2006/main">
              <a:ext uri="{FF2B5EF4-FFF2-40B4-BE49-F238E27FC236}">
                <a16:creationId xmlns:a16="http://schemas.microsoft.com/office/drawing/2014/main" id="{DE4180CD-E209-46EF-8A35-290F6911A25C}"/>
              </a:ext>
            </a:extLst>
          </p:cNvPr>
          <p:cNvSpPr>
            <a:spLocks xmlns:a="http://schemas.openxmlformats.org/drawingml/2006/main" noGrp="1"/>
          </p:cNvSpPr>
          <p:nvPr/>
        </p:nvSpPr>
        <p:spPr>
          <a:xfrm xmlns:a="http://schemas.openxmlformats.org/drawingml/2006/main">
            <a:off x="8515350" y="3819525"/>
            <a:ext cx="857250" cy="857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51" name="">
            <a:extLst xmlns:a="http://schemas.openxmlformats.org/drawingml/2006/main">
              <a:ext uri="{FF2B5EF4-FFF2-40B4-BE49-F238E27FC236}">
                <a16:creationId xmlns:a16="http://schemas.microsoft.com/office/drawing/2014/main" id="{025C7389-FFC0-432E-998A-FDC7BC2D9552}"/>
              </a:ext>
            </a:extLst>
          </p:cNvPr>
          <p:cNvSpPr>
            <a:spLocks xmlns:a="http://schemas.openxmlformats.org/drawingml/2006/main" noGrp="1"/>
          </p:cNvSpPr>
          <p:nvPr/>
        </p:nvSpPr>
        <p:spPr>
          <a:xfrm xmlns:a="http://schemas.openxmlformats.org/drawingml/2006/main">
            <a:off x="8572500" y="3943350"/>
            <a:ext cx="74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0253F"/>
                </a:solidFill>
                <a:latin typeface="Arial"/>
                <a:ea typeface="Arial"/>
                <a:cs typeface="Arial"/>
              </a:defRPr>
            </a:pPr>
            <a:r>
              <a:rPr sz="1500" b="1">
                <a:solidFill>
                  <a:srgbClr val="10253F"/>
                </a:solidFill>
                <a:latin typeface="Arial"/>
                <a:ea typeface="Arial"/>
                <a:cs typeface="Arial"/>
              </a:rPr>
              <a:t>0–100</a:t>
            </a:r>
          </a:p>
        </p:txBody>
      </p:sp>
      <p:sp>
        <p:nvSpPr>
          <p:cNvPr id="52" name="">
            <a:extLst xmlns:a="http://schemas.openxmlformats.org/drawingml/2006/main">
              <a:ext uri="{FF2B5EF4-FFF2-40B4-BE49-F238E27FC236}">
                <a16:creationId xmlns:a16="http://schemas.microsoft.com/office/drawing/2014/main" id="{9BFF6165-90C7-49C6-9E2C-1F9A07FCB3F0}"/>
              </a:ext>
            </a:extLst>
          </p:cNvPr>
          <p:cNvSpPr>
            <a:spLocks xmlns:a="http://schemas.openxmlformats.org/drawingml/2006/main" noGrp="1"/>
          </p:cNvSpPr>
          <p:nvPr/>
        </p:nvSpPr>
        <p:spPr>
          <a:xfrm xmlns:a="http://schemas.openxmlformats.org/drawingml/2006/main">
            <a:off x="8715375" y="4219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07D3B"/>
                </a:solidFill>
                <a:latin typeface="Arial"/>
                <a:ea typeface="Arial"/>
                <a:cs typeface="Arial"/>
              </a:defRPr>
            </a:pPr>
            <a:r>
              <a:rPr sz="975" b="1">
                <a:solidFill>
                  <a:srgbClr val="F07D3B"/>
                </a:solidFill>
                <a:latin typeface="Arial"/>
                <a:ea typeface="Arial"/>
                <a:cs typeface="Arial"/>
              </a:rPr>
              <a:t>RISK</a:t>
            </a:r>
          </a:p>
        </p:txBody>
      </p:sp>
      <p:sp>
        <p:nvSpPr>
          <p:cNvPr id="53" name="">
            <a:extLst xmlns:a="http://schemas.openxmlformats.org/drawingml/2006/main">
              <a:ext uri="{FF2B5EF4-FFF2-40B4-BE49-F238E27FC236}">
                <a16:creationId xmlns:a16="http://schemas.microsoft.com/office/drawing/2014/main" id="{5074EF45-96F4-47A4-AD2A-96FEF07E1F6B}"/>
              </a:ext>
            </a:extLst>
          </p:cNvPr>
          <p:cNvSpPr>
            <a:spLocks xmlns:a="http://schemas.openxmlformats.org/drawingml/2006/main" noGrp="1"/>
          </p:cNvSpPr>
          <p:nvPr/>
        </p:nvSpPr>
        <p:spPr>
          <a:xfrm xmlns:a="http://schemas.openxmlformats.org/drawingml/2006/main">
            <a:off x="8620125" y="4438650"/>
            <a:ext cx="6477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41A36B"/>
                </a:solidFill>
                <a:latin typeface="Arial"/>
                <a:ea typeface="Arial"/>
                <a:cs typeface="Arial"/>
              </a:defRPr>
            </a:pPr>
            <a:r>
              <a:rPr sz="750" b="0">
                <a:solidFill>
                  <a:srgbClr val="41A36B"/>
                </a:solidFill>
                <a:latin typeface="Arial"/>
                <a:ea typeface="Arial"/>
                <a:cs typeface="Arial"/>
              </a:rPr>
              <a:t>+ coverage</a:t>
            </a:r>
          </a:p>
        </p:txBody>
      </p:sp>
      <p:cxnSp>
        <p:nvCxnSpPr>
          <p:cNvPr id="143" name=""/>
          <p:cNvCxnSpPr>
            <a:stCxn xmlns:a="http://schemas.openxmlformats.org/drawingml/2006/main" id="38" idx="3"/>
            <a:endCxn xmlns:a="http://schemas.openxmlformats.org/drawingml/2006/main" id="50" idx="2"/>
          </p:cNvCxnSpPr>
          <p:nvPr/>
        </p:nvCxnSpPr>
        <p:spPr>
          <a:xfrm xmlns:a="http://schemas.openxmlformats.org/drawingml/2006/main" flipV="1">
            <a:off x="3943350" y="4248150"/>
            <a:ext cx="4572000" cy="47625"/>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144" name=""/>
          <p:cNvCxnSpPr>
            <a:stCxn xmlns:a="http://schemas.openxmlformats.org/drawingml/2006/main" id="42" idx="3"/>
            <a:endCxn xmlns:a="http://schemas.openxmlformats.org/drawingml/2006/main" id="50" idx="2"/>
          </p:cNvCxnSpPr>
          <p:nvPr/>
        </p:nvCxnSpPr>
        <p:spPr>
          <a:xfrm xmlns:a="http://schemas.openxmlformats.org/drawingml/2006/main" flipV="1">
            <a:off x="6191250" y="4248150"/>
            <a:ext cx="2324100" cy="47625"/>
          </a:xfrm>
          <a:prstGeom xmlns:a="http://schemas.openxmlformats.org/drawingml/2006/main" prst="straightConnector1">
            <a:avLst/>
          </a:prstGeom>
          <a:ln xmlns:a="http://schemas.openxmlformats.org/drawingml/2006/main" w="28575">
            <a:solidFill>
              <a:srgbClr val="46D6CF"/>
            </a:solidFill>
            <a:prstDash val="solid"/>
            <a:tailEnd type="triangle" w="med" len="med"/>
          </a:ln>
        </p:spPr>
      </p:cxnSp>
      <p:cxnSp>
        <p:nvCxnSpPr>
          <p:cNvPr id="145" name=""/>
          <p:cNvCxnSpPr>
            <a:stCxn xmlns:a="http://schemas.openxmlformats.org/drawingml/2006/main" id="46" idx="3"/>
            <a:endCxn xmlns:a="http://schemas.openxmlformats.org/drawingml/2006/main" id="50" idx="2"/>
          </p:cNvCxnSpPr>
          <p:nvPr/>
        </p:nvCxnSpPr>
        <p:spPr>
          <a:xfrm xmlns:a="http://schemas.openxmlformats.org/drawingml/2006/main" flipV="1">
            <a:off x="8439150" y="4248150"/>
            <a:ext cx="76200" cy="47625"/>
          </a:xfrm>
          <a:prstGeom xmlns:a="http://schemas.openxmlformats.org/drawingml/2006/main" prst="straightConnector1">
            <a:avLst/>
          </a:prstGeom>
          <a:ln xmlns:a="http://schemas.openxmlformats.org/drawingml/2006/main" w="28575">
            <a:solidFill>
              <a:srgbClr val="F2C454"/>
            </a:solidFill>
            <a:prstDash val="solid"/>
            <a:tailEnd type="triangle" w="med" len="med"/>
          </a:ln>
        </p:spPr>
      </p:cxnSp>
      <p:sp>
        <p:nvSpPr>
          <p:cNvPr id="57" name="">
            <a:extLst xmlns:a="http://schemas.openxmlformats.org/drawingml/2006/main">
              <a:ext uri="{FF2B5EF4-FFF2-40B4-BE49-F238E27FC236}">
                <a16:creationId xmlns:a16="http://schemas.microsoft.com/office/drawing/2014/main" id="{8E1B43CE-D537-47DC-B15B-D4761AD25FDB}"/>
              </a:ext>
            </a:extLst>
          </p:cNvPr>
          <p:cNvSpPr>
            <a:spLocks xmlns:a="http://schemas.openxmlformats.org/drawingml/2006/main" noGrp="1"/>
          </p:cNvSpPr>
          <p:nvPr/>
        </p:nvSpPr>
        <p:spPr>
          <a:xfrm xmlns:a="http://schemas.openxmlformats.org/drawingml/2006/main">
            <a:off x="1952625" y="5067300"/>
            <a:ext cx="7524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D6B1324E-E69E-41B8-8961-86B31F30C1F4}"/>
              </a:ext>
            </a:extLst>
          </p:cNvPr>
          <p:cNvSpPr>
            <a:spLocks xmlns:a="http://schemas.openxmlformats.org/drawingml/2006/main" noGrp="1"/>
          </p:cNvSpPr>
          <p:nvPr/>
        </p:nvSpPr>
        <p:spPr>
          <a:xfrm xmlns:a="http://schemas.openxmlformats.org/drawingml/2006/main">
            <a:off x="2133600" y="5219700"/>
            <a:ext cx="1809750" cy="361950"/>
          </a:xfrm>
          <a:prstGeom xmlns:a="http://schemas.openxmlformats.org/drawingml/2006/main" prst="roundRect">
            <a:avLst>
              <a:gd name="adj" fmla="val 50000"/>
            </a:avLst>
          </a:prstGeom>
          <a:solidFill xmlns:a="http://schemas.openxmlformats.org/drawingml/2006/main">
            <a:srgbClr val="FAF0D6"/>
          </a:solidFill>
          <a:ln xmlns:a="http://schemas.openxmlformats.org/drawingml/2006/main" w="9525">
            <a:solidFill>
              <a:srgbClr val="E5A528"/>
            </a:solidFill>
            <a:prstDash val="solid"/>
          </a:ln>
        </p:spPr>
      </p:sp>
      <p:sp>
        <p:nvSpPr>
          <p:cNvPr id="59" name="">
            <a:extLst xmlns:a="http://schemas.openxmlformats.org/drawingml/2006/main">
              <a:ext uri="{FF2B5EF4-FFF2-40B4-BE49-F238E27FC236}">
                <a16:creationId xmlns:a16="http://schemas.microsoft.com/office/drawing/2014/main" id="{8B71CD98-FD8D-4596-BEE5-8C517B0706B4}"/>
              </a:ext>
            </a:extLst>
          </p:cNvPr>
          <p:cNvSpPr>
            <a:spLocks xmlns:a="http://schemas.openxmlformats.org/drawingml/2006/main" noGrp="1"/>
          </p:cNvSpPr>
          <p:nvPr/>
        </p:nvSpPr>
        <p:spPr>
          <a:xfrm xmlns:a="http://schemas.openxmlformats.org/drawingml/2006/main">
            <a:off x="2133600" y="5219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53F"/>
                </a:solidFill>
                <a:latin typeface="Arial"/>
                <a:ea typeface="Arial"/>
                <a:cs typeface="Arial"/>
              </a:defRPr>
            </a:pPr>
            <a:r>
              <a:rPr sz="1275" b="1">
                <a:solidFill>
                  <a:srgbClr val="10253F"/>
                </a:solidFill>
                <a:latin typeface="Arial"/>
                <a:ea typeface="Arial"/>
                <a:cs typeface="Arial"/>
              </a:rPr>
              <a:t>CASE DATABASE</a:t>
            </a:r>
          </a:p>
        </p:txBody>
      </p:sp>
      <p:sp>
        <p:nvSpPr>
          <p:cNvPr id="60" name="">
            <a:extLst xmlns:a="http://schemas.openxmlformats.org/drawingml/2006/main">
              <a:ext uri="{FF2B5EF4-FFF2-40B4-BE49-F238E27FC236}">
                <a16:creationId xmlns:a16="http://schemas.microsoft.com/office/drawing/2014/main" id="{EC984F2C-13F4-4A8E-BC0C-012ADF118498}"/>
              </a:ext>
            </a:extLst>
          </p:cNvPr>
          <p:cNvSpPr>
            <a:spLocks xmlns:a="http://schemas.openxmlformats.org/drawingml/2006/main" noGrp="1"/>
          </p:cNvSpPr>
          <p:nvPr/>
        </p:nvSpPr>
        <p:spPr>
          <a:xfrm xmlns:a="http://schemas.openxmlformats.org/drawingml/2006/main">
            <a:off x="4095750" y="52197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1200" b="1">
                <a:solidFill>
                  <a:srgbClr val="536273"/>
                </a:solidFill>
                <a:latin typeface="Arial"/>
                <a:ea typeface="Arial"/>
                <a:cs typeface="Arial"/>
              </a:defRPr>
            </a:pPr>
            <a:r>
              <a:rPr sz="1200" b="1">
                <a:solidFill>
                  <a:srgbClr val="536273"/>
                </a:solidFill>
                <a:latin typeface="Arial"/>
                <a:ea typeface="Arial"/>
                <a:cs typeface="Arial"/>
              </a:rPr>
              <a:t>SQLite  |  PostgreSQL-ready</a:t>
            </a:r>
          </a:p>
        </p:txBody>
      </p:sp>
      <p:sp>
        <p:nvSpPr>
          <p:cNvPr id="61" name="">
            <a:extLst xmlns:a="http://schemas.openxmlformats.org/drawingml/2006/main">
              <a:ext uri="{FF2B5EF4-FFF2-40B4-BE49-F238E27FC236}">
                <a16:creationId xmlns:a16="http://schemas.microsoft.com/office/drawing/2014/main" id="{AF3025F0-A375-4976-88AA-624BBDABF6F9}"/>
              </a:ext>
            </a:extLst>
          </p:cNvPr>
          <p:cNvSpPr>
            <a:spLocks xmlns:a="http://schemas.openxmlformats.org/drawingml/2006/main" noGrp="1"/>
          </p:cNvSpPr>
          <p:nvPr/>
        </p:nvSpPr>
        <p:spPr>
          <a:xfrm xmlns:a="http://schemas.openxmlformats.org/drawingml/2006/main">
            <a:off x="6210300" y="5238750"/>
            <a:ext cx="0" cy="323850"/>
          </a:xfrm>
          <a:prstGeom xmlns:a="http://schemas.openxmlformats.org/drawingml/2006/main" prst="line">
            <a:avLst/>
          </a:prstGeom>
          <a:noFill xmlns:a="http://schemas.openxmlformats.org/drawingml/2006/main"/>
          <a:ln xmlns:a="http://schemas.openxmlformats.org/drawingml/2006/main" w="19050">
            <a:solidFill>
              <a:srgbClr val="D9DED9"/>
            </a:solidFill>
            <a:prstDash val="solid"/>
          </a:ln>
        </p:spPr>
      </p:sp>
      <p:sp>
        <p:nvSpPr>
          <p:cNvPr id="62" name="">
            <a:extLst xmlns:a="http://schemas.openxmlformats.org/drawingml/2006/main">
              <a:ext uri="{FF2B5EF4-FFF2-40B4-BE49-F238E27FC236}">
                <a16:creationId xmlns:a16="http://schemas.microsoft.com/office/drawing/2014/main" id="{373AED9C-48F9-4DEA-B0F3-6BACF5E51FB7}"/>
              </a:ext>
            </a:extLst>
          </p:cNvPr>
          <p:cNvSpPr>
            <a:spLocks xmlns:a="http://schemas.openxmlformats.org/drawingml/2006/main" noGrp="1"/>
          </p:cNvSpPr>
          <p:nvPr/>
        </p:nvSpPr>
        <p:spPr>
          <a:xfrm xmlns:a="http://schemas.openxmlformats.org/drawingml/2006/main">
            <a:off x="6419850" y="52197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159F9A"/>
                </a:solidFill>
                <a:latin typeface="Arial"/>
                <a:ea typeface="Arial"/>
                <a:cs typeface="Arial"/>
              </a:defRPr>
            </a:pPr>
            <a:r>
              <a:rPr sz="1200" b="1">
                <a:solidFill>
                  <a:srgbClr val="159F9A"/>
                </a:solidFill>
                <a:latin typeface="Arial"/>
                <a:ea typeface="Arial"/>
                <a:cs typeface="Arial"/>
              </a:rPr>
              <a:t>GEOLITE2</a:t>
            </a:r>
          </a:p>
        </p:txBody>
      </p:sp>
      <p:sp>
        <p:nvSpPr>
          <p:cNvPr id="63" name="">
            <a:extLst xmlns:a="http://schemas.openxmlformats.org/drawingml/2006/main">
              <a:ext uri="{FF2B5EF4-FFF2-40B4-BE49-F238E27FC236}">
                <a16:creationId xmlns:a16="http://schemas.microsoft.com/office/drawing/2014/main" id="{0B1E68F9-2EEF-4764-BBFC-F60D3F583FD7}"/>
              </a:ext>
            </a:extLst>
          </p:cNvPr>
          <p:cNvSpPr>
            <a:spLocks xmlns:a="http://schemas.openxmlformats.org/drawingml/2006/main" noGrp="1"/>
          </p:cNvSpPr>
          <p:nvPr/>
        </p:nvSpPr>
        <p:spPr>
          <a:xfrm xmlns:a="http://schemas.openxmlformats.org/drawingml/2006/main">
            <a:off x="7600950" y="5238750"/>
            <a:ext cx="0" cy="323850"/>
          </a:xfrm>
          <a:prstGeom xmlns:a="http://schemas.openxmlformats.org/drawingml/2006/main" prst="line">
            <a:avLst/>
          </a:prstGeom>
          <a:noFill xmlns:a="http://schemas.openxmlformats.org/drawingml/2006/main"/>
          <a:ln xmlns:a="http://schemas.openxmlformats.org/drawingml/2006/main" w="19050">
            <a:solidFill>
              <a:srgbClr val="D9DED9"/>
            </a:solidFill>
            <a:prstDash val="solid"/>
          </a:ln>
        </p:spPr>
      </p:sp>
      <p:sp>
        <p:nvSpPr>
          <p:cNvPr id="64" name="">
            <a:extLst xmlns:a="http://schemas.openxmlformats.org/drawingml/2006/main">
              <a:ext uri="{FF2B5EF4-FFF2-40B4-BE49-F238E27FC236}">
                <a16:creationId xmlns:a16="http://schemas.microsoft.com/office/drawing/2014/main" id="{F07630C2-ACF5-48C7-B71E-58EB7E3AAA01}"/>
              </a:ext>
            </a:extLst>
          </p:cNvPr>
          <p:cNvSpPr>
            <a:spLocks xmlns:a="http://schemas.openxmlformats.org/drawingml/2006/main" noGrp="1"/>
          </p:cNvSpPr>
          <p:nvPr/>
        </p:nvSpPr>
        <p:spPr>
          <a:xfrm xmlns:a="http://schemas.openxmlformats.org/drawingml/2006/main">
            <a:off x="7791450" y="5219700"/>
            <a:ext cx="1504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2C67B1"/>
                </a:solidFill>
                <a:latin typeface="Arial"/>
                <a:ea typeface="Arial"/>
                <a:cs typeface="Arial"/>
              </a:defRPr>
            </a:pPr>
            <a:r>
              <a:rPr sz="825" b="1">
                <a:solidFill>
                  <a:srgbClr val="2C67B1"/>
                </a:solidFill>
                <a:latin typeface="Arial"/>
                <a:ea typeface="Arial"/>
                <a:cs typeface="Arial"/>
              </a:rPr>
              <a:t>VT  •  ABUSEIPDB  •  URLHAUS  •  OTX</a:t>
            </a:r>
          </a:p>
        </p:txBody>
      </p:sp>
      <p:cxnSp>
        <p:nvCxnSpPr>
          <p:cNvPr id="154" name=""/>
          <p:cNvCxnSpPr>
            <a:stCxn xmlns:a="http://schemas.openxmlformats.org/drawingml/2006/main" id="17" idx="2"/>
            <a:endCxn xmlns:a="http://schemas.openxmlformats.org/drawingml/2006/main" id="26" idx="0"/>
          </p:cNvCxnSpPr>
          <p:nvPr/>
        </p:nvCxnSpPr>
        <p:spPr>
          <a:xfrm xmlns:a="http://schemas.openxmlformats.org/drawingml/2006/main">
            <a:off x="5715000" y="2247900"/>
            <a:ext cx="0" cy="17145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155" name=""/>
          <p:cNvCxnSpPr>
            <a:stCxn xmlns:a="http://schemas.openxmlformats.org/drawingml/2006/main" id="26" idx="2"/>
            <a:endCxn xmlns:a="http://schemas.openxmlformats.org/drawingml/2006/main" id="35" idx="0"/>
          </p:cNvCxnSpPr>
          <p:nvPr/>
        </p:nvCxnSpPr>
        <p:spPr>
          <a:xfrm xmlns:a="http://schemas.openxmlformats.org/drawingml/2006/main">
            <a:off x="5715000" y="3162300"/>
            <a:ext cx="0" cy="171450"/>
          </a:xfrm>
          <a:prstGeom xmlns:a="http://schemas.openxmlformats.org/drawingml/2006/main" prst="straightConnector1">
            <a:avLst/>
          </a:prstGeom>
          <a:ln xmlns:a="http://schemas.openxmlformats.org/drawingml/2006/main" w="28575">
            <a:solidFill>
              <a:srgbClr val="2C67B1"/>
            </a:solidFill>
            <a:prstDash val="solid"/>
            <a:tailEnd type="triangle" w="med" len="med"/>
          </a:ln>
        </p:spPr>
      </p:cxnSp>
      <p:cxnSp>
        <p:nvCxnSpPr>
          <p:cNvPr id="156" name=""/>
          <p:cNvCxnSpPr>
            <a:stCxn xmlns:a="http://schemas.openxmlformats.org/drawingml/2006/main" id="57" idx="0"/>
            <a:endCxn xmlns:a="http://schemas.openxmlformats.org/drawingml/2006/main" id="35" idx="2"/>
          </p:cNvCxnSpPr>
          <p:nvPr/>
        </p:nvCxnSpPr>
        <p:spPr>
          <a:xfrm xmlns:a="http://schemas.openxmlformats.org/drawingml/2006/main" flipV="1">
            <a:off x="5715000" y="4895850"/>
            <a:ext cx="0" cy="171450"/>
          </a:xfrm>
          <a:prstGeom xmlns:a="http://schemas.openxmlformats.org/drawingml/2006/main" prst="straightConnector1">
            <a:avLst/>
          </a:prstGeom>
          <a:ln xmlns:a="http://schemas.openxmlformats.org/drawingml/2006/main" w="28575">
            <a:solidFill>
              <a:srgbClr val="E5A528"/>
            </a:solidFill>
            <a:prstDash val="solid"/>
            <a:tailEnd type="triangle" w="med" len="med"/>
          </a:ln>
        </p:spPr>
      </p:cxnSp>
      <p:sp>
        <p:nvSpPr>
          <p:cNvPr id="68" name="">
            <a:extLst xmlns:a="http://schemas.openxmlformats.org/drawingml/2006/main">
              <a:ext uri="{FF2B5EF4-FFF2-40B4-BE49-F238E27FC236}">
                <a16:creationId xmlns:a16="http://schemas.microsoft.com/office/drawing/2014/main" id="{7E536E95-3ACB-49FC-AFA0-94B74E5BCA04}"/>
              </a:ext>
            </a:extLst>
          </p:cNvPr>
          <p:cNvSpPr>
            <a:spLocks xmlns:a="http://schemas.openxmlformats.org/drawingml/2006/main" noGrp="1"/>
          </p:cNvSpPr>
          <p:nvPr/>
        </p:nvSpPr>
        <p:spPr>
          <a:xfrm xmlns:a="http://schemas.openxmlformats.org/drawingml/2006/main">
            <a:off x="9810750" y="1657350"/>
            <a:ext cx="1828800" cy="40767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69" name="">
            <a:extLst xmlns:a="http://schemas.openxmlformats.org/drawingml/2006/main">
              <a:ext uri="{FF2B5EF4-FFF2-40B4-BE49-F238E27FC236}">
                <a16:creationId xmlns:a16="http://schemas.microsoft.com/office/drawing/2014/main" id="{A704B51F-E7F7-4525-A3B1-FB4AB0495D9D}"/>
              </a:ext>
            </a:extLst>
          </p:cNvPr>
          <p:cNvSpPr>
            <a:spLocks xmlns:a="http://schemas.openxmlformats.org/drawingml/2006/main" noGrp="1"/>
          </p:cNvSpPr>
          <p:nvPr/>
        </p:nvSpPr>
        <p:spPr>
          <a:xfrm xmlns:a="http://schemas.openxmlformats.org/drawingml/2006/main">
            <a:off x="10001250" y="1838325"/>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103"/>
          </a:bodyPr>
          <a:lstStyle xmlns:a="http://schemas.openxmlformats.org/drawingml/2006/main"/>
          <a:p xmlns:a="http://schemas.openxmlformats.org/drawingml/2006/main">
            <a:pPr algn="ctr">
              <a:defRPr sz="1350" b="1">
                <a:solidFill>
                  <a:srgbClr val="10253F"/>
                </a:solidFill>
                <a:latin typeface="Arial"/>
                <a:ea typeface="Arial"/>
                <a:cs typeface="Arial"/>
              </a:defRPr>
            </a:pPr>
            <a:r>
              <a:rPr sz="1350" b="1">
                <a:solidFill>
                  <a:srgbClr val="10253F"/>
                </a:solidFill>
                <a:latin typeface="Arial"/>
                <a:ea typeface="Arial"/>
                <a:cs typeface="Arial"/>
              </a:rPr>
              <a:t>EVIDENCE OUTPUT</a:t>
            </a:r>
          </a:p>
        </p:txBody>
      </p:sp>
      <p:sp>
        <p:nvSpPr>
          <p:cNvPr id="70" name="">
            <a:extLst xmlns:a="http://schemas.openxmlformats.org/drawingml/2006/main">
              <a:ext uri="{FF2B5EF4-FFF2-40B4-BE49-F238E27FC236}">
                <a16:creationId xmlns:a16="http://schemas.microsoft.com/office/drawing/2014/main" id="{5A7C84F9-2EDE-40AB-849B-DCEF0C91864F}"/>
              </a:ext>
            </a:extLst>
          </p:cNvPr>
          <p:cNvSpPr>
            <a:spLocks xmlns:a="http://schemas.openxmlformats.org/drawingml/2006/main" noGrp="1"/>
          </p:cNvSpPr>
          <p:nvPr/>
        </p:nvSpPr>
        <p:spPr>
          <a:xfrm xmlns:a="http://schemas.openxmlformats.org/drawingml/2006/main">
            <a:off x="10020300" y="2238375"/>
            <a:ext cx="1409700" cy="0"/>
          </a:xfrm>
          <a:prstGeom xmlns:a="http://schemas.openxmlformats.org/drawingml/2006/main" prst="line">
            <a:avLst/>
          </a:prstGeom>
          <a:noFill xmlns:a="http://schemas.openxmlformats.org/drawingml/2006/main"/>
          <a:ln xmlns:a="http://schemas.openxmlformats.org/drawingml/2006/main" w="9525">
            <a:solidFill>
              <a:srgbClr val="D9DED9"/>
            </a:solidFill>
            <a:prstDash val="solid"/>
          </a:ln>
        </p:spPr>
      </p:sp>
      <p:sp>
        <p:nvSpPr>
          <p:cNvPr id="71" name="">
            <a:extLst xmlns:a="http://schemas.openxmlformats.org/drawingml/2006/main">
              <a:ext uri="{FF2B5EF4-FFF2-40B4-BE49-F238E27FC236}">
                <a16:creationId xmlns:a16="http://schemas.microsoft.com/office/drawing/2014/main" id="{CB59EBBE-AFBB-483C-BEAC-22FC2BD12765}"/>
              </a:ext>
            </a:extLst>
          </p:cNvPr>
          <p:cNvSpPr>
            <a:spLocks xmlns:a="http://schemas.openxmlformats.org/drawingml/2006/main" noGrp="1"/>
          </p:cNvSpPr>
          <p:nvPr/>
        </p:nvSpPr>
        <p:spPr>
          <a:xfrm xmlns:a="http://schemas.openxmlformats.org/drawingml/2006/main">
            <a:off x="10020300" y="2514600"/>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72" name="">
            <a:extLst xmlns:a="http://schemas.openxmlformats.org/drawingml/2006/main">
              <a:ext uri="{FF2B5EF4-FFF2-40B4-BE49-F238E27FC236}">
                <a16:creationId xmlns:a16="http://schemas.microsoft.com/office/drawing/2014/main" id="{D653FADA-920C-4BE9-A160-8B14586BCE5E}"/>
              </a:ext>
            </a:extLst>
          </p:cNvPr>
          <p:cNvSpPr>
            <a:spLocks xmlns:a="http://schemas.openxmlformats.org/drawingml/2006/main" noGrp="1"/>
          </p:cNvSpPr>
          <p:nvPr/>
        </p:nvSpPr>
        <p:spPr>
          <a:xfrm xmlns:a="http://schemas.openxmlformats.org/drawingml/2006/main">
            <a:off x="10229850" y="24288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4103"/>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RISK + CONFIDENCE</a:t>
            </a:r>
          </a:p>
        </p:txBody>
      </p:sp>
      <p:sp>
        <p:nvSpPr>
          <p:cNvPr id="73" name="">
            <a:extLst xmlns:a="http://schemas.openxmlformats.org/drawingml/2006/main">
              <a:ext uri="{FF2B5EF4-FFF2-40B4-BE49-F238E27FC236}">
                <a16:creationId xmlns:a16="http://schemas.microsoft.com/office/drawing/2014/main" id="{155A4ED3-BA3C-4EA8-80FA-B91BA5F68DC3}"/>
              </a:ext>
            </a:extLst>
          </p:cNvPr>
          <p:cNvSpPr>
            <a:spLocks xmlns:a="http://schemas.openxmlformats.org/drawingml/2006/main" noGrp="1"/>
          </p:cNvSpPr>
          <p:nvPr/>
        </p:nvSpPr>
        <p:spPr>
          <a:xfrm xmlns:a="http://schemas.openxmlformats.org/drawingml/2006/main">
            <a:off x="10229850" y="26670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Separate measures</a:t>
            </a:r>
          </a:p>
        </p:txBody>
      </p:sp>
      <p:sp>
        <p:nvSpPr>
          <p:cNvPr id="74" name="">
            <a:extLst xmlns:a="http://schemas.openxmlformats.org/drawingml/2006/main">
              <a:ext uri="{FF2B5EF4-FFF2-40B4-BE49-F238E27FC236}">
                <a16:creationId xmlns:a16="http://schemas.microsoft.com/office/drawing/2014/main" id="{BCA0330A-DB8D-4490-B99F-80F9FEF44219}"/>
              </a:ext>
            </a:extLst>
          </p:cNvPr>
          <p:cNvSpPr>
            <a:spLocks xmlns:a="http://schemas.openxmlformats.org/drawingml/2006/main" noGrp="1"/>
          </p:cNvSpPr>
          <p:nvPr/>
        </p:nvSpPr>
        <p:spPr>
          <a:xfrm xmlns:a="http://schemas.openxmlformats.org/drawingml/2006/main">
            <a:off x="10020300" y="3124200"/>
            <a:ext cx="104775" cy="104775"/>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75" name="">
            <a:extLst xmlns:a="http://schemas.openxmlformats.org/drawingml/2006/main">
              <a:ext uri="{FF2B5EF4-FFF2-40B4-BE49-F238E27FC236}">
                <a16:creationId xmlns:a16="http://schemas.microsoft.com/office/drawing/2014/main" id="{4D2E8615-10CF-4F46-B7E8-75055C3E5CBE}"/>
              </a:ext>
            </a:extLst>
          </p:cNvPr>
          <p:cNvSpPr>
            <a:spLocks xmlns:a="http://schemas.openxmlformats.org/drawingml/2006/main" noGrp="1"/>
          </p:cNvSpPr>
          <p:nvPr/>
        </p:nvSpPr>
        <p:spPr>
          <a:xfrm xmlns:a="http://schemas.openxmlformats.org/drawingml/2006/main">
            <a:off x="10229850" y="30384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IOC + CAMPAIGN</a:t>
            </a:r>
          </a:p>
        </p:txBody>
      </p:sp>
      <p:sp>
        <p:nvSpPr>
          <p:cNvPr id="76" name="">
            <a:extLst xmlns:a="http://schemas.openxmlformats.org/drawingml/2006/main">
              <a:ext uri="{FF2B5EF4-FFF2-40B4-BE49-F238E27FC236}">
                <a16:creationId xmlns:a16="http://schemas.microsoft.com/office/drawing/2014/main" id="{58A768AA-F971-4410-A24E-16C7C9E470A9}"/>
              </a:ext>
            </a:extLst>
          </p:cNvPr>
          <p:cNvSpPr>
            <a:spLocks xmlns:a="http://schemas.openxmlformats.org/drawingml/2006/main" noGrp="1"/>
          </p:cNvSpPr>
          <p:nvPr/>
        </p:nvSpPr>
        <p:spPr>
          <a:xfrm xmlns:a="http://schemas.openxmlformats.org/drawingml/2006/main">
            <a:off x="10229850" y="32766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Linked indicators</a:t>
            </a:r>
          </a:p>
        </p:txBody>
      </p:sp>
      <p:sp>
        <p:nvSpPr>
          <p:cNvPr id="77" name="">
            <a:extLst xmlns:a="http://schemas.openxmlformats.org/drawingml/2006/main">
              <a:ext uri="{FF2B5EF4-FFF2-40B4-BE49-F238E27FC236}">
                <a16:creationId xmlns:a16="http://schemas.microsoft.com/office/drawing/2014/main" id="{ADBB50A9-5BFD-4912-AF1B-418A99506458}"/>
              </a:ext>
            </a:extLst>
          </p:cNvPr>
          <p:cNvSpPr>
            <a:spLocks xmlns:a="http://schemas.openxmlformats.org/drawingml/2006/main" noGrp="1"/>
          </p:cNvSpPr>
          <p:nvPr/>
        </p:nvSpPr>
        <p:spPr>
          <a:xfrm xmlns:a="http://schemas.openxmlformats.org/drawingml/2006/main">
            <a:off x="10020300" y="3733800"/>
            <a:ext cx="104775" cy="104775"/>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78" name="">
            <a:extLst xmlns:a="http://schemas.openxmlformats.org/drawingml/2006/main">
              <a:ext uri="{FF2B5EF4-FFF2-40B4-BE49-F238E27FC236}">
                <a16:creationId xmlns:a16="http://schemas.microsoft.com/office/drawing/2014/main" id="{621FCE53-973C-4326-947C-9063DDB1F802}"/>
              </a:ext>
            </a:extLst>
          </p:cNvPr>
          <p:cNvSpPr>
            <a:spLocks xmlns:a="http://schemas.openxmlformats.org/drawingml/2006/main" noGrp="1"/>
          </p:cNvSpPr>
          <p:nvPr/>
        </p:nvSpPr>
        <p:spPr>
          <a:xfrm xmlns:a="http://schemas.openxmlformats.org/drawingml/2006/main">
            <a:off x="10229850" y="36480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GRAPH + MAP</a:t>
            </a:r>
          </a:p>
        </p:txBody>
      </p:sp>
      <p:sp>
        <p:nvSpPr>
          <p:cNvPr id="79" name="">
            <a:extLst xmlns:a="http://schemas.openxmlformats.org/drawingml/2006/main">
              <a:ext uri="{FF2B5EF4-FFF2-40B4-BE49-F238E27FC236}">
                <a16:creationId xmlns:a16="http://schemas.microsoft.com/office/drawing/2014/main" id="{44B99D8D-203F-442C-859F-7AE0AE723501}"/>
              </a:ext>
            </a:extLst>
          </p:cNvPr>
          <p:cNvSpPr>
            <a:spLocks xmlns:a="http://schemas.openxmlformats.org/drawingml/2006/main" noGrp="1"/>
          </p:cNvSpPr>
          <p:nvPr/>
        </p:nvSpPr>
        <p:spPr>
          <a:xfrm xmlns:a="http://schemas.openxmlformats.org/drawingml/2006/main">
            <a:off x="10229850" y="38862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Observed infrastructure</a:t>
            </a:r>
          </a:p>
        </p:txBody>
      </p:sp>
      <p:sp>
        <p:nvSpPr>
          <p:cNvPr id="80" name="">
            <a:extLst xmlns:a="http://schemas.openxmlformats.org/drawingml/2006/main">
              <a:ext uri="{FF2B5EF4-FFF2-40B4-BE49-F238E27FC236}">
                <a16:creationId xmlns:a16="http://schemas.microsoft.com/office/drawing/2014/main" id="{2A245D0B-AE64-4CAA-B143-4224DF963F9C}"/>
              </a:ext>
            </a:extLst>
          </p:cNvPr>
          <p:cNvSpPr>
            <a:spLocks xmlns:a="http://schemas.openxmlformats.org/drawingml/2006/main" noGrp="1"/>
          </p:cNvSpPr>
          <p:nvPr/>
        </p:nvSpPr>
        <p:spPr>
          <a:xfrm xmlns:a="http://schemas.openxmlformats.org/drawingml/2006/main">
            <a:off x="10020300" y="4343400"/>
            <a:ext cx="104775" cy="104775"/>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81" name="">
            <a:extLst xmlns:a="http://schemas.openxmlformats.org/drawingml/2006/main">
              <a:ext uri="{FF2B5EF4-FFF2-40B4-BE49-F238E27FC236}">
                <a16:creationId xmlns:a16="http://schemas.microsoft.com/office/drawing/2014/main" id="{4115997D-66DC-4971-ACBE-52FEC38872B9}"/>
              </a:ext>
            </a:extLst>
          </p:cNvPr>
          <p:cNvSpPr>
            <a:spLocks xmlns:a="http://schemas.openxmlformats.org/drawingml/2006/main" noGrp="1"/>
          </p:cNvSpPr>
          <p:nvPr/>
        </p:nvSpPr>
        <p:spPr>
          <a:xfrm xmlns:a="http://schemas.openxmlformats.org/drawingml/2006/main">
            <a:off x="10229850" y="42576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2-PAGE REPORT</a:t>
            </a:r>
          </a:p>
        </p:txBody>
      </p:sp>
      <p:sp>
        <p:nvSpPr>
          <p:cNvPr id="82" name="">
            <a:extLst xmlns:a="http://schemas.openxmlformats.org/drawingml/2006/main">
              <a:ext uri="{FF2B5EF4-FFF2-40B4-BE49-F238E27FC236}">
                <a16:creationId xmlns:a16="http://schemas.microsoft.com/office/drawing/2014/main" id="{34413446-728C-478D-9FAA-E87EC2C690A0}"/>
              </a:ext>
            </a:extLst>
          </p:cNvPr>
          <p:cNvSpPr>
            <a:spLocks xmlns:a="http://schemas.openxmlformats.org/drawingml/2006/main" noGrp="1"/>
          </p:cNvSpPr>
          <p:nvPr/>
        </p:nvSpPr>
        <p:spPr>
          <a:xfrm xmlns:a="http://schemas.openxmlformats.org/drawingml/2006/main">
            <a:off x="10229850" y="44958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Evidence and limits</a:t>
            </a:r>
          </a:p>
        </p:txBody>
      </p:sp>
      <p:sp>
        <p:nvSpPr>
          <p:cNvPr id="83" name="">
            <a:extLst xmlns:a="http://schemas.openxmlformats.org/drawingml/2006/main">
              <a:ext uri="{FF2B5EF4-FFF2-40B4-BE49-F238E27FC236}">
                <a16:creationId xmlns:a16="http://schemas.microsoft.com/office/drawing/2014/main" id="{BBB4476A-E614-4ABA-972F-68918CD6091B}"/>
              </a:ext>
            </a:extLst>
          </p:cNvPr>
          <p:cNvSpPr>
            <a:spLocks xmlns:a="http://schemas.openxmlformats.org/drawingml/2006/main" noGrp="1"/>
          </p:cNvSpPr>
          <p:nvPr/>
        </p:nvSpPr>
        <p:spPr>
          <a:xfrm xmlns:a="http://schemas.openxmlformats.org/drawingml/2006/main">
            <a:off x="10020300" y="4953000"/>
            <a:ext cx="104775" cy="104775"/>
          </a:xfrm>
          <a:prstGeom xmlns:a="http://schemas.openxmlformats.org/drawingml/2006/main" prst="ellipse">
            <a:avLst/>
          </a:prstGeom>
          <a:solidFill xmlns:a="http://schemas.openxmlformats.org/drawingml/2006/main">
            <a:srgbClr val="41A36B"/>
          </a:solidFill>
          <a:ln xmlns:a="http://schemas.openxmlformats.org/drawingml/2006/main" w="0">
            <a:solidFill>
              <a:srgbClr val="41A36B"/>
            </a:solidFill>
            <a:prstDash val="solid"/>
          </a:ln>
        </p:spPr>
      </p:sp>
      <p:sp>
        <p:nvSpPr>
          <p:cNvPr id="84" name="">
            <a:extLst xmlns:a="http://schemas.openxmlformats.org/drawingml/2006/main">
              <a:ext uri="{FF2B5EF4-FFF2-40B4-BE49-F238E27FC236}">
                <a16:creationId xmlns:a16="http://schemas.microsoft.com/office/drawing/2014/main" id="{6B258000-E76A-4763-89FC-B0232C5C0BA9}"/>
              </a:ext>
            </a:extLst>
          </p:cNvPr>
          <p:cNvSpPr>
            <a:spLocks xmlns:a="http://schemas.openxmlformats.org/drawingml/2006/main" noGrp="1"/>
          </p:cNvSpPr>
          <p:nvPr/>
        </p:nvSpPr>
        <p:spPr>
          <a:xfrm xmlns:a="http://schemas.openxmlformats.org/drawingml/2006/main">
            <a:off x="10229850" y="48672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CASE HISTORY</a:t>
            </a:r>
          </a:p>
        </p:txBody>
      </p:sp>
      <p:sp>
        <p:nvSpPr>
          <p:cNvPr id="85" name="">
            <a:extLst xmlns:a="http://schemas.openxmlformats.org/drawingml/2006/main">
              <a:ext uri="{FF2B5EF4-FFF2-40B4-BE49-F238E27FC236}">
                <a16:creationId xmlns:a16="http://schemas.microsoft.com/office/drawing/2014/main" id="{761A1A82-E286-4E04-8B46-A642E01D3A0A}"/>
              </a:ext>
            </a:extLst>
          </p:cNvPr>
          <p:cNvSpPr>
            <a:spLocks xmlns:a="http://schemas.openxmlformats.org/drawingml/2006/main" noGrp="1"/>
          </p:cNvSpPr>
          <p:nvPr/>
        </p:nvSpPr>
        <p:spPr>
          <a:xfrm xmlns:a="http://schemas.openxmlformats.org/drawingml/2006/main">
            <a:off x="10229850" y="51054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Private session record</a:t>
            </a:r>
          </a:p>
        </p:txBody>
      </p:sp>
      <p:cxnSp>
        <p:nvCxnSpPr>
          <p:cNvPr id="175" name=""/>
          <p:cNvCxnSpPr>
            <a:stCxn xmlns:a="http://schemas.openxmlformats.org/drawingml/2006/main" id="50" idx="6"/>
            <a:endCxn xmlns:a="http://schemas.openxmlformats.org/drawingml/2006/main" id="68" idx="1"/>
          </p:cNvCxnSpPr>
          <p:nvPr/>
        </p:nvCxnSpPr>
        <p:spPr>
          <a:xfrm xmlns:a="http://schemas.openxmlformats.org/drawingml/2006/main" flipV="1">
            <a:off x="9372600" y="3695700"/>
            <a:ext cx="438150" cy="55245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sp>
        <p:nvSpPr>
          <p:cNvPr id="87" name="">
            <a:extLst xmlns:a="http://schemas.openxmlformats.org/drawingml/2006/main">
              <a:ext uri="{FF2B5EF4-FFF2-40B4-BE49-F238E27FC236}">
                <a16:creationId xmlns:a16="http://schemas.microsoft.com/office/drawing/2014/main" id="{E7685F56-525A-4A2A-BDC4-75AADC071ADE}"/>
              </a:ext>
            </a:extLst>
          </p:cNvPr>
          <p:cNvSpPr>
            <a:spLocks xmlns:a="http://schemas.openxmlformats.org/drawingml/2006/main" noGrp="1"/>
          </p:cNvSpPr>
          <p:nvPr/>
        </p:nvSpPr>
        <p:spPr>
          <a:xfrm xmlns:a="http://schemas.openxmlformats.org/drawingml/2006/main">
            <a:off x="571500" y="6200775"/>
            <a:ext cx="461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Missing evidence lowers coverage and never creates risk points</a:t>
            </a:r>
          </a:p>
        </p:txBody>
      </p:sp>
      <p:sp>
        <p:nvSpPr>
          <p:cNvPr id="88" name="">
            <a:extLst xmlns:a="http://schemas.openxmlformats.org/drawingml/2006/main">
              <a:ext uri="{FF2B5EF4-FFF2-40B4-BE49-F238E27FC236}">
                <a16:creationId xmlns:a16="http://schemas.microsoft.com/office/drawing/2014/main" id="{7AB9DFDC-10C1-4126-9A68-3EEB6862F64D}"/>
              </a:ext>
            </a:extLst>
          </p:cNvPr>
          <p:cNvSpPr>
            <a:spLocks xmlns:a="http://schemas.openxmlformats.org/drawingml/2006/main" noGrp="1"/>
          </p:cNvSpPr>
          <p:nvPr/>
        </p:nvSpPr>
        <p:spPr>
          <a:xfrm xmlns:a="http://schemas.openxmlformats.org/drawingml/2006/main">
            <a:off x="5467350" y="6200775"/>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0">
                <a:solidFill>
                  <a:srgbClr val="536273"/>
                </a:solidFill>
                <a:latin typeface="Arial"/>
                <a:ea typeface="Arial"/>
                <a:cs typeface="Arial"/>
              </a:defRPr>
            </a:pPr>
            <a:r>
              <a:rPr sz="1050" b="0">
                <a:solidFill>
                  <a:srgbClr val="536273"/>
                </a:solidFill>
                <a:latin typeface="Arial"/>
                <a:ea typeface="Arial"/>
                <a:cs typeface="Arial"/>
              </a:rPr>
              <a:t>Attachments never execute</a:t>
            </a:r>
          </a:p>
        </p:txBody>
      </p:sp>
      <p:sp>
        <p:nvSpPr>
          <p:cNvPr id="89" name="">
            <a:extLst xmlns:a="http://schemas.openxmlformats.org/drawingml/2006/main">
              <a:ext uri="{FF2B5EF4-FFF2-40B4-BE49-F238E27FC236}">
                <a16:creationId xmlns:a16="http://schemas.microsoft.com/office/drawing/2014/main" id="{4EDDD95C-32F0-46FC-819B-5C22593B086C}"/>
              </a:ext>
            </a:extLst>
          </p:cNvPr>
          <p:cNvSpPr>
            <a:spLocks xmlns:a="http://schemas.openxmlformats.org/drawingml/2006/main" noGrp="1"/>
          </p:cNvSpPr>
          <p:nvPr/>
        </p:nvSpPr>
        <p:spPr>
          <a:xfrm xmlns:a="http://schemas.openxmlformats.org/drawingml/2006/main">
            <a:off x="8477250" y="62007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0">
                <a:solidFill>
                  <a:srgbClr val="536273"/>
                </a:solidFill>
                <a:latin typeface="Arial"/>
                <a:ea typeface="Arial"/>
                <a:cs typeface="Arial"/>
              </a:defRPr>
            </a:pPr>
            <a:r>
              <a:rPr sz="1050" b="0">
                <a:solidFill>
                  <a:srgbClr val="536273"/>
                </a:solidFill>
                <a:latin typeface="Arial"/>
                <a:ea typeface="Arial"/>
                <a:cs typeface="Arial"/>
              </a:rPr>
              <a:t>Location means observed infrastructure</a:t>
            </a:r>
          </a:p>
        </p:txBody>
      </p:sp>
    </p:spTree>
    <p:extLst>
      <p:ext uri="{BB962C8B-B14F-4D97-AF65-F5344CB8AC3E}">
        <p14:creationId xmlns:p14="http://schemas.microsoft.com/office/powerpoint/2010/main" val="484213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2026-09-16T07:20:08.8980000Z</dcterms:created>
  <dcterms:modified xsi:type="dcterms:W3CDTF">2026-09-16T07:20:08.8980000Z</dcterms:modified>
</coreProperties>
</file>